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four-minute guided visit at tanitxr.org/explore?tour=1 before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Amounts are proposals for the team to confirm before this deck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A10"/>
        </a:solidFill>
      </p:bgPr>
    </p:bg>
    <p:spTree>
      <p:nvGrpSpPr>
        <p:cNvPr id="1" name=""/>
        <p:cNvGrpSpPr/>
        <p:nvPr/>
      </p:nvGrpSpPr>
      <p:grpSpPr>
        <a:xfrm>
          <a:off x="0" y="0"/>
          <a:ext cx="0" cy="0"/>
          <a:chOff x="0" y="0"/>
          <a:chExt cx="0" cy="0"/>
        </a:xfrm>
      </p:grpSpPr>
      <p:pic>
        <p:nvPicPr>
          <p:cNvPr id="2" name="Image 0" descr="/Users/inessaid/Documents/tanitxr.org/docs/assets/img/sv-img-0511-1800.jpg">    </p:cNvPr>
          <p:cNvPicPr>
            <a:picLocks noChangeAspect="1"/>
          </p:cNvPicPr>
          <p:nvPr/>
        </p:nvPicPr>
        <p:blipFill>
          <a:blip r:embed="rId1"/>
          <a:srcRect l="0" r="0" t="0" b="0"/>
          <a:stretch/>
        </p:blipFill>
        <p:spPr>
          <a:xfrm>
            <a:off x="6309360" y="0"/>
            <a:ext cx="5879592" cy="6858000"/>
          </a:xfrm>
          <a:prstGeom prst="rect">
            <a:avLst/>
          </a:prstGeom>
        </p:spPr>
      </p:pic>
      <p:pic>
        <p:nvPicPr>
          <p:cNvPr id="3" name="Image 1" descr="/Users/inessaid/Documents/tanitxr.org/media/tanitxr-logo_red_horizontal.png">    </p:cNvPr>
          <p:cNvPicPr>
            <a:picLocks noChangeAspect="1"/>
          </p:cNvPicPr>
          <p:nvPr/>
        </p:nvPicPr>
        <p:blipFill>
          <a:blip r:embed="rId2"/>
          <a:stretch>
            <a:fillRect/>
          </a:stretch>
        </p:blipFill>
        <p:spPr>
          <a:xfrm>
            <a:off x="640080" y="548640"/>
            <a:ext cx="2194560" cy="914400"/>
          </a:xfrm>
          <a:prstGeom prst="rect">
            <a:avLst/>
          </a:prstGeom>
        </p:spPr>
      </p:pic>
      <p:sp>
        <p:nvSpPr>
          <p:cNvPr id="4" name="Text 0"/>
          <p:cNvSpPr txBox="1"/>
          <p:nvPr/>
        </p:nvSpPr>
        <p:spPr>
          <a:xfrm>
            <a:off x="640080" y="2103120"/>
            <a:ext cx="7315200" cy="274320"/>
          </a:xfrm>
          <a:prstGeom prst="rect">
            <a:avLst/>
          </a:prstGeom>
          <a:noFill/>
          <a:ln/>
        </p:spPr>
        <p:txBody>
          <a:bodyPr wrap="square" lIns="0" tIns="0" rIns="0" bIns="0" rtlCol="0" anchor="ctr"/>
          <a:lstStyle/>
          <a:p>
            <a:pPr indent="0" marL="0">
              <a:buNone/>
            </a:pPr>
            <a:r>
              <a:rPr lang="en-US" sz="1200" b="1" spc="400" kern="0" dirty="0">
                <a:solidFill>
                  <a:srgbClr val="FFCD05"/>
                </a:solidFill>
                <a:latin typeface="Calibri" pitchFamily="34" charset="0"/>
                <a:ea typeface="Calibri" pitchFamily="34" charset="-122"/>
                <a:cs typeface="Calibri" pitchFamily="34" charset="-120"/>
              </a:rPr>
              <a:t>PARTNERSHIP OPPORTUNITIES</a:t>
            </a:r>
            <a:endParaRPr lang="en-US" sz="1200" dirty="0"/>
          </a:p>
        </p:txBody>
      </p:sp>
      <p:sp>
        <p:nvSpPr>
          <p:cNvPr id="5" name="Text 1"/>
          <p:cNvSpPr txBox="1"/>
          <p:nvPr/>
        </p:nvSpPr>
        <p:spPr>
          <a:xfrm>
            <a:off x="640080" y="2468880"/>
            <a:ext cx="5394960" cy="2011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Keep a country's memory, with your name on it</a:t>
            </a:r>
            <a:endParaRPr lang="en-US" sz="4000" dirty="0"/>
          </a:p>
        </p:txBody>
      </p:sp>
      <p:sp>
        <p:nvSpPr>
          <p:cNvPr id="6" name="Text 2"/>
          <p:cNvSpPr txBox="1"/>
          <p:nvPr/>
        </p:nvSpPr>
        <p:spPr>
          <a:xfrm>
            <a:off x="640080" y="4572000"/>
            <a:ext cx="5394960" cy="1097280"/>
          </a:xfrm>
          <a:prstGeom prst="rect">
            <a:avLst/>
          </a:prstGeom>
          <a:noFill/>
          <a:ln/>
        </p:spPr>
        <p:txBody>
          <a:bodyPr wrap="square" lIns="0" tIns="0" rIns="0" bIns="0" rtlCol="0" anchor="ctr"/>
          <a:lstStyle/>
          <a:p>
            <a:pPr indent="0" marL="0">
              <a:buNone/>
            </a:pPr>
            <a:r>
              <a:rPr lang="en-US" sz="1500" dirty="0">
                <a:solidFill>
                  <a:srgbClr val="E8DCC6"/>
                </a:solidFill>
                <a:latin typeface="Calibri" pitchFamily="34" charset="0"/>
                <a:ea typeface="Calibri" pitchFamily="34" charset="-122"/>
                <a:cs typeface="Calibri" pitchFamily="34" charset="-120"/>
              </a:rPr>
              <a:t>Tanit XR is a volunteer community on four continents that 3D-scans Tunisia's endangered heritage with phones and publishes it free, in 3D, AR and VR.</a:t>
            </a:r>
            <a:endParaRPr lang="en-US" sz="1500" dirty="0"/>
          </a:p>
        </p:txBody>
      </p:sp>
      <p:sp>
        <p:nvSpPr>
          <p:cNvPr id="7" name="Text 3"/>
          <p:cNvSpPr txBox="1"/>
          <p:nvPr/>
        </p:nvSpPr>
        <p:spPr>
          <a:xfrm>
            <a:off x="9811512" y="6355080"/>
            <a:ext cx="1920240" cy="274320"/>
          </a:xfrm>
          <a:prstGeom prst="rect">
            <a:avLst/>
          </a:prstGeom>
          <a:noFill/>
          <a:ln/>
        </p:spPr>
        <p:txBody>
          <a:bodyPr wrap="square" lIns="0" tIns="0" rIns="0" bIns="0" rtlCol="0" anchor="ctr"/>
          <a:lstStyle/>
          <a:p>
            <a:pPr algn="r" indent="0" marL="0">
              <a:buNone/>
            </a:pPr>
            <a:r>
              <a:rPr lang="en-US" sz="1100" dirty="0">
                <a:solidFill>
                  <a:srgbClr val="E8DCC6"/>
                </a:solidFill>
                <a:latin typeface="Calibri" pitchFamily="34" charset="0"/>
                <a:ea typeface="Calibri" pitchFamily="34" charset="-122"/>
                <a:cs typeface="Calibri" pitchFamily="34" charset="-120"/>
              </a:rPr>
              <a:t>tanitxr.org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8F0"/>
        </a:solidFill>
      </p:bgPr>
    </p:bg>
    <p:spTree>
      <p:nvGrpSpPr>
        <p:cNvPr id="1" name=""/>
        <p:cNvGrpSpPr/>
        <p:nvPr/>
      </p:nvGrpSpPr>
      <p:grpSpPr>
        <a:xfrm>
          <a:off x="0" y="0"/>
          <a:ext cx="0" cy="0"/>
          <a:chOff x="0" y="0"/>
          <a:chExt cx="0" cy="0"/>
        </a:xfrm>
      </p:grpSpPr>
      <p:pic>
        <p:nvPicPr>
          <p:cNvPr id="2" name="Image 0" descr="/Users/inessaid/Documents/tanitxr.org/docs/assets/img/aug-pxl-0811-150245-1800.jpg">    </p:cNvPr>
          <p:cNvPicPr>
            <a:picLocks noChangeAspect="1"/>
          </p:cNvPicPr>
          <p:nvPr/>
        </p:nvPicPr>
        <p:blipFill>
          <a:blip r:embed="rId1"/>
          <a:srcRect l="0" r="0" t="0" b="0"/>
          <a:stretch/>
        </p:blipFill>
        <p:spPr>
          <a:xfrm>
            <a:off x="0" y="0"/>
            <a:ext cx="5120640" cy="6858000"/>
          </a:xfrm>
          <a:prstGeom prst="rect">
            <a:avLst/>
          </a:prstGeom>
        </p:spPr>
      </p:pic>
      <p:sp>
        <p:nvSpPr>
          <p:cNvPr id="3" name="Text 0"/>
          <p:cNvSpPr txBox="1"/>
          <p:nvPr/>
        </p:nvSpPr>
        <p:spPr>
          <a:xfrm>
            <a:off x="5669280" y="822960"/>
            <a:ext cx="7315200" cy="274320"/>
          </a:xfrm>
          <a:prstGeom prst="rect">
            <a:avLst/>
          </a:prstGeom>
          <a:noFill/>
          <a:ln/>
        </p:spPr>
        <p:txBody>
          <a:bodyPr wrap="square" lIns="0" tIns="0" rIns="0" bIns="0" rtlCol="0" anchor="ctr"/>
          <a:lstStyle/>
          <a:p>
            <a:pPr indent="0" marL="0">
              <a:buNone/>
            </a:pPr>
            <a:r>
              <a:rPr lang="en-US" sz="1200" b="1" spc="400" kern="0" dirty="0">
                <a:solidFill>
                  <a:srgbClr val="A35F3F"/>
                </a:solidFill>
                <a:latin typeface="Calibri" pitchFamily="34" charset="0"/>
                <a:ea typeface="Calibri" pitchFamily="34" charset="-122"/>
                <a:cs typeface="Calibri" pitchFamily="34" charset="-120"/>
              </a:rPr>
              <a:t>THE PROBLEM</a:t>
            </a:r>
            <a:endParaRPr lang="en-US" sz="1200" dirty="0"/>
          </a:p>
        </p:txBody>
      </p:sp>
      <p:sp>
        <p:nvSpPr>
          <p:cNvPr id="4" name="Text 1"/>
          <p:cNvSpPr txBox="1"/>
          <p:nvPr/>
        </p:nvSpPr>
        <p:spPr>
          <a:xfrm>
            <a:off x="5669280" y="1188720"/>
            <a:ext cx="5852160" cy="1280160"/>
          </a:xfrm>
          <a:prstGeom prst="rect">
            <a:avLst/>
          </a:prstGeom>
          <a:noFill/>
          <a:ln/>
        </p:spPr>
        <p:txBody>
          <a:bodyPr wrap="square" lIns="0" tIns="0" rIns="0" bIns="0" rtlCol="0" anchor="ctr"/>
          <a:lstStyle/>
          <a:p>
            <a:pPr indent="0" marL="0">
              <a:buNone/>
            </a:pPr>
            <a:r>
              <a:rPr lang="en-US" sz="3200" b="1" dirty="0">
                <a:solidFill>
                  <a:srgbClr val="2E2118"/>
                </a:solidFill>
                <a:latin typeface="Cambria" pitchFamily="34" charset="0"/>
                <a:ea typeface="Cambria" pitchFamily="34" charset="-122"/>
                <a:cs typeface="Cambria" pitchFamily="34" charset="-120"/>
              </a:rPr>
              <a:t>Heritage in the open air, with no record</a:t>
            </a:r>
            <a:endParaRPr lang="en-US" sz="3200" dirty="0"/>
          </a:p>
        </p:txBody>
      </p:sp>
      <p:sp>
        <p:nvSpPr>
          <p:cNvPr id="5" name="Shape 2"/>
          <p:cNvSpPr/>
          <p:nvPr/>
        </p:nvSpPr>
        <p:spPr>
          <a:xfrm>
            <a:off x="5669280" y="2770632"/>
            <a:ext cx="146304" cy="146304"/>
          </a:xfrm>
          <a:prstGeom prst="ellipse">
            <a:avLst/>
          </a:prstGeom>
          <a:solidFill>
            <a:srgbClr val="A35F3F"/>
          </a:solidFill>
          <a:ln w="12700">
            <a:solidFill>
              <a:srgbClr val="A35F3F"/>
            </a:solidFill>
            <a:prstDash val="solid"/>
          </a:ln>
        </p:spPr>
      </p:sp>
      <p:sp>
        <p:nvSpPr>
          <p:cNvPr id="6" name="Text 3"/>
          <p:cNvSpPr txBox="1"/>
          <p:nvPr/>
        </p:nvSpPr>
        <p:spPr>
          <a:xfrm>
            <a:off x="5989320" y="2697480"/>
            <a:ext cx="5577840" cy="1005840"/>
          </a:xfrm>
          <a:prstGeom prst="rect">
            <a:avLst/>
          </a:prstGeom>
          <a:noFill/>
          <a:ln/>
        </p:spPr>
        <p:txBody>
          <a:bodyPr wrap="square" lIns="0" tIns="0" rIns="0" bIns="0" rtlCol="0" anchor="t"/>
          <a:lstStyle/>
          <a:p>
            <a:pPr indent="0" marL="0">
              <a:buNone/>
            </a:pPr>
            <a:r>
              <a:rPr lang="en-US" sz="1400" b="1" dirty="0">
                <a:solidFill>
                  <a:srgbClr val="2E2118"/>
                </a:solidFill>
                <a:latin typeface="Calibri" pitchFamily="34" charset="0"/>
                <a:ea typeface="Calibri" pitchFamily="34" charset="-122"/>
                <a:cs typeface="Calibri" pitchFamily="34" charset="-120"/>
              </a:rPr>
              <a:t>Storms, erosion, heat and neglect </a:t>
            </a:r>
            <a:pPr indent="0" marL="0">
              <a:buNone/>
            </a:pPr>
            <a:r>
              <a:rPr lang="en-US" sz="1400" dirty="0">
                <a:solidFill>
                  <a:srgbClr val="2E2118"/>
                </a:solidFill>
                <a:latin typeface="Calibri" pitchFamily="34" charset="0"/>
                <a:ea typeface="Calibri" pitchFamily="34" charset="-122"/>
                <a:cs typeface="Calibri" pitchFamily="34" charset="-120"/>
              </a:rPr>
              <a:t>wear down Punic stelae, Roman mosaics and medina doors faster than institutions can document them.</a:t>
            </a:r>
            <a:endParaRPr lang="en-US" sz="1400" dirty="0"/>
          </a:p>
        </p:txBody>
      </p:sp>
      <p:sp>
        <p:nvSpPr>
          <p:cNvPr id="7" name="Shape 4"/>
          <p:cNvSpPr/>
          <p:nvPr/>
        </p:nvSpPr>
        <p:spPr>
          <a:xfrm>
            <a:off x="5669280" y="3913632"/>
            <a:ext cx="146304" cy="146304"/>
          </a:xfrm>
          <a:prstGeom prst="ellipse">
            <a:avLst/>
          </a:prstGeom>
          <a:solidFill>
            <a:srgbClr val="A35F3F"/>
          </a:solidFill>
          <a:ln w="12700">
            <a:solidFill>
              <a:srgbClr val="A35F3F"/>
            </a:solidFill>
            <a:prstDash val="solid"/>
          </a:ln>
        </p:spPr>
      </p:sp>
      <p:sp>
        <p:nvSpPr>
          <p:cNvPr id="8" name="Text 5"/>
          <p:cNvSpPr txBox="1"/>
          <p:nvPr/>
        </p:nvSpPr>
        <p:spPr>
          <a:xfrm>
            <a:off x="5989320" y="3840480"/>
            <a:ext cx="5577840" cy="1005840"/>
          </a:xfrm>
          <a:prstGeom prst="rect">
            <a:avLst/>
          </a:prstGeom>
          <a:noFill/>
          <a:ln/>
        </p:spPr>
        <p:txBody>
          <a:bodyPr wrap="square" lIns="0" tIns="0" rIns="0" bIns="0" rtlCol="0" anchor="t"/>
          <a:lstStyle/>
          <a:p>
            <a:pPr indent="0" marL="0">
              <a:buNone/>
            </a:pPr>
            <a:r>
              <a:rPr lang="en-US" sz="1400" b="1" dirty="0">
                <a:solidFill>
                  <a:srgbClr val="2E2118"/>
                </a:solidFill>
                <a:latin typeface="Calibri" pitchFamily="34" charset="0"/>
                <a:ea typeface="Calibri" pitchFamily="34" charset="-122"/>
                <a:cs typeface="Calibri" pitchFamily="34" charset="-120"/>
              </a:rPr>
              <a:t>In January 2026 a storm uncovered part of Neapolis </a:t>
            </a:r>
            <a:pPr indent="0" marL="0">
              <a:buNone/>
            </a:pPr>
            <a:r>
              <a:rPr lang="en-US" sz="1400" dirty="0">
                <a:solidFill>
                  <a:srgbClr val="2E2118"/>
                </a:solidFill>
                <a:latin typeface="Calibri" pitchFamily="34" charset="0"/>
                <a:ea typeface="Calibri" pitchFamily="34" charset="-122"/>
                <a:cs typeface="Calibri" pitchFamily="34" charset="-120"/>
              </a:rPr>
              <a:t>for a few days. There was no 3D record to compare against. A volunteer scanned it before the sea came back.</a:t>
            </a:r>
            <a:endParaRPr lang="en-US" sz="1400" dirty="0"/>
          </a:p>
        </p:txBody>
      </p:sp>
      <p:sp>
        <p:nvSpPr>
          <p:cNvPr id="9" name="Shape 6"/>
          <p:cNvSpPr/>
          <p:nvPr/>
        </p:nvSpPr>
        <p:spPr>
          <a:xfrm>
            <a:off x="5669280" y="5056632"/>
            <a:ext cx="146304" cy="146304"/>
          </a:xfrm>
          <a:prstGeom prst="ellipse">
            <a:avLst/>
          </a:prstGeom>
          <a:solidFill>
            <a:srgbClr val="A35F3F"/>
          </a:solidFill>
          <a:ln w="12700">
            <a:solidFill>
              <a:srgbClr val="A35F3F"/>
            </a:solidFill>
            <a:prstDash val="solid"/>
          </a:ln>
        </p:spPr>
      </p:sp>
      <p:sp>
        <p:nvSpPr>
          <p:cNvPr id="10" name="Text 7"/>
          <p:cNvSpPr txBox="1"/>
          <p:nvPr/>
        </p:nvSpPr>
        <p:spPr>
          <a:xfrm>
            <a:off x="5989320" y="4983480"/>
            <a:ext cx="5577840" cy="1005840"/>
          </a:xfrm>
          <a:prstGeom prst="rect">
            <a:avLst/>
          </a:prstGeom>
          <a:noFill/>
          <a:ln/>
        </p:spPr>
        <p:txBody>
          <a:bodyPr wrap="square" lIns="0" tIns="0" rIns="0" bIns="0" rtlCol="0" anchor="t"/>
          <a:lstStyle/>
          <a:p>
            <a:pPr indent="0" marL="0">
              <a:buNone/>
            </a:pPr>
            <a:r>
              <a:rPr lang="en-US" sz="1400" b="1" dirty="0">
                <a:solidFill>
                  <a:srgbClr val="2E2118"/>
                </a:solidFill>
                <a:latin typeface="Calibri" pitchFamily="34" charset="0"/>
                <a:ea typeface="Calibri" pitchFamily="34" charset="-122"/>
                <a:cs typeface="Calibri" pitchFamily="34" charset="-120"/>
              </a:rPr>
              <a:t>The tools exist, but sit with a few expert teams. </a:t>
            </a:r>
            <a:pPr indent="0" marL="0">
              <a:buNone/>
            </a:pPr>
            <a:r>
              <a:rPr lang="en-US" sz="1400" dirty="0">
                <a:solidFill>
                  <a:srgbClr val="2E2118"/>
                </a:solidFill>
                <a:latin typeface="Calibri" pitchFamily="34" charset="0"/>
                <a:ea typeface="Calibri" pitchFamily="34" charset="-122"/>
                <a:cs typeface="Calibri" pitchFamily="34" charset="-120"/>
              </a:rPr>
              <a:t>The people who live beside these places have had no way to take part, or to see their heritage where young people spend their time.</a:t>
            </a:r>
            <a:endParaRPr lang="en-US" sz="1400" dirty="0"/>
          </a:p>
        </p:txBody>
      </p:sp>
      <p:sp>
        <p:nvSpPr>
          <p:cNvPr id="11" name="Text 8"/>
          <p:cNvSpPr txBox="1"/>
          <p:nvPr/>
        </p:nvSpPr>
        <p:spPr>
          <a:xfrm>
            <a:off x="9811512" y="6355080"/>
            <a:ext cx="1920240" cy="274320"/>
          </a:xfrm>
          <a:prstGeom prst="rect">
            <a:avLst/>
          </a:prstGeom>
          <a:noFill/>
          <a:ln/>
        </p:spPr>
        <p:txBody>
          <a:bodyPr wrap="square" lIns="0" tIns="0" rIns="0" bIns="0" rtlCol="0" anchor="ctr"/>
          <a:lstStyle/>
          <a:p>
            <a:pPr algn="r" indent="0" marL="0">
              <a:buNone/>
            </a:pPr>
            <a:r>
              <a:rPr lang="en-US" sz="1100" dirty="0">
                <a:solidFill>
                  <a:srgbClr val="7D6A58"/>
                </a:solidFill>
                <a:latin typeface="Calibri" pitchFamily="34" charset="0"/>
                <a:ea typeface="Calibri" pitchFamily="34" charset="-122"/>
                <a:cs typeface="Calibri" pitchFamily="34" charset="-120"/>
              </a:rPr>
              <a:t>tanitxr.org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40080"/>
            <a:ext cx="7315200" cy="274320"/>
          </a:xfrm>
          <a:prstGeom prst="rect">
            <a:avLst/>
          </a:prstGeom>
          <a:noFill/>
          <a:ln/>
        </p:spPr>
        <p:txBody>
          <a:bodyPr wrap="square" lIns="0" tIns="0" rIns="0" bIns="0" rtlCol="0" anchor="ctr"/>
          <a:lstStyle/>
          <a:p>
            <a:pPr indent="0" marL="0">
              <a:buNone/>
            </a:pPr>
            <a:r>
              <a:rPr lang="en-US" sz="1200" b="1" spc="400" kern="0" dirty="0">
                <a:solidFill>
                  <a:srgbClr val="A35F3F"/>
                </a:solidFill>
                <a:latin typeface="Calibri" pitchFamily="34" charset="0"/>
                <a:ea typeface="Calibri" pitchFamily="34" charset="-122"/>
                <a:cs typeface="Calibri" pitchFamily="34" charset="-120"/>
              </a:rPr>
              <a:t>WHAT WE DO</a:t>
            </a:r>
            <a:endParaRPr lang="en-US" sz="1200" dirty="0"/>
          </a:p>
        </p:txBody>
      </p:sp>
      <p:sp>
        <p:nvSpPr>
          <p:cNvPr id="3" name="Text 1"/>
          <p:cNvSpPr txBox="1"/>
          <p:nvPr/>
        </p:nvSpPr>
        <p:spPr>
          <a:xfrm>
            <a:off x="640080" y="960120"/>
            <a:ext cx="10972800" cy="822960"/>
          </a:xfrm>
          <a:prstGeom prst="rect">
            <a:avLst/>
          </a:prstGeom>
          <a:noFill/>
          <a:ln/>
        </p:spPr>
        <p:txBody>
          <a:bodyPr wrap="square" lIns="0" tIns="0" rIns="0" bIns="0" rtlCol="0" anchor="ctr"/>
          <a:lstStyle/>
          <a:p>
            <a:pPr indent="0" marL="0">
              <a:buNone/>
            </a:pPr>
            <a:r>
              <a:rPr lang="en-US" sz="3200" b="1" dirty="0">
                <a:solidFill>
                  <a:srgbClr val="2E2118"/>
                </a:solidFill>
                <a:latin typeface="Cambria" pitchFamily="34" charset="0"/>
                <a:ea typeface="Cambria" pitchFamily="34" charset="-122"/>
                <a:cs typeface="Cambria" pitchFamily="34" charset="-120"/>
              </a:rPr>
              <a:t>From a phone in Carthage to a headset anywhere</a:t>
            </a:r>
            <a:endParaRPr lang="en-US" sz="3200" dirty="0"/>
          </a:p>
        </p:txBody>
      </p:sp>
      <p:sp>
        <p:nvSpPr>
          <p:cNvPr id="4" name="Shape 2"/>
          <p:cNvSpPr/>
          <p:nvPr/>
        </p:nvSpPr>
        <p:spPr>
          <a:xfrm>
            <a:off x="685800" y="2194560"/>
            <a:ext cx="822960" cy="822960"/>
          </a:xfrm>
          <a:prstGeom prst="ellipse">
            <a:avLst/>
          </a:prstGeom>
          <a:solidFill>
            <a:srgbClr val="E8DCC6"/>
          </a:solidFill>
          <a:ln w="12700">
            <a:solidFill>
              <a:srgbClr val="E8DCC6"/>
            </a:solidFill>
            <a:prstDash val="solid"/>
          </a:ln>
        </p:spPr>
      </p:sp>
      <p:pic>
        <p:nvPicPr>
          <p:cNvPr id="5" name="Image 0" descr="preencoded.png">    </p:cNvPr>
          <p:cNvPicPr>
            <a:picLocks noChangeAspect="1"/>
          </p:cNvPicPr>
          <p:nvPr/>
        </p:nvPicPr>
        <p:blipFill>
          <a:blip r:embed="rId1"/>
          <a:stretch>
            <a:fillRect/>
          </a:stretch>
        </p:blipFill>
        <p:spPr>
          <a:xfrm>
            <a:off x="891540" y="2400300"/>
            <a:ext cx="411480" cy="411480"/>
          </a:xfrm>
          <a:prstGeom prst="rect">
            <a:avLst/>
          </a:prstGeom>
        </p:spPr>
      </p:pic>
      <p:sp>
        <p:nvSpPr>
          <p:cNvPr id="6" name="Text 3"/>
          <p:cNvSpPr txBox="1"/>
          <p:nvPr/>
        </p:nvSpPr>
        <p:spPr>
          <a:xfrm>
            <a:off x="640080" y="3200400"/>
            <a:ext cx="2103120" cy="365760"/>
          </a:xfrm>
          <a:prstGeom prst="rect">
            <a:avLst/>
          </a:prstGeom>
          <a:noFill/>
          <a:ln/>
        </p:spPr>
        <p:txBody>
          <a:bodyPr wrap="square" lIns="0" tIns="0" rIns="0" bIns="0" rtlCol="0" anchor="ctr"/>
          <a:lstStyle/>
          <a:p>
            <a:pPr indent="0" marL="0">
              <a:buNone/>
            </a:pPr>
            <a:r>
              <a:rPr lang="en-US" sz="1800" b="1" dirty="0">
                <a:solidFill>
                  <a:srgbClr val="4A3527"/>
                </a:solidFill>
                <a:latin typeface="Cambria" pitchFamily="34" charset="0"/>
                <a:ea typeface="Cambria" pitchFamily="34" charset="-122"/>
                <a:cs typeface="Cambria" pitchFamily="34" charset="-120"/>
              </a:rPr>
              <a:t>Scan</a:t>
            </a:r>
            <a:endParaRPr lang="en-US" sz="1800" dirty="0"/>
          </a:p>
        </p:txBody>
      </p:sp>
      <p:sp>
        <p:nvSpPr>
          <p:cNvPr id="7" name="Text 4"/>
          <p:cNvSpPr txBox="1"/>
          <p:nvPr/>
        </p:nvSpPr>
        <p:spPr>
          <a:xfrm>
            <a:off x="640080" y="3611880"/>
            <a:ext cx="2103120" cy="1645920"/>
          </a:xfrm>
          <a:prstGeom prst="rect">
            <a:avLst/>
          </a:prstGeom>
          <a:noFill/>
          <a:ln/>
        </p:spPr>
        <p:txBody>
          <a:bodyPr wrap="square" lIns="0" tIns="0" rIns="0" bIns="0" rtlCol="0" anchor="t"/>
          <a:lstStyle/>
          <a:p>
            <a:pPr indent="0" marL="0">
              <a:buNone/>
            </a:pPr>
            <a:r>
              <a:rPr lang="en-US" sz="1250" dirty="0">
                <a:solidFill>
                  <a:srgbClr val="2E2118"/>
                </a:solidFill>
                <a:latin typeface="Calibri" pitchFamily="34" charset="0"/>
                <a:ea typeface="Calibri" pitchFamily="34" charset="-122"/>
                <a:cs typeface="Calibri" pitchFamily="34" charset="-120"/>
              </a:rPr>
              <a:t>Volunteers in Tunisia walk around an object with a free app. A stone takes minutes.</a:t>
            </a:r>
            <a:endParaRPr lang="en-US" sz="1250" dirty="0"/>
          </a:p>
        </p:txBody>
      </p:sp>
      <p:sp>
        <p:nvSpPr>
          <p:cNvPr id="8" name="Shape 5"/>
          <p:cNvSpPr/>
          <p:nvPr/>
        </p:nvSpPr>
        <p:spPr>
          <a:xfrm>
            <a:off x="2907792" y="2194560"/>
            <a:ext cx="822960" cy="822960"/>
          </a:xfrm>
          <a:prstGeom prst="ellipse">
            <a:avLst/>
          </a:prstGeom>
          <a:solidFill>
            <a:srgbClr val="E8DCC6"/>
          </a:solidFill>
          <a:ln w="12700">
            <a:solidFill>
              <a:srgbClr val="E8DCC6"/>
            </a:solidFill>
            <a:prstDash val="solid"/>
          </a:ln>
        </p:spPr>
      </p:sp>
      <p:pic>
        <p:nvPicPr>
          <p:cNvPr id="9" name="Image 1" descr="preencoded.png">    </p:cNvPr>
          <p:cNvPicPr>
            <a:picLocks noChangeAspect="1"/>
          </p:cNvPicPr>
          <p:nvPr/>
        </p:nvPicPr>
        <p:blipFill>
          <a:blip r:embed="rId2"/>
          <a:stretch>
            <a:fillRect/>
          </a:stretch>
        </p:blipFill>
        <p:spPr>
          <a:xfrm>
            <a:off x="3113532" y="2400300"/>
            <a:ext cx="411480" cy="411480"/>
          </a:xfrm>
          <a:prstGeom prst="rect">
            <a:avLst/>
          </a:prstGeom>
        </p:spPr>
      </p:pic>
      <p:sp>
        <p:nvSpPr>
          <p:cNvPr id="10" name="Text 6"/>
          <p:cNvSpPr txBox="1"/>
          <p:nvPr/>
        </p:nvSpPr>
        <p:spPr>
          <a:xfrm>
            <a:off x="2862072" y="3200400"/>
            <a:ext cx="2103120" cy="365760"/>
          </a:xfrm>
          <a:prstGeom prst="rect">
            <a:avLst/>
          </a:prstGeom>
          <a:noFill/>
          <a:ln/>
        </p:spPr>
        <p:txBody>
          <a:bodyPr wrap="square" lIns="0" tIns="0" rIns="0" bIns="0" rtlCol="0" anchor="ctr"/>
          <a:lstStyle/>
          <a:p>
            <a:pPr indent="0" marL="0">
              <a:buNone/>
            </a:pPr>
            <a:r>
              <a:rPr lang="en-US" sz="1800" b="1" dirty="0">
                <a:solidFill>
                  <a:srgbClr val="4A3527"/>
                </a:solidFill>
                <a:latin typeface="Cambria" pitchFamily="34" charset="0"/>
                <a:ea typeface="Cambria" pitchFamily="34" charset="-122"/>
                <a:cs typeface="Cambria" pitchFamily="34" charset="-120"/>
              </a:rPr>
              <a:t>Clean</a:t>
            </a:r>
            <a:endParaRPr lang="en-US" sz="1800" dirty="0"/>
          </a:p>
        </p:txBody>
      </p:sp>
      <p:sp>
        <p:nvSpPr>
          <p:cNvPr id="11" name="Text 7"/>
          <p:cNvSpPr txBox="1"/>
          <p:nvPr/>
        </p:nvSpPr>
        <p:spPr>
          <a:xfrm>
            <a:off x="2862072" y="3611880"/>
            <a:ext cx="2103120" cy="1645920"/>
          </a:xfrm>
          <a:prstGeom prst="rect">
            <a:avLst/>
          </a:prstGeom>
          <a:noFill/>
          <a:ln/>
        </p:spPr>
        <p:txBody>
          <a:bodyPr wrap="square" lIns="0" tIns="0" rIns="0" bIns="0" rtlCol="0" anchor="t"/>
          <a:lstStyle/>
          <a:p>
            <a:pPr indent="0" marL="0">
              <a:buNone/>
            </a:pPr>
            <a:r>
              <a:rPr lang="en-US" sz="1250" dirty="0">
                <a:solidFill>
                  <a:srgbClr val="2E2118"/>
                </a:solidFill>
                <a:latin typeface="Calibri" pitchFamily="34" charset="0"/>
                <a:ea typeface="Calibri" pitchFamily="34" charset="-122"/>
                <a:cs typeface="Calibri" pitchFamily="34" charset="-120"/>
              </a:rPr>
              <a:t>Volunteers anywhere turn the raw scan into an archival record and a light web-ready twin.</a:t>
            </a:r>
            <a:endParaRPr lang="en-US" sz="1250" dirty="0"/>
          </a:p>
        </p:txBody>
      </p:sp>
      <p:sp>
        <p:nvSpPr>
          <p:cNvPr id="12" name="Shape 8"/>
          <p:cNvSpPr/>
          <p:nvPr/>
        </p:nvSpPr>
        <p:spPr>
          <a:xfrm>
            <a:off x="5129784" y="2194560"/>
            <a:ext cx="822960" cy="822960"/>
          </a:xfrm>
          <a:prstGeom prst="ellipse">
            <a:avLst/>
          </a:prstGeom>
          <a:solidFill>
            <a:srgbClr val="E8DCC6"/>
          </a:solidFill>
          <a:ln w="12700">
            <a:solidFill>
              <a:srgbClr val="E8DCC6"/>
            </a:solidFill>
            <a:prstDash val="solid"/>
          </a:ln>
        </p:spPr>
      </p:sp>
      <p:pic>
        <p:nvPicPr>
          <p:cNvPr id="13" name="Image 2" descr="preencoded.png">    </p:cNvPr>
          <p:cNvPicPr>
            <a:picLocks noChangeAspect="1"/>
          </p:cNvPicPr>
          <p:nvPr/>
        </p:nvPicPr>
        <p:blipFill>
          <a:blip r:embed="rId3"/>
          <a:stretch>
            <a:fillRect/>
          </a:stretch>
        </p:blipFill>
        <p:spPr>
          <a:xfrm>
            <a:off x="5335524" y="2400300"/>
            <a:ext cx="411480" cy="411480"/>
          </a:xfrm>
          <a:prstGeom prst="rect">
            <a:avLst/>
          </a:prstGeom>
        </p:spPr>
      </p:pic>
      <p:sp>
        <p:nvSpPr>
          <p:cNvPr id="14" name="Text 9"/>
          <p:cNvSpPr txBox="1"/>
          <p:nvPr/>
        </p:nvSpPr>
        <p:spPr>
          <a:xfrm>
            <a:off x="5084064" y="3200400"/>
            <a:ext cx="2103120" cy="365760"/>
          </a:xfrm>
          <a:prstGeom prst="rect">
            <a:avLst/>
          </a:prstGeom>
          <a:noFill/>
          <a:ln/>
        </p:spPr>
        <p:txBody>
          <a:bodyPr wrap="square" lIns="0" tIns="0" rIns="0" bIns="0" rtlCol="0" anchor="ctr"/>
          <a:lstStyle/>
          <a:p>
            <a:pPr indent="0" marL="0">
              <a:buNone/>
            </a:pPr>
            <a:r>
              <a:rPr lang="en-US" sz="1800" b="1" dirty="0">
                <a:solidFill>
                  <a:srgbClr val="4A3527"/>
                </a:solidFill>
                <a:latin typeface="Cambria" pitchFamily="34" charset="0"/>
                <a:ea typeface="Cambria" pitchFamily="34" charset="-122"/>
                <a:cs typeface="Cambria" pitchFamily="34" charset="-120"/>
              </a:rPr>
              <a:t>Research</a:t>
            </a:r>
            <a:endParaRPr lang="en-US" sz="1800" dirty="0"/>
          </a:p>
        </p:txBody>
      </p:sp>
      <p:sp>
        <p:nvSpPr>
          <p:cNvPr id="15" name="Text 10"/>
          <p:cNvSpPr txBox="1"/>
          <p:nvPr/>
        </p:nvSpPr>
        <p:spPr>
          <a:xfrm>
            <a:off x="5084064" y="3611880"/>
            <a:ext cx="2103120" cy="1645920"/>
          </a:xfrm>
          <a:prstGeom prst="rect">
            <a:avLst/>
          </a:prstGeom>
          <a:noFill/>
          <a:ln/>
        </p:spPr>
        <p:txBody>
          <a:bodyPr wrap="square" lIns="0" tIns="0" rIns="0" bIns="0" rtlCol="0" anchor="t"/>
          <a:lstStyle/>
          <a:p>
            <a:pPr indent="0" marL="0">
              <a:buNone/>
            </a:pPr>
            <a:r>
              <a:rPr lang="en-US" sz="1250" dirty="0">
                <a:solidFill>
                  <a:srgbClr val="2E2118"/>
                </a:solidFill>
                <a:latin typeface="Calibri" pitchFamily="34" charset="0"/>
                <a:ea typeface="Calibri" pitchFamily="34" charset="-122"/>
                <a:cs typeface="Calibri" pitchFamily="34" charset="-120"/>
              </a:rPr>
              <a:t>The history behind each object is written up, in three languages, and credited.</a:t>
            </a:r>
            <a:endParaRPr lang="en-US" sz="1250" dirty="0"/>
          </a:p>
        </p:txBody>
      </p:sp>
      <p:sp>
        <p:nvSpPr>
          <p:cNvPr id="16" name="Shape 11"/>
          <p:cNvSpPr/>
          <p:nvPr/>
        </p:nvSpPr>
        <p:spPr>
          <a:xfrm>
            <a:off x="7351776" y="2194560"/>
            <a:ext cx="822960" cy="822960"/>
          </a:xfrm>
          <a:prstGeom prst="ellipse">
            <a:avLst/>
          </a:prstGeom>
          <a:solidFill>
            <a:srgbClr val="E8DCC6"/>
          </a:solidFill>
          <a:ln w="12700">
            <a:solidFill>
              <a:srgbClr val="E8DCC6"/>
            </a:solidFill>
            <a:prstDash val="solid"/>
          </a:ln>
        </p:spPr>
      </p:sp>
      <p:pic>
        <p:nvPicPr>
          <p:cNvPr id="17" name="Image 3" descr="preencoded.png">    </p:cNvPr>
          <p:cNvPicPr>
            <a:picLocks noChangeAspect="1"/>
          </p:cNvPicPr>
          <p:nvPr/>
        </p:nvPicPr>
        <p:blipFill>
          <a:blip r:embed="rId4"/>
          <a:stretch>
            <a:fillRect/>
          </a:stretch>
        </p:blipFill>
        <p:spPr>
          <a:xfrm>
            <a:off x="7557516" y="2400300"/>
            <a:ext cx="411480" cy="411480"/>
          </a:xfrm>
          <a:prstGeom prst="rect">
            <a:avLst/>
          </a:prstGeom>
        </p:spPr>
      </p:pic>
      <p:sp>
        <p:nvSpPr>
          <p:cNvPr id="18" name="Text 12"/>
          <p:cNvSpPr txBox="1"/>
          <p:nvPr/>
        </p:nvSpPr>
        <p:spPr>
          <a:xfrm>
            <a:off x="7306056" y="3200400"/>
            <a:ext cx="2103120" cy="365760"/>
          </a:xfrm>
          <a:prstGeom prst="rect">
            <a:avLst/>
          </a:prstGeom>
          <a:noFill/>
          <a:ln/>
        </p:spPr>
        <p:txBody>
          <a:bodyPr wrap="square" lIns="0" tIns="0" rIns="0" bIns="0" rtlCol="0" anchor="ctr"/>
          <a:lstStyle/>
          <a:p>
            <a:pPr indent="0" marL="0">
              <a:buNone/>
            </a:pPr>
            <a:r>
              <a:rPr lang="en-US" sz="1800" b="1" dirty="0">
                <a:solidFill>
                  <a:srgbClr val="4A3527"/>
                </a:solidFill>
                <a:latin typeface="Cambria" pitchFamily="34" charset="0"/>
                <a:ea typeface="Cambria" pitchFamily="34" charset="-122"/>
                <a:cs typeface="Cambria" pitchFamily="34" charset="-120"/>
              </a:rPr>
              <a:t>Publish</a:t>
            </a:r>
            <a:endParaRPr lang="en-US" sz="1800" dirty="0"/>
          </a:p>
        </p:txBody>
      </p:sp>
      <p:sp>
        <p:nvSpPr>
          <p:cNvPr id="19" name="Text 13"/>
          <p:cNvSpPr txBox="1"/>
          <p:nvPr/>
        </p:nvSpPr>
        <p:spPr>
          <a:xfrm>
            <a:off x="7306056" y="3611880"/>
            <a:ext cx="2103120" cy="1645920"/>
          </a:xfrm>
          <a:prstGeom prst="rect">
            <a:avLst/>
          </a:prstGeom>
          <a:noFill/>
          <a:ln/>
        </p:spPr>
        <p:txBody>
          <a:bodyPr wrap="square" lIns="0" tIns="0" rIns="0" bIns="0" rtlCol="0" anchor="t"/>
          <a:lstStyle/>
          <a:p>
            <a:pPr indent="0" marL="0">
              <a:buNone/>
            </a:pPr>
            <a:r>
              <a:rPr lang="en-US" sz="1250" dirty="0">
                <a:solidFill>
                  <a:srgbClr val="2E2118"/>
                </a:solidFill>
                <a:latin typeface="Calibri" pitchFamily="34" charset="0"/>
                <a:ea typeface="Calibri" pitchFamily="34" charset="-122"/>
                <a:cs typeface="Calibri" pitchFamily="34" charset="-120"/>
              </a:rPr>
              <a:t>Everything goes into the open archive and Explore in 3D, free, on any phone or headset.</a:t>
            </a:r>
            <a:endParaRPr lang="en-US" sz="1250" dirty="0"/>
          </a:p>
        </p:txBody>
      </p:sp>
      <p:sp>
        <p:nvSpPr>
          <p:cNvPr id="20" name="Shape 14"/>
          <p:cNvSpPr/>
          <p:nvPr/>
        </p:nvSpPr>
        <p:spPr>
          <a:xfrm>
            <a:off x="9573768" y="2194560"/>
            <a:ext cx="822960" cy="822960"/>
          </a:xfrm>
          <a:prstGeom prst="ellipse">
            <a:avLst/>
          </a:prstGeom>
          <a:solidFill>
            <a:srgbClr val="E8DCC6"/>
          </a:solidFill>
          <a:ln w="12700">
            <a:solidFill>
              <a:srgbClr val="E8DCC6"/>
            </a:solidFill>
            <a:prstDash val="solid"/>
          </a:ln>
        </p:spPr>
      </p:sp>
      <p:pic>
        <p:nvPicPr>
          <p:cNvPr id="21" name="Image 4" descr="preencoded.png">    </p:cNvPr>
          <p:cNvPicPr>
            <a:picLocks noChangeAspect="1"/>
          </p:cNvPicPr>
          <p:nvPr/>
        </p:nvPicPr>
        <p:blipFill>
          <a:blip r:embed="rId5"/>
          <a:stretch>
            <a:fillRect/>
          </a:stretch>
        </p:blipFill>
        <p:spPr>
          <a:xfrm>
            <a:off x="9779508" y="2400300"/>
            <a:ext cx="411480" cy="411480"/>
          </a:xfrm>
          <a:prstGeom prst="rect">
            <a:avLst/>
          </a:prstGeom>
        </p:spPr>
      </p:pic>
      <p:sp>
        <p:nvSpPr>
          <p:cNvPr id="22" name="Text 15"/>
          <p:cNvSpPr txBox="1"/>
          <p:nvPr/>
        </p:nvSpPr>
        <p:spPr>
          <a:xfrm>
            <a:off x="9528048" y="3200400"/>
            <a:ext cx="2103120" cy="365760"/>
          </a:xfrm>
          <a:prstGeom prst="rect">
            <a:avLst/>
          </a:prstGeom>
          <a:noFill/>
          <a:ln/>
        </p:spPr>
        <p:txBody>
          <a:bodyPr wrap="square" lIns="0" tIns="0" rIns="0" bIns="0" rtlCol="0" anchor="ctr"/>
          <a:lstStyle/>
          <a:p>
            <a:pPr indent="0" marL="0">
              <a:buNone/>
            </a:pPr>
            <a:r>
              <a:rPr lang="en-US" sz="1800" b="1" dirty="0">
                <a:solidFill>
                  <a:srgbClr val="4A3527"/>
                </a:solidFill>
                <a:latin typeface="Cambria" pitchFamily="34" charset="0"/>
                <a:ea typeface="Cambria" pitchFamily="34" charset="-122"/>
                <a:cs typeface="Cambria" pitchFamily="34" charset="-120"/>
              </a:rPr>
              <a:t>Share</a:t>
            </a:r>
            <a:endParaRPr lang="en-US" sz="1800" dirty="0"/>
          </a:p>
        </p:txBody>
      </p:sp>
      <p:sp>
        <p:nvSpPr>
          <p:cNvPr id="23" name="Text 16"/>
          <p:cNvSpPr txBox="1"/>
          <p:nvPr/>
        </p:nvSpPr>
        <p:spPr>
          <a:xfrm>
            <a:off x="9528048" y="3611880"/>
            <a:ext cx="2103120" cy="1645920"/>
          </a:xfrm>
          <a:prstGeom prst="rect">
            <a:avLst/>
          </a:prstGeom>
          <a:noFill/>
          <a:ln/>
        </p:spPr>
        <p:txBody>
          <a:bodyPr wrap="square" lIns="0" tIns="0" rIns="0" bIns="0" rtlCol="0" anchor="t"/>
          <a:lstStyle/>
          <a:p>
            <a:pPr indent="0" marL="0">
              <a:buNone/>
            </a:pPr>
            <a:r>
              <a:rPr lang="en-US" sz="1250" dirty="0">
                <a:solidFill>
                  <a:srgbClr val="2E2118"/>
                </a:solidFill>
                <a:latin typeface="Calibri" pitchFamily="34" charset="0"/>
                <a:ea typeface="Calibri" pitchFamily="34" charset="-122"/>
                <a:cs typeface="Calibri" pitchFamily="34" charset="-120"/>
              </a:rPr>
              <a:t>Visitors turn objects, meet our guide Nura, save and share them. Every share keeps a piece seen.</a:t>
            </a:r>
            <a:endParaRPr lang="en-US" sz="1250" dirty="0"/>
          </a:p>
        </p:txBody>
      </p:sp>
      <p:sp>
        <p:nvSpPr>
          <p:cNvPr id="24" name="Text 17"/>
          <p:cNvSpPr txBox="1"/>
          <p:nvPr/>
        </p:nvSpPr>
        <p:spPr>
          <a:xfrm>
            <a:off x="640080" y="5486400"/>
            <a:ext cx="10972800" cy="731520"/>
          </a:xfrm>
          <a:prstGeom prst="rect">
            <a:avLst/>
          </a:prstGeom>
          <a:noFill/>
          <a:ln/>
        </p:spPr>
        <p:txBody>
          <a:bodyPr wrap="square" lIns="0" tIns="0" rIns="0" bIns="0" rtlCol="0" anchor="ctr"/>
          <a:lstStyle/>
          <a:p>
            <a:pPr indent="0" marL="0">
              <a:buNone/>
            </a:pPr>
            <a:r>
              <a:rPr lang="en-US" sz="1400" i="1" dirty="0">
                <a:solidFill>
                  <a:srgbClr val="7D6A58"/>
                </a:solidFill>
                <a:latin typeface="Calibri" pitchFamily="34" charset="0"/>
                <a:ea typeface="Calibri" pitchFamily="34" charset="-122"/>
                <a:cs typeface="Calibri" pitchFamily="34" charset="-120"/>
              </a:rPr>
              <a:t>Around the software is a community: 85+ volunteers on four continents who meet every Thursday, learn Tunisian history together and build pieces for a virtual museum.</a:t>
            </a:r>
            <a:endParaRPr lang="en-US" sz="1400" dirty="0"/>
          </a:p>
        </p:txBody>
      </p:sp>
      <p:sp>
        <p:nvSpPr>
          <p:cNvPr id="25" name="Text 18"/>
          <p:cNvSpPr txBox="1"/>
          <p:nvPr/>
        </p:nvSpPr>
        <p:spPr>
          <a:xfrm>
            <a:off x="9811512" y="6355080"/>
            <a:ext cx="1920240" cy="274320"/>
          </a:xfrm>
          <a:prstGeom prst="rect">
            <a:avLst/>
          </a:prstGeom>
          <a:noFill/>
          <a:ln/>
        </p:spPr>
        <p:txBody>
          <a:bodyPr wrap="square" lIns="0" tIns="0" rIns="0" bIns="0" rtlCol="0" anchor="ctr"/>
          <a:lstStyle/>
          <a:p>
            <a:pPr algn="r" indent="0" marL="0">
              <a:buNone/>
            </a:pPr>
            <a:r>
              <a:rPr lang="en-US" sz="1100" dirty="0">
                <a:solidFill>
                  <a:srgbClr val="7D6A58"/>
                </a:solidFill>
                <a:latin typeface="Calibri" pitchFamily="34" charset="0"/>
                <a:ea typeface="Calibri" pitchFamily="34" charset="-122"/>
                <a:cs typeface="Calibri" pitchFamily="34" charset="-120"/>
              </a:rPr>
              <a:t>tanitxr.org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1A10"/>
        </a:solidFill>
      </p:bgPr>
    </p:bg>
    <p:spTree>
      <p:nvGrpSpPr>
        <p:cNvPr id="1" name=""/>
        <p:cNvGrpSpPr/>
        <p:nvPr/>
      </p:nvGrpSpPr>
      <p:grpSpPr>
        <a:xfrm>
          <a:off x="0" y="0"/>
          <a:ext cx="0" cy="0"/>
          <a:chOff x="0" y="0"/>
          <a:chExt cx="0" cy="0"/>
        </a:xfrm>
      </p:grpSpPr>
      <p:pic>
        <p:nvPicPr>
          <p:cNvPr id="2" name="Image 0" descr="/Users/inessaid/Documents/tanitxr.org/docs/assets/img/explore-og-1200.jpg">    </p:cNvPr>
          <p:cNvPicPr>
            <a:picLocks noChangeAspect="1"/>
          </p:cNvPicPr>
          <p:nvPr/>
        </p:nvPicPr>
        <p:blipFill>
          <a:blip r:embed="rId1"/>
          <a:stretch>
            <a:fillRect/>
          </a:stretch>
        </p:blipFill>
        <p:spPr>
          <a:xfrm>
            <a:off x="640080" y="1188720"/>
            <a:ext cx="6766560" cy="3552444"/>
          </a:xfrm>
          <a:prstGeom prst="rect">
            <a:avLst/>
          </a:prstGeom>
        </p:spPr>
      </p:pic>
      <p:pic>
        <p:nvPicPr>
          <p:cNvPr id="3" name="Image 1" descr="/Users/inessaid/Documents/tanitxr.org/docs/assets/img/explore-gallery-600.jpg">    </p:cNvPr>
          <p:cNvPicPr>
            <a:picLocks noChangeAspect="1"/>
          </p:cNvPicPr>
          <p:nvPr/>
        </p:nvPicPr>
        <p:blipFill>
          <a:blip r:embed="rId2"/>
          <a:stretch>
            <a:fillRect/>
          </a:stretch>
        </p:blipFill>
        <p:spPr>
          <a:xfrm>
            <a:off x="4754880" y="3931920"/>
            <a:ext cx="3108960" cy="1943100"/>
          </a:xfrm>
          <a:prstGeom prst="rect">
            <a:avLst/>
          </a:prstGeom>
        </p:spPr>
      </p:pic>
      <p:sp>
        <p:nvSpPr>
          <p:cNvPr id="4" name="Text 0"/>
          <p:cNvSpPr txBox="1"/>
          <p:nvPr/>
        </p:nvSpPr>
        <p:spPr>
          <a:xfrm>
            <a:off x="8138160" y="1188720"/>
            <a:ext cx="7315200" cy="274320"/>
          </a:xfrm>
          <a:prstGeom prst="rect">
            <a:avLst/>
          </a:prstGeom>
          <a:noFill/>
          <a:ln/>
        </p:spPr>
        <p:txBody>
          <a:bodyPr wrap="square" lIns="0" tIns="0" rIns="0" bIns="0" rtlCol="0" anchor="ctr"/>
          <a:lstStyle/>
          <a:p>
            <a:pPr indent="0" marL="0">
              <a:buNone/>
            </a:pPr>
            <a:r>
              <a:rPr lang="en-US" sz="1200" b="1" spc="400" kern="0" dirty="0">
                <a:solidFill>
                  <a:srgbClr val="FFCD05"/>
                </a:solidFill>
                <a:latin typeface="Calibri" pitchFamily="34" charset="0"/>
                <a:ea typeface="Calibri" pitchFamily="34" charset="-122"/>
                <a:cs typeface="Calibri" pitchFamily="34" charset="-120"/>
              </a:rPr>
              <a:t>SEE IT NOW</a:t>
            </a:r>
            <a:endParaRPr lang="en-US" sz="1200" dirty="0"/>
          </a:p>
        </p:txBody>
      </p:sp>
      <p:sp>
        <p:nvSpPr>
          <p:cNvPr id="5" name="Text 1"/>
          <p:cNvSpPr txBox="1"/>
          <p:nvPr/>
        </p:nvSpPr>
        <p:spPr>
          <a:xfrm>
            <a:off x="8138160" y="1554480"/>
            <a:ext cx="3657600" cy="10972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Open this on your phone</a:t>
            </a:r>
            <a:endParaRPr lang="en-US" sz="3000" dirty="0"/>
          </a:p>
        </p:txBody>
      </p:sp>
      <p:sp>
        <p:nvSpPr>
          <p:cNvPr id="6" name="Text 2"/>
          <p:cNvSpPr txBox="1"/>
          <p:nvPr/>
        </p:nvSpPr>
        <p:spPr>
          <a:xfrm>
            <a:off x="8138160" y="2697480"/>
            <a:ext cx="3657600" cy="457200"/>
          </a:xfrm>
          <a:prstGeom prst="rect">
            <a:avLst/>
          </a:prstGeom>
          <a:noFill/>
          <a:ln/>
        </p:spPr>
        <p:txBody>
          <a:bodyPr wrap="square" lIns="0" tIns="0" rIns="0" bIns="0" rtlCol="0" anchor="ctr"/>
          <a:lstStyle/>
          <a:p>
            <a:pPr indent="0" marL="0">
              <a:buNone/>
            </a:pPr>
            <a:r>
              <a:rPr lang="en-US" sz="2000" b="1" dirty="0">
                <a:solidFill>
                  <a:srgbClr val="FFCD05"/>
                </a:solidFill>
                <a:latin typeface="Calibri" pitchFamily="34" charset="0"/>
                <a:ea typeface="Calibri" pitchFamily="34" charset="-122"/>
                <a:cs typeface="Calibri" pitchFamily="34" charset="-120"/>
              </a:rPr>
              <a:t>tanitxr.org/explore</a:t>
            </a:r>
            <a:endParaRPr lang="en-US" sz="2000" dirty="0"/>
          </a:p>
        </p:txBody>
      </p:sp>
      <p:sp>
        <p:nvSpPr>
          <p:cNvPr id="7" name="Text 3"/>
          <p:cNvSpPr txBox="1"/>
          <p:nvPr/>
        </p:nvSpPr>
        <p:spPr>
          <a:xfrm>
            <a:off x="8138160" y="3291840"/>
            <a:ext cx="3657600" cy="1463040"/>
          </a:xfrm>
          <a:prstGeom prst="rect">
            <a:avLst/>
          </a:prstGeom>
          <a:noFill/>
          <a:ln/>
        </p:spPr>
        <p:txBody>
          <a:bodyPr wrap="square" lIns="0" tIns="0" rIns="0" bIns="0" rtlCol="0" anchor="ctr"/>
          <a:lstStyle/>
          <a:p>
            <a:pPr indent="0" marL="0">
              <a:buNone/>
            </a:pPr>
            <a:r>
              <a:rPr lang="en-US" sz="1400" dirty="0">
                <a:solidFill>
                  <a:srgbClr val="E8DCC6"/>
                </a:solidFill>
                <a:latin typeface="Calibri" pitchFamily="34" charset="0"/>
                <a:ea typeface="Calibri" pitchFamily="34" charset="-122"/>
                <a:cs typeface="Calibri" pitchFamily="34" charset="-120"/>
              </a:rPr>
              <a:t>Turn a two-thousand-year-old stone with your finger. Tap Nura and she tells you its story. Step into a volunteer's gallery. Put on a Quest headset and stand beside it at real size.</a:t>
            </a:r>
            <a:endParaRPr lang="en-US" sz="1400" dirty="0"/>
          </a:p>
        </p:txBody>
      </p:sp>
      <p:sp>
        <p:nvSpPr>
          <p:cNvPr id="8" name="Text 4"/>
          <p:cNvSpPr txBox="1"/>
          <p:nvPr/>
        </p:nvSpPr>
        <p:spPr>
          <a:xfrm>
            <a:off x="8138160" y="4937760"/>
            <a:ext cx="3657600" cy="457200"/>
          </a:xfrm>
          <a:prstGeom prst="rect">
            <a:avLst/>
          </a:prstGeom>
          <a:noFill/>
          <a:ln/>
        </p:spPr>
        <p:txBody>
          <a:bodyPr wrap="square" lIns="0" tIns="0" rIns="0" bIns="0" rtlCol="0" anchor="ctr"/>
          <a:lstStyle/>
          <a:p>
            <a:pPr indent="0" marL="0">
              <a:buNone/>
            </a:pPr>
            <a:r>
              <a:rPr lang="en-US" sz="1200" i="1" dirty="0">
                <a:solidFill>
                  <a:srgbClr val="E8DCC6"/>
                </a:solidFill>
                <a:latin typeface="Calibri" pitchFamily="34" charset="0"/>
                <a:ea typeface="Calibri" pitchFamily="34" charset="-122"/>
                <a:cs typeface="Calibri" pitchFamily="34" charset="-120"/>
              </a:rPr>
              <a:t>Add ?tour=1 for a four-minute guided visit.</a:t>
            </a:r>
            <a:endParaRPr lang="en-US" sz="1200" dirty="0"/>
          </a:p>
        </p:txBody>
      </p:sp>
      <p:sp>
        <p:nvSpPr>
          <p:cNvPr id="9" name="Text 5"/>
          <p:cNvSpPr txBox="1"/>
          <p:nvPr/>
        </p:nvSpPr>
        <p:spPr>
          <a:xfrm>
            <a:off x="9811512" y="6355080"/>
            <a:ext cx="1920240" cy="274320"/>
          </a:xfrm>
          <a:prstGeom prst="rect">
            <a:avLst/>
          </a:prstGeom>
          <a:noFill/>
          <a:ln/>
        </p:spPr>
        <p:txBody>
          <a:bodyPr wrap="square" lIns="0" tIns="0" rIns="0" bIns="0" rtlCol="0" anchor="ctr"/>
          <a:lstStyle/>
          <a:p>
            <a:pPr algn="r" indent="0" marL="0">
              <a:buNone/>
            </a:pPr>
            <a:r>
              <a:rPr lang="en-US" sz="1100" dirty="0">
                <a:solidFill>
                  <a:srgbClr val="E8DCC6"/>
                </a:solidFill>
                <a:latin typeface="Calibri" pitchFamily="34" charset="0"/>
                <a:ea typeface="Calibri" pitchFamily="34" charset="-122"/>
                <a:cs typeface="Calibri" pitchFamily="34" charset="-120"/>
              </a:rPr>
              <a:t>tanitxr.org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8F0"/>
        </a:solidFill>
      </p:bgPr>
    </p:bg>
    <p:spTree>
      <p:nvGrpSpPr>
        <p:cNvPr id="1" name=""/>
        <p:cNvGrpSpPr/>
        <p:nvPr/>
      </p:nvGrpSpPr>
      <p:grpSpPr>
        <a:xfrm>
          <a:off x="0" y="0"/>
          <a:ext cx="0" cy="0"/>
          <a:chOff x="0" y="0"/>
          <a:chExt cx="0" cy="0"/>
        </a:xfrm>
      </p:grpSpPr>
      <p:sp>
        <p:nvSpPr>
          <p:cNvPr id="2" name="Text 0"/>
          <p:cNvSpPr txBox="1"/>
          <p:nvPr/>
        </p:nvSpPr>
        <p:spPr>
          <a:xfrm>
            <a:off x="640080" y="640080"/>
            <a:ext cx="7315200" cy="274320"/>
          </a:xfrm>
          <a:prstGeom prst="rect">
            <a:avLst/>
          </a:prstGeom>
          <a:noFill/>
          <a:ln/>
        </p:spPr>
        <p:txBody>
          <a:bodyPr wrap="square" lIns="0" tIns="0" rIns="0" bIns="0" rtlCol="0" anchor="ctr"/>
          <a:lstStyle/>
          <a:p>
            <a:pPr indent="0" marL="0">
              <a:buNone/>
            </a:pPr>
            <a:r>
              <a:rPr lang="en-US" sz="1200" b="1" spc="400" kern="0" dirty="0">
                <a:solidFill>
                  <a:srgbClr val="A35F3F"/>
                </a:solidFill>
                <a:latin typeface="Calibri" pitchFamily="34" charset="0"/>
                <a:ea typeface="Calibri" pitchFamily="34" charset="-122"/>
                <a:cs typeface="Calibri" pitchFamily="34" charset="-120"/>
              </a:rPr>
              <a:t>WHERE WE ARE, SEPTEMBER 2026</a:t>
            </a:r>
            <a:endParaRPr lang="en-US" sz="1200" dirty="0"/>
          </a:p>
        </p:txBody>
      </p:sp>
      <p:sp>
        <p:nvSpPr>
          <p:cNvPr id="3" name="Text 1"/>
          <p:cNvSpPr txBox="1"/>
          <p:nvPr/>
        </p:nvSpPr>
        <p:spPr>
          <a:xfrm>
            <a:off x="640080" y="960120"/>
            <a:ext cx="10972800" cy="822960"/>
          </a:xfrm>
          <a:prstGeom prst="rect">
            <a:avLst/>
          </a:prstGeom>
          <a:noFill/>
          <a:ln/>
        </p:spPr>
        <p:txBody>
          <a:bodyPr wrap="square" lIns="0" tIns="0" rIns="0" bIns="0" rtlCol="0" anchor="ctr"/>
          <a:lstStyle/>
          <a:p>
            <a:pPr indent="0" marL="0">
              <a:buNone/>
            </a:pPr>
            <a:r>
              <a:rPr lang="en-US" sz="3200" b="1" dirty="0">
                <a:solidFill>
                  <a:srgbClr val="2E2118"/>
                </a:solidFill>
                <a:latin typeface="Cambria" pitchFamily="34" charset="0"/>
                <a:ea typeface="Cambria" pitchFamily="34" charset="-122"/>
                <a:cs typeface="Cambria" pitchFamily="34" charset="-120"/>
              </a:rPr>
              <a:t>Built by volunteers, before the first grant</a:t>
            </a:r>
            <a:endParaRPr lang="en-US" sz="3200" dirty="0"/>
          </a:p>
        </p:txBody>
      </p:sp>
      <p:sp>
        <p:nvSpPr>
          <p:cNvPr id="4" name="Shape 2"/>
          <p:cNvSpPr/>
          <p:nvPr/>
        </p:nvSpPr>
        <p:spPr>
          <a:xfrm>
            <a:off x="640080" y="2103120"/>
            <a:ext cx="1783080" cy="1737360"/>
          </a:xfrm>
          <a:prstGeom prst="roundRect">
            <a:avLst>
              <a:gd name="adj" fmla="val 6316"/>
            </a:avLst>
          </a:prstGeom>
          <a:solidFill>
            <a:srgbClr val="FFFFFF"/>
          </a:solidFill>
          <a:ln w="12700">
            <a:solidFill>
              <a:srgbClr val="E4D8C4"/>
            </a:solidFill>
            <a:prstDash val="solid"/>
          </a:ln>
        </p:spPr>
      </p:sp>
      <p:sp>
        <p:nvSpPr>
          <p:cNvPr id="5" name="Text 3"/>
          <p:cNvSpPr txBox="1"/>
          <p:nvPr/>
        </p:nvSpPr>
        <p:spPr>
          <a:xfrm>
            <a:off x="640080" y="2240280"/>
            <a:ext cx="1783080" cy="868680"/>
          </a:xfrm>
          <a:prstGeom prst="rect">
            <a:avLst/>
          </a:prstGeom>
          <a:noFill/>
          <a:ln/>
        </p:spPr>
        <p:txBody>
          <a:bodyPr wrap="square" lIns="0" tIns="0" rIns="0" bIns="0" rtlCol="0" anchor="ctr"/>
          <a:lstStyle/>
          <a:p>
            <a:pPr algn="ctr" indent="0" marL="0">
              <a:buNone/>
            </a:pPr>
            <a:r>
              <a:rPr lang="en-US" sz="4400" b="1" dirty="0">
                <a:solidFill>
                  <a:srgbClr val="A35F3F"/>
                </a:solidFill>
                <a:latin typeface="Cambria" pitchFamily="34" charset="0"/>
                <a:ea typeface="Cambria" pitchFamily="34" charset="-122"/>
                <a:cs typeface="Cambria" pitchFamily="34" charset="-120"/>
              </a:rPr>
              <a:t>99</a:t>
            </a:r>
            <a:endParaRPr lang="en-US" sz="4400" dirty="0"/>
          </a:p>
        </p:txBody>
      </p:sp>
      <p:sp>
        <p:nvSpPr>
          <p:cNvPr id="6" name="Text 4"/>
          <p:cNvSpPr txBox="1"/>
          <p:nvPr/>
        </p:nvSpPr>
        <p:spPr>
          <a:xfrm>
            <a:off x="731520" y="3108960"/>
            <a:ext cx="1600200" cy="640080"/>
          </a:xfrm>
          <a:prstGeom prst="rect">
            <a:avLst/>
          </a:prstGeom>
          <a:noFill/>
          <a:ln/>
        </p:spPr>
        <p:txBody>
          <a:bodyPr wrap="square" lIns="0" tIns="0" rIns="0" bIns="0" rtlCol="0" anchor="ctr"/>
          <a:lstStyle/>
          <a:p>
            <a:pPr algn="ctr" indent="0" marL="0">
              <a:buNone/>
            </a:pPr>
            <a:r>
              <a:rPr lang="en-US" sz="1200" dirty="0">
                <a:solidFill>
                  <a:srgbClr val="7D6A58"/>
                </a:solidFill>
                <a:latin typeface="Calibri" pitchFamily="34" charset="0"/>
                <a:ea typeface="Calibri" pitchFamily="34" charset="-122"/>
                <a:cs typeface="Calibri" pitchFamily="34" charset="-120"/>
              </a:rPr>
              <a:t>public 3D scans</a:t>
            </a:r>
            <a:endParaRPr lang="en-US" sz="1200" dirty="0"/>
          </a:p>
        </p:txBody>
      </p:sp>
      <p:sp>
        <p:nvSpPr>
          <p:cNvPr id="7" name="Shape 5"/>
          <p:cNvSpPr/>
          <p:nvPr/>
        </p:nvSpPr>
        <p:spPr>
          <a:xfrm>
            <a:off x="2532888" y="2103120"/>
            <a:ext cx="1783080" cy="1737360"/>
          </a:xfrm>
          <a:prstGeom prst="roundRect">
            <a:avLst>
              <a:gd name="adj" fmla="val 6316"/>
            </a:avLst>
          </a:prstGeom>
          <a:solidFill>
            <a:srgbClr val="FFFFFF"/>
          </a:solidFill>
          <a:ln w="12700">
            <a:solidFill>
              <a:srgbClr val="E4D8C4"/>
            </a:solidFill>
            <a:prstDash val="solid"/>
          </a:ln>
        </p:spPr>
      </p:sp>
      <p:sp>
        <p:nvSpPr>
          <p:cNvPr id="8" name="Text 6"/>
          <p:cNvSpPr txBox="1"/>
          <p:nvPr/>
        </p:nvSpPr>
        <p:spPr>
          <a:xfrm>
            <a:off x="2532888" y="2240280"/>
            <a:ext cx="1783080" cy="868680"/>
          </a:xfrm>
          <a:prstGeom prst="rect">
            <a:avLst/>
          </a:prstGeom>
          <a:noFill/>
          <a:ln/>
        </p:spPr>
        <p:txBody>
          <a:bodyPr wrap="square" lIns="0" tIns="0" rIns="0" bIns="0" rtlCol="0" anchor="ctr"/>
          <a:lstStyle/>
          <a:p>
            <a:pPr algn="ctr" indent="0" marL="0">
              <a:buNone/>
            </a:pPr>
            <a:r>
              <a:rPr lang="en-US" sz="4400" b="1" dirty="0">
                <a:solidFill>
                  <a:srgbClr val="A35F3F"/>
                </a:solidFill>
                <a:latin typeface="Cambria" pitchFamily="34" charset="0"/>
                <a:ea typeface="Cambria" pitchFamily="34" charset="-122"/>
                <a:cs typeface="Cambria" pitchFamily="34" charset="-120"/>
              </a:rPr>
              <a:t>8</a:t>
            </a:r>
            <a:endParaRPr lang="en-US" sz="4400" dirty="0"/>
          </a:p>
        </p:txBody>
      </p:sp>
      <p:sp>
        <p:nvSpPr>
          <p:cNvPr id="9" name="Text 7"/>
          <p:cNvSpPr txBox="1"/>
          <p:nvPr/>
        </p:nvSpPr>
        <p:spPr>
          <a:xfrm>
            <a:off x="2624328" y="3108960"/>
            <a:ext cx="1600200" cy="640080"/>
          </a:xfrm>
          <a:prstGeom prst="rect">
            <a:avLst/>
          </a:prstGeom>
          <a:noFill/>
          <a:ln/>
        </p:spPr>
        <p:txBody>
          <a:bodyPr wrap="square" lIns="0" tIns="0" rIns="0" bIns="0" rtlCol="0" anchor="ctr"/>
          <a:lstStyle/>
          <a:p>
            <a:pPr algn="ctr" indent="0" marL="0">
              <a:buNone/>
            </a:pPr>
            <a:r>
              <a:rPr lang="en-US" sz="1200" dirty="0">
                <a:solidFill>
                  <a:srgbClr val="7D6A58"/>
                </a:solidFill>
                <a:latin typeface="Calibri" pitchFamily="34" charset="0"/>
                <a:ea typeface="Calibri" pitchFamily="34" charset="-122"/>
                <a:cs typeface="Calibri" pitchFamily="34" charset="-120"/>
              </a:rPr>
              <a:t>Tunisian sites</a:t>
            </a:r>
            <a:endParaRPr lang="en-US" sz="1200" dirty="0"/>
          </a:p>
        </p:txBody>
      </p:sp>
      <p:sp>
        <p:nvSpPr>
          <p:cNvPr id="10" name="Shape 8"/>
          <p:cNvSpPr/>
          <p:nvPr/>
        </p:nvSpPr>
        <p:spPr>
          <a:xfrm>
            <a:off x="4425696" y="2103120"/>
            <a:ext cx="1783080" cy="1737360"/>
          </a:xfrm>
          <a:prstGeom prst="roundRect">
            <a:avLst>
              <a:gd name="adj" fmla="val 6316"/>
            </a:avLst>
          </a:prstGeom>
          <a:solidFill>
            <a:srgbClr val="FFFFFF"/>
          </a:solidFill>
          <a:ln w="12700">
            <a:solidFill>
              <a:srgbClr val="E4D8C4"/>
            </a:solidFill>
            <a:prstDash val="solid"/>
          </a:ln>
        </p:spPr>
      </p:sp>
      <p:sp>
        <p:nvSpPr>
          <p:cNvPr id="11" name="Text 9"/>
          <p:cNvSpPr txBox="1"/>
          <p:nvPr/>
        </p:nvSpPr>
        <p:spPr>
          <a:xfrm>
            <a:off x="4425696" y="2240280"/>
            <a:ext cx="1783080" cy="868680"/>
          </a:xfrm>
          <a:prstGeom prst="rect">
            <a:avLst/>
          </a:prstGeom>
          <a:noFill/>
          <a:ln/>
        </p:spPr>
        <p:txBody>
          <a:bodyPr wrap="square" lIns="0" tIns="0" rIns="0" bIns="0" rtlCol="0" anchor="ctr"/>
          <a:lstStyle/>
          <a:p>
            <a:pPr algn="ctr" indent="0" marL="0">
              <a:buNone/>
            </a:pPr>
            <a:r>
              <a:rPr lang="en-US" sz="4400" b="1" dirty="0">
                <a:solidFill>
                  <a:srgbClr val="A35F3F"/>
                </a:solidFill>
                <a:latin typeface="Cambria" pitchFamily="34" charset="0"/>
                <a:ea typeface="Cambria" pitchFamily="34" charset="-122"/>
                <a:cs typeface="Cambria" pitchFamily="34" charset="-120"/>
              </a:rPr>
              <a:t>85+</a:t>
            </a:r>
            <a:endParaRPr lang="en-US" sz="4400" dirty="0"/>
          </a:p>
        </p:txBody>
      </p:sp>
      <p:sp>
        <p:nvSpPr>
          <p:cNvPr id="12" name="Text 10"/>
          <p:cNvSpPr txBox="1"/>
          <p:nvPr/>
        </p:nvSpPr>
        <p:spPr>
          <a:xfrm>
            <a:off x="4517136" y="3108960"/>
            <a:ext cx="1600200" cy="640080"/>
          </a:xfrm>
          <a:prstGeom prst="rect">
            <a:avLst/>
          </a:prstGeom>
          <a:noFill/>
          <a:ln/>
        </p:spPr>
        <p:txBody>
          <a:bodyPr wrap="square" lIns="0" tIns="0" rIns="0" bIns="0" rtlCol="0" anchor="ctr"/>
          <a:lstStyle/>
          <a:p>
            <a:pPr algn="ctr" indent="0" marL="0">
              <a:buNone/>
            </a:pPr>
            <a:r>
              <a:rPr lang="en-US" sz="1200" dirty="0">
                <a:solidFill>
                  <a:srgbClr val="7D6A58"/>
                </a:solidFill>
                <a:latin typeface="Calibri" pitchFamily="34" charset="0"/>
                <a:ea typeface="Calibri" pitchFamily="34" charset="-122"/>
                <a:cs typeface="Calibri" pitchFamily="34" charset="-120"/>
              </a:rPr>
              <a:t>volunteers, 4 continents</a:t>
            </a:r>
            <a:endParaRPr lang="en-US" sz="1200" dirty="0"/>
          </a:p>
        </p:txBody>
      </p:sp>
      <p:sp>
        <p:nvSpPr>
          <p:cNvPr id="13" name="Shape 11"/>
          <p:cNvSpPr/>
          <p:nvPr/>
        </p:nvSpPr>
        <p:spPr>
          <a:xfrm>
            <a:off x="6318504" y="2103120"/>
            <a:ext cx="1783080" cy="1737360"/>
          </a:xfrm>
          <a:prstGeom prst="roundRect">
            <a:avLst>
              <a:gd name="adj" fmla="val 6316"/>
            </a:avLst>
          </a:prstGeom>
          <a:solidFill>
            <a:srgbClr val="FFFFFF"/>
          </a:solidFill>
          <a:ln w="12700">
            <a:solidFill>
              <a:srgbClr val="E4D8C4"/>
            </a:solidFill>
            <a:prstDash val="solid"/>
          </a:ln>
        </p:spPr>
      </p:sp>
      <p:sp>
        <p:nvSpPr>
          <p:cNvPr id="14" name="Text 12"/>
          <p:cNvSpPr txBox="1"/>
          <p:nvPr/>
        </p:nvSpPr>
        <p:spPr>
          <a:xfrm>
            <a:off x="6318504" y="2240280"/>
            <a:ext cx="1783080" cy="868680"/>
          </a:xfrm>
          <a:prstGeom prst="rect">
            <a:avLst/>
          </a:prstGeom>
          <a:noFill/>
          <a:ln/>
        </p:spPr>
        <p:txBody>
          <a:bodyPr wrap="square" lIns="0" tIns="0" rIns="0" bIns="0" rtlCol="0" anchor="ctr"/>
          <a:lstStyle/>
          <a:p>
            <a:pPr algn="ctr" indent="0" marL="0">
              <a:buNone/>
            </a:pPr>
            <a:r>
              <a:rPr lang="en-US" sz="4400" b="1" dirty="0">
                <a:solidFill>
                  <a:srgbClr val="A35F3F"/>
                </a:solidFill>
                <a:latin typeface="Cambria" pitchFamily="34" charset="0"/>
                <a:ea typeface="Cambria" pitchFamily="34" charset="-122"/>
                <a:cs typeface="Cambria" pitchFamily="34" charset="-120"/>
              </a:rPr>
              <a:t>75</a:t>
            </a:r>
            <a:endParaRPr lang="en-US" sz="4400" dirty="0"/>
          </a:p>
        </p:txBody>
      </p:sp>
      <p:sp>
        <p:nvSpPr>
          <p:cNvPr id="15" name="Text 13"/>
          <p:cNvSpPr txBox="1"/>
          <p:nvPr/>
        </p:nvSpPr>
        <p:spPr>
          <a:xfrm>
            <a:off x="6409944" y="3108960"/>
            <a:ext cx="1600200" cy="640080"/>
          </a:xfrm>
          <a:prstGeom prst="rect">
            <a:avLst/>
          </a:prstGeom>
          <a:noFill/>
          <a:ln/>
        </p:spPr>
        <p:txBody>
          <a:bodyPr wrap="square" lIns="0" tIns="0" rIns="0" bIns="0" rtlCol="0" anchor="ctr"/>
          <a:lstStyle/>
          <a:p>
            <a:pPr algn="ctr" indent="0" marL="0">
              <a:buNone/>
            </a:pPr>
            <a:r>
              <a:rPr lang="en-US" sz="1200" dirty="0">
                <a:solidFill>
                  <a:srgbClr val="7D6A58"/>
                </a:solidFill>
                <a:latin typeface="Calibri" pitchFamily="34" charset="0"/>
                <a:ea typeface="Calibri" pitchFamily="34" charset="-122"/>
                <a:cs typeface="Calibri" pitchFamily="34" charset="-120"/>
              </a:rPr>
              <a:t>objects live in 3D</a:t>
            </a:r>
            <a:endParaRPr lang="en-US" sz="1200" dirty="0"/>
          </a:p>
        </p:txBody>
      </p:sp>
      <p:sp>
        <p:nvSpPr>
          <p:cNvPr id="16" name="Shape 14"/>
          <p:cNvSpPr/>
          <p:nvPr/>
        </p:nvSpPr>
        <p:spPr>
          <a:xfrm>
            <a:off x="8211312" y="2103120"/>
            <a:ext cx="1783080" cy="1737360"/>
          </a:xfrm>
          <a:prstGeom prst="roundRect">
            <a:avLst>
              <a:gd name="adj" fmla="val 6316"/>
            </a:avLst>
          </a:prstGeom>
          <a:solidFill>
            <a:srgbClr val="FFFFFF"/>
          </a:solidFill>
          <a:ln w="12700">
            <a:solidFill>
              <a:srgbClr val="E4D8C4"/>
            </a:solidFill>
            <a:prstDash val="solid"/>
          </a:ln>
        </p:spPr>
      </p:sp>
      <p:sp>
        <p:nvSpPr>
          <p:cNvPr id="17" name="Text 15"/>
          <p:cNvSpPr txBox="1"/>
          <p:nvPr/>
        </p:nvSpPr>
        <p:spPr>
          <a:xfrm>
            <a:off x="8211312" y="2240280"/>
            <a:ext cx="1783080" cy="868680"/>
          </a:xfrm>
          <a:prstGeom prst="rect">
            <a:avLst/>
          </a:prstGeom>
          <a:noFill/>
          <a:ln/>
        </p:spPr>
        <p:txBody>
          <a:bodyPr wrap="square" lIns="0" tIns="0" rIns="0" bIns="0" rtlCol="0" anchor="ctr"/>
          <a:lstStyle/>
          <a:p>
            <a:pPr algn="ctr" indent="0" marL="0">
              <a:buNone/>
            </a:pPr>
            <a:r>
              <a:rPr lang="en-US" sz="4400" b="1" dirty="0">
                <a:solidFill>
                  <a:srgbClr val="A35F3F"/>
                </a:solidFill>
                <a:latin typeface="Cambria" pitchFamily="34" charset="0"/>
                <a:ea typeface="Cambria" pitchFamily="34" charset="-122"/>
                <a:cs typeface="Cambria" pitchFamily="34" charset="-120"/>
              </a:rPr>
              <a:t>20+</a:t>
            </a:r>
            <a:endParaRPr lang="en-US" sz="4400" dirty="0"/>
          </a:p>
        </p:txBody>
      </p:sp>
      <p:sp>
        <p:nvSpPr>
          <p:cNvPr id="18" name="Text 16"/>
          <p:cNvSpPr txBox="1"/>
          <p:nvPr/>
        </p:nvSpPr>
        <p:spPr>
          <a:xfrm>
            <a:off x="8302752" y="3108960"/>
            <a:ext cx="1600200" cy="640080"/>
          </a:xfrm>
          <a:prstGeom prst="rect">
            <a:avLst/>
          </a:prstGeom>
          <a:noFill/>
          <a:ln/>
        </p:spPr>
        <p:txBody>
          <a:bodyPr wrap="square" lIns="0" tIns="0" rIns="0" bIns="0" rtlCol="0" anchor="ctr"/>
          <a:lstStyle/>
          <a:p>
            <a:pPr algn="ctr" indent="0" marL="0">
              <a:buNone/>
            </a:pPr>
            <a:r>
              <a:rPr lang="en-US" sz="1200" dirty="0">
                <a:solidFill>
                  <a:srgbClr val="7D6A58"/>
                </a:solidFill>
                <a:latin typeface="Calibri" pitchFamily="34" charset="0"/>
                <a:ea typeface="Calibri" pitchFamily="34" charset="-122"/>
                <a:cs typeface="Calibri" pitchFamily="34" charset="-120"/>
              </a:rPr>
              <a:t>course graduates</a:t>
            </a:r>
            <a:endParaRPr lang="en-US" sz="1200" dirty="0"/>
          </a:p>
        </p:txBody>
      </p:sp>
      <p:sp>
        <p:nvSpPr>
          <p:cNvPr id="19" name="Shape 17"/>
          <p:cNvSpPr/>
          <p:nvPr/>
        </p:nvSpPr>
        <p:spPr>
          <a:xfrm>
            <a:off x="10104120" y="2103120"/>
            <a:ext cx="1783080" cy="1737360"/>
          </a:xfrm>
          <a:prstGeom prst="roundRect">
            <a:avLst>
              <a:gd name="adj" fmla="val 6316"/>
            </a:avLst>
          </a:prstGeom>
          <a:solidFill>
            <a:srgbClr val="FFFFFF"/>
          </a:solidFill>
          <a:ln w="12700">
            <a:solidFill>
              <a:srgbClr val="E4D8C4"/>
            </a:solidFill>
            <a:prstDash val="solid"/>
          </a:ln>
        </p:spPr>
      </p:sp>
      <p:sp>
        <p:nvSpPr>
          <p:cNvPr id="20" name="Text 18"/>
          <p:cNvSpPr txBox="1"/>
          <p:nvPr/>
        </p:nvSpPr>
        <p:spPr>
          <a:xfrm>
            <a:off x="10104120" y="2240280"/>
            <a:ext cx="1783080" cy="868680"/>
          </a:xfrm>
          <a:prstGeom prst="rect">
            <a:avLst/>
          </a:prstGeom>
          <a:noFill/>
          <a:ln/>
        </p:spPr>
        <p:txBody>
          <a:bodyPr wrap="square" lIns="0" tIns="0" rIns="0" bIns="0" rtlCol="0" anchor="ctr"/>
          <a:lstStyle/>
          <a:p>
            <a:pPr algn="ctr" indent="0" marL="0">
              <a:buNone/>
            </a:pPr>
            <a:r>
              <a:rPr lang="en-US" sz="4400" b="1" dirty="0">
                <a:solidFill>
                  <a:srgbClr val="A35F3F"/>
                </a:solidFill>
                <a:latin typeface="Cambria" pitchFamily="34" charset="0"/>
                <a:ea typeface="Cambria" pitchFamily="34" charset="-122"/>
                <a:cs typeface="Cambria" pitchFamily="34" charset="-120"/>
              </a:rPr>
              <a:t>3</a:t>
            </a:r>
            <a:endParaRPr lang="en-US" sz="4400" dirty="0"/>
          </a:p>
        </p:txBody>
      </p:sp>
      <p:sp>
        <p:nvSpPr>
          <p:cNvPr id="21" name="Text 19"/>
          <p:cNvSpPr txBox="1"/>
          <p:nvPr/>
        </p:nvSpPr>
        <p:spPr>
          <a:xfrm>
            <a:off x="10195560" y="3108960"/>
            <a:ext cx="1600200" cy="640080"/>
          </a:xfrm>
          <a:prstGeom prst="rect">
            <a:avLst/>
          </a:prstGeom>
          <a:noFill/>
          <a:ln/>
        </p:spPr>
        <p:txBody>
          <a:bodyPr wrap="square" lIns="0" tIns="0" rIns="0" bIns="0" rtlCol="0" anchor="ctr"/>
          <a:lstStyle/>
          <a:p>
            <a:pPr algn="ctr" indent="0" marL="0">
              <a:buNone/>
            </a:pPr>
            <a:r>
              <a:rPr lang="en-US" sz="1200" dirty="0">
                <a:solidFill>
                  <a:srgbClr val="7D6A58"/>
                </a:solidFill>
                <a:latin typeface="Calibri" pitchFamily="34" charset="0"/>
                <a:ea typeface="Calibri" pitchFamily="34" charset="-122"/>
                <a:cs typeface="Calibri" pitchFamily="34" charset="-120"/>
              </a:rPr>
              <a:t>languages, all free</a:t>
            </a:r>
            <a:endParaRPr lang="en-US" sz="1200" dirty="0"/>
          </a:p>
        </p:txBody>
      </p:sp>
      <p:sp>
        <p:nvSpPr>
          <p:cNvPr id="22" name="Text 20"/>
          <p:cNvSpPr txBox="1"/>
          <p:nvPr/>
        </p:nvSpPr>
        <p:spPr>
          <a:xfrm>
            <a:off x="640080" y="4206240"/>
            <a:ext cx="3657600" cy="365760"/>
          </a:xfrm>
          <a:prstGeom prst="rect">
            <a:avLst/>
          </a:prstGeom>
          <a:noFill/>
          <a:ln/>
        </p:spPr>
        <p:txBody>
          <a:bodyPr wrap="square" lIns="0" tIns="0" rIns="0" bIns="0" rtlCol="0" anchor="ctr"/>
          <a:lstStyle/>
          <a:p>
            <a:pPr indent="0" marL="0">
              <a:buNone/>
            </a:pPr>
            <a:r>
              <a:rPr lang="en-US" sz="1800" b="1" dirty="0">
                <a:solidFill>
                  <a:srgbClr val="4A3527"/>
                </a:solidFill>
                <a:latin typeface="Cambria" pitchFamily="34" charset="0"/>
                <a:ea typeface="Cambria" pitchFamily="34" charset="-122"/>
                <a:cs typeface="Cambria" pitchFamily="34" charset="-120"/>
              </a:rPr>
              <a:t>Recognition</a:t>
            </a:r>
            <a:endParaRPr lang="en-US" sz="1800" dirty="0"/>
          </a:p>
        </p:txBody>
      </p:sp>
      <p:sp>
        <p:nvSpPr>
          <p:cNvPr id="23" name="Text 21"/>
          <p:cNvSpPr txBox="1"/>
          <p:nvPr/>
        </p:nvSpPr>
        <p:spPr>
          <a:xfrm>
            <a:off x="640080" y="4617720"/>
            <a:ext cx="10972800" cy="17373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E2118"/>
                </a:solidFill>
                <a:latin typeface="Calibri" pitchFamily="34" charset="0"/>
                <a:ea typeface="Calibri" pitchFamily="34" charset="-122"/>
                <a:cs typeface="Calibri" pitchFamily="34" charset="-120"/>
              </a:rPr>
              <a:t>Auggie Awards 2026 finalist, Best Societal Impact (AWE USA)</a:t>
            </a:r>
            <a:endParaRPr lang="en-US" sz="1350" dirty="0"/>
          </a:p>
          <a:p>
            <a:pPr marL="342900" indent="-342900">
              <a:spcAft>
                <a:spcPts val="500"/>
              </a:spcAft>
              <a:buSzPct val="100000"/>
              <a:buChar char="•"/>
            </a:pPr>
            <a:r>
              <a:rPr lang="en-US" sz="1350" dirty="0">
                <a:solidFill>
                  <a:srgbClr val="2E2118"/>
                </a:solidFill>
                <a:latin typeface="Calibri" pitchFamily="34" charset="0"/>
                <a:ea typeface="Calibri" pitchFamily="34" charset="-122"/>
                <a:cs typeface="Calibri" pitchFamily="34" charset="-120"/>
              </a:rPr>
              <a:t>Al Jazeera culture feature; Voices of VR episode 1728; Niantic Spatial video interview</a:t>
            </a:r>
            <a:endParaRPr lang="en-US" sz="1350" dirty="0"/>
          </a:p>
          <a:p>
            <a:pPr marL="342900" indent="-342900">
              <a:spcAft>
                <a:spcPts val="500"/>
              </a:spcAft>
              <a:buSzPct val="100000"/>
              <a:buChar char="•"/>
            </a:pPr>
            <a:r>
              <a:rPr lang="en-US" sz="1350" dirty="0">
                <a:solidFill>
                  <a:srgbClr val="2E2118"/>
                </a:solidFill>
                <a:latin typeface="Calibri" pitchFamily="34" charset="0"/>
                <a:ea typeface="Calibri" pitchFamily="34" charset="-122"/>
                <a:cs typeface="Calibri" pitchFamily="34" charset="-120"/>
              </a:rPr>
              <a:t>Paper at the El Jem conference in English, French and Tunisian Arabic</a:t>
            </a:r>
            <a:endParaRPr lang="en-US" sz="1350" dirty="0"/>
          </a:p>
          <a:p>
            <a:pPr marL="342900" indent="-342900">
              <a:spcAft>
                <a:spcPts val="500"/>
              </a:spcAft>
              <a:buSzPct val="100000"/>
              <a:buChar char="•"/>
            </a:pPr>
            <a:r>
              <a:rPr lang="en-US" sz="1350" dirty="0">
                <a:solidFill>
                  <a:srgbClr val="2E2118"/>
                </a:solidFill>
                <a:latin typeface="Calibri" pitchFamily="34" charset="0"/>
                <a:ea typeface="Calibri" pitchFamily="34" charset="-122"/>
                <a:cs typeface="Calibri" pitchFamily="34" charset="-120"/>
              </a:rPr>
              <a:t>Sponsored hackathon tracks at Georgia Tech (ImmerseGT) and CityCamp Gainesville</a:t>
            </a:r>
            <a:endParaRPr lang="en-US" sz="1350" dirty="0"/>
          </a:p>
          <a:p>
            <a:pPr marL="342900" indent="-342900">
              <a:spcAft>
                <a:spcPts val="500"/>
              </a:spcAft>
              <a:buSzPct val="100000"/>
              <a:buChar char="•"/>
            </a:pPr>
            <a:r>
              <a:rPr lang="en-US" sz="1350" dirty="0">
                <a:solidFill>
                  <a:srgbClr val="2E2118"/>
                </a:solidFill>
                <a:latin typeface="Calibri" pitchFamily="34" charset="0"/>
                <a:ea typeface="Calibri" pitchFamily="34" charset="-122"/>
                <a:cs typeface="Calibri" pitchFamily="34" charset="-120"/>
              </a:rPr>
              <a:t>The model is being replicated in Nigeria by the Unique Mappers Network</a:t>
            </a:r>
            <a:endParaRPr lang="en-US" sz="1350" dirty="0"/>
          </a:p>
        </p:txBody>
      </p:sp>
      <p:sp>
        <p:nvSpPr>
          <p:cNvPr id="24" name="Text 22"/>
          <p:cNvSpPr txBox="1"/>
          <p:nvPr/>
        </p:nvSpPr>
        <p:spPr>
          <a:xfrm>
            <a:off x="9811512" y="6355080"/>
            <a:ext cx="1920240" cy="274320"/>
          </a:xfrm>
          <a:prstGeom prst="rect">
            <a:avLst/>
          </a:prstGeom>
          <a:noFill/>
          <a:ln/>
        </p:spPr>
        <p:txBody>
          <a:bodyPr wrap="square" lIns="0" tIns="0" rIns="0" bIns="0" rtlCol="0" anchor="ctr"/>
          <a:lstStyle/>
          <a:p>
            <a:pPr algn="r" indent="0" marL="0">
              <a:buNone/>
            </a:pPr>
            <a:r>
              <a:rPr lang="en-US" sz="1100" dirty="0">
                <a:solidFill>
                  <a:srgbClr val="7D6A58"/>
                </a:solidFill>
                <a:latin typeface="Calibri" pitchFamily="34" charset="0"/>
                <a:ea typeface="Calibri" pitchFamily="34" charset="-122"/>
                <a:cs typeface="Calibri" pitchFamily="34" charset="-120"/>
              </a:rPr>
              <a:t>tanitxr.org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Users/inessaid/Documents/tanitxr.org/docs/assets/img/museum-hall-arches-1200.jpg">    </p:cNvPr>
          <p:cNvPicPr>
            <a:picLocks noChangeAspect="1"/>
          </p:cNvPicPr>
          <p:nvPr/>
        </p:nvPicPr>
        <p:blipFill>
          <a:blip r:embed="rId1"/>
          <a:srcRect l="0" r="0" t="0" b="0"/>
          <a:stretch/>
        </p:blipFill>
        <p:spPr>
          <a:xfrm>
            <a:off x="6858000" y="0"/>
            <a:ext cx="5330952" cy="6858000"/>
          </a:xfrm>
          <a:prstGeom prst="rect">
            <a:avLst/>
          </a:prstGeom>
        </p:spPr>
      </p:pic>
      <p:sp>
        <p:nvSpPr>
          <p:cNvPr id="3" name="Text 0"/>
          <p:cNvSpPr txBox="1"/>
          <p:nvPr/>
        </p:nvSpPr>
        <p:spPr>
          <a:xfrm>
            <a:off x="640080" y="822960"/>
            <a:ext cx="7315200" cy="274320"/>
          </a:xfrm>
          <a:prstGeom prst="rect">
            <a:avLst/>
          </a:prstGeom>
          <a:noFill/>
          <a:ln/>
        </p:spPr>
        <p:txBody>
          <a:bodyPr wrap="square" lIns="0" tIns="0" rIns="0" bIns="0" rtlCol="0" anchor="ctr"/>
          <a:lstStyle/>
          <a:p>
            <a:pPr indent="0" marL="0">
              <a:buNone/>
            </a:pPr>
            <a:r>
              <a:rPr lang="en-US" sz="1200" b="1" spc="400" kern="0" dirty="0">
                <a:solidFill>
                  <a:srgbClr val="A35F3F"/>
                </a:solidFill>
                <a:latin typeface="Calibri" pitchFamily="34" charset="0"/>
                <a:ea typeface="Calibri" pitchFamily="34" charset="-122"/>
                <a:cs typeface="Calibri" pitchFamily="34" charset="-120"/>
              </a:rPr>
              <a:t>MORE THAN AN ARCHIVE</a:t>
            </a:r>
            <a:endParaRPr lang="en-US" sz="1200" dirty="0"/>
          </a:p>
        </p:txBody>
      </p:sp>
      <p:sp>
        <p:nvSpPr>
          <p:cNvPr id="4" name="Text 1"/>
          <p:cNvSpPr txBox="1"/>
          <p:nvPr/>
        </p:nvSpPr>
        <p:spPr>
          <a:xfrm>
            <a:off x="640080" y="1188720"/>
            <a:ext cx="5760720" cy="1280160"/>
          </a:xfrm>
          <a:prstGeom prst="rect">
            <a:avLst/>
          </a:prstGeom>
          <a:noFill/>
          <a:ln/>
        </p:spPr>
        <p:txBody>
          <a:bodyPr wrap="square" lIns="0" tIns="0" rIns="0" bIns="0" rtlCol="0" anchor="ctr"/>
          <a:lstStyle/>
          <a:p>
            <a:pPr indent="0" marL="0">
              <a:buNone/>
            </a:pPr>
            <a:r>
              <a:rPr lang="en-US" sz="3200" b="1" dirty="0">
                <a:solidFill>
                  <a:srgbClr val="2E2118"/>
                </a:solidFill>
                <a:latin typeface="Cambria" pitchFamily="34" charset="0"/>
                <a:ea typeface="Cambria" pitchFamily="34" charset="-122"/>
                <a:cs typeface="Cambria" pitchFamily="34" charset="-120"/>
              </a:rPr>
              <a:t>A cultural exchange that builds a museum</a:t>
            </a:r>
            <a:endParaRPr lang="en-US" sz="3200" dirty="0"/>
          </a:p>
        </p:txBody>
      </p:sp>
      <p:sp>
        <p:nvSpPr>
          <p:cNvPr id="5" name="Text 2"/>
          <p:cNvSpPr txBox="1"/>
          <p:nvPr/>
        </p:nvSpPr>
        <p:spPr>
          <a:xfrm>
            <a:off x="640080" y="2606040"/>
            <a:ext cx="5760720" cy="3291840"/>
          </a:xfrm>
          <a:prstGeom prst="rect">
            <a:avLst/>
          </a:prstGeom>
          <a:noFill/>
          <a:ln/>
        </p:spPr>
        <p:txBody>
          <a:bodyPr wrap="square" lIns="0" tIns="0" rIns="0" bIns="0" rtlCol="0" anchor="t"/>
          <a:lstStyle/>
          <a:p>
            <a:pPr indent="0" marL="0">
              <a:buNone/>
            </a:pPr>
            <a:r>
              <a:rPr lang="en-US" sz="1400" dirty="0">
                <a:solidFill>
                  <a:srgbClr val="2E2118"/>
                </a:solidFill>
                <a:latin typeface="Calibri" pitchFamily="34" charset="0"/>
                <a:ea typeface="Calibri" pitchFamily="34" charset="-122"/>
                <a:cs typeface="Calibri" pitchFamily="34" charset="-120"/>
              </a:rPr>
              <a:t>Every Thursday, volunteers in Tunis, Florida, Europe and Lagos review new scans and learn the history behind them. People who have never been to Tunisia model lamps, pottery and courtyards for the virtual museum, and the Tunisian volunteers learn about their countries in return.</a:t>
            </a:r>
            <a:endParaRPr lang="en-US" sz="1400" dirty="0"/>
          </a:p>
          <a:p>
            <a:pPr indent="0" marL="0">
              <a:buNone/>
            </a:pPr>
            <a:endParaRPr lang="en-US" sz="1400" dirty="0"/>
          </a:p>
          <a:p>
            <a:pPr indent="0" marL="0">
              <a:buNone/>
            </a:pPr>
            <a:r>
              <a:rPr lang="en-US" sz="1400" dirty="0">
                <a:solidFill>
                  <a:srgbClr val="2E2118"/>
                </a:solidFill>
                <a:latin typeface="Calibri" pitchFamily="34" charset="0"/>
                <a:ea typeface="Calibri" pitchFamily="34" charset="-122"/>
                <a:cs typeface="Calibri" pitchFamily="34" charset="-120"/>
              </a:rPr>
              <a:t>Students get portfolio reviews, mock interviews and mentors. Every contribution is credited by name, on the site and on every object.</a:t>
            </a:r>
            <a:endParaRPr lang="en-US" sz="1400" dirty="0"/>
          </a:p>
          <a:p>
            <a:pPr indent="0" marL="0">
              <a:buNone/>
            </a:pPr>
            <a:endParaRPr lang="en-US" sz="1400" dirty="0"/>
          </a:p>
          <a:p>
            <a:pPr indent="0" marL="0">
              <a:buNone/>
            </a:pPr>
            <a:r>
              <a:rPr lang="en-US" sz="1400" dirty="0">
                <a:solidFill>
                  <a:srgbClr val="2E2118"/>
                </a:solidFill>
                <a:latin typeface="Calibri" pitchFamily="34" charset="0"/>
                <a:ea typeface="Calibri" pitchFamily="34" charset="-122"/>
                <a:cs typeface="Calibri" pitchFamily="34" charset="-120"/>
              </a:rPr>
              <a:t>Tunisia is the pilot. Nigeria is the first proof that the model travels.</a:t>
            </a:r>
            <a:endParaRPr lang="en-US" sz="1400" dirty="0"/>
          </a:p>
        </p:txBody>
      </p:sp>
      <p:sp>
        <p:nvSpPr>
          <p:cNvPr id="6" name="Text 3"/>
          <p:cNvSpPr txBox="1"/>
          <p:nvPr/>
        </p:nvSpPr>
        <p:spPr>
          <a:xfrm>
            <a:off x="7040880" y="6355080"/>
            <a:ext cx="4937760" cy="27432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The virtual museum, modelled by volunteers, in progress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8F0"/>
        </a:solidFill>
      </p:bgPr>
    </p:bg>
    <p:spTree>
      <p:nvGrpSpPr>
        <p:cNvPr id="1" name=""/>
        <p:cNvGrpSpPr/>
        <p:nvPr/>
      </p:nvGrpSpPr>
      <p:grpSpPr>
        <a:xfrm>
          <a:off x="0" y="0"/>
          <a:ext cx="0" cy="0"/>
          <a:chOff x="0" y="0"/>
          <a:chExt cx="0" cy="0"/>
        </a:xfrm>
      </p:grpSpPr>
      <p:sp>
        <p:nvSpPr>
          <p:cNvPr id="2" name="Text 0"/>
          <p:cNvSpPr txBox="1"/>
          <p:nvPr/>
        </p:nvSpPr>
        <p:spPr>
          <a:xfrm>
            <a:off x="640080" y="640080"/>
            <a:ext cx="7315200" cy="274320"/>
          </a:xfrm>
          <a:prstGeom prst="rect">
            <a:avLst/>
          </a:prstGeom>
          <a:noFill/>
          <a:ln/>
        </p:spPr>
        <p:txBody>
          <a:bodyPr wrap="square" lIns="0" tIns="0" rIns="0" bIns="0" rtlCol="0" anchor="ctr"/>
          <a:lstStyle/>
          <a:p>
            <a:pPr indent="0" marL="0">
              <a:buNone/>
            </a:pPr>
            <a:r>
              <a:rPr lang="en-US" sz="1200" b="1" spc="400" kern="0" dirty="0">
                <a:solidFill>
                  <a:srgbClr val="A35F3F"/>
                </a:solidFill>
                <a:latin typeface="Calibri" pitchFamily="34" charset="0"/>
                <a:ea typeface="Calibri" pitchFamily="34" charset="-122"/>
                <a:cs typeface="Calibri" pitchFamily="34" charset="-120"/>
              </a:rPr>
              <a:t>WHY PARTNER</a:t>
            </a:r>
            <a:endParaRPr lang="en-US" sz="1200" dirty="0"/>
          </a:p>
        </p:txBody>
      </p:sp>
      <p:sp>
        <p:nvSpPr>
          <p:cNvPr id="3" name="Text 1"/>
          <p:cNvSpPr txBox="1"/>
          <p:nvPr/>
        </p:nvSpPr>
        <p:spPr>
          <a:xfrm>
            <a:off x="640080" y="960120"/>
            <a:ext cx="10972800" cy="822960"/>
          </a:xfrm>
          <a:prstGeom prst="rect">
            <a:avLst/>
          </a:prstGeom>
          <a:noFill/>
          <a:ln/>
        </p:spPr>
        <p:txBody>
          <a:bodyPr wrap="square" lIns="0" tIns="0" rIns="0" bIns="0" rtlCol="0" anchor="ctr"/>
          <a:lstStyle/>
          <a:p>
            <a:pPr indent="0" marL="0">
              <a:buNone/>
            </a:pPr>
            <a:r>
              <a:rPr lang="en-US" sz="3200" b="1" dirty="0">
                <a:solidFill>
                  <a:srgbClr val="2E2118"/>
                </a:solidFill>
                <a:latin typeface="Cambria" pitchFamily="34" charset="0"/>
                <a:ea typeface="Cambria" pitchFamily="34" charset="-122"/>
                <a:cs typeface="Cambria" pitchFamily="34" charset="-120"/>
              </a:rPr>
              <a:t>What this does for your company</a:t>
            </a:r>
            <a:endParaRPr lang="en-US" sz="3200" dirty="0"/>
          </a:p>
        </p:txBody>
      </p:sp>
      <p:sp>
        <p:nvSpPr>
          <p:cNvPr id="4" name="Shape 2"/>
          <p:cNvSpPr/>
          <p:nvPr/>
        </p:nvSpPr>
        <p:spPr>
          <a:xfrm>
            <a:off x="640080" y="2057400"/>
            <a:ext cx="5303520" cy="1874520"/>
          </a:xfrm>
          <a:prstGeom prst="roundRect">
            <a:avLst>
              <a:gd name="adj" fmla="val 5854"/>
            </a:avLst>
          </a:prstGeom>
          <a:solidFill>
            <a:srgbClr val="FFFFFF"/>
          </a:solidFill>
          <a:ln w="12700">
            <a:solidFill>
              <a:srgbClr val="E4D8C4"/>
            </a:solidFill>
            <a:prstDash val="solid"/>
          </a:ln>
        </p:spPr>
      </p:sp>
      <p:sp>
        <p:nvSpPr>
          <p:cNvPr id="5" name="Shape 3"/>
          <p:cNvSpPr/>
          <p:nvPr/>
        </p:nvSpPr>
        <p:spPr>
          <a:xfrm>
            <a:off x="868680" y="2331720"/>
            <a:ext cx="640080" cy="640080"/>
          </a:xfrm>
          <a:prstGeom prst="ellipse">
            <a:avLst/>
          </a:prstGeom>
          <a:solidFill>
            <a:srgbClr val="E8DCC6"/>
          </a:solidFill>
          <a:ln w="12700">
            <a:solidFill>
              <a:srgbClr val="E8DCC6"/>
            </a:solidFill>
            <a:prstDash val="solid"/>
          </a:ln>
        </p:spPr>
      </p:sp>
      <p:pic>
        <p:nvPicPr>
          <p:cNvPr id="6" name="Image 0" descr="preencoded.png">    </p:cNvPr>
          <p:cNvPicPr>
            <a:picLocks noChangeAspect="1"/>
          </p:cNvPicPr>
          <p:nvPr/>
        </p:nvPicPr>
        <p:blipFill>
          <a:blip r:embed="rId1"/>
          <a:stretch>
            <a:fillRect/>
          </a:stretch>
        </p:blipFill>
        <p:spPr>
          <a:xfrm>
            <a:off x="1028700" y="2491740"/>
            <a:ext cx="320040" cy="320040"/>
          </a:xfrm>
          <a:prstGeom prst="rect">
            <a:avLst/>
          </a:prstGeom>
        </p:spPr>
      </p:pic>
      <p:sp>
        <p:nvSpPr>
          <p:cNvPr id="7" name="Text 4"/>
          <p:cNvSpPr txBox="1"/>
          <p:nvPr/>
        </p:nvSpPr>
        <p:spPr>
          <a:xfrm>
            <a:off x="1691640" y="2331720"/>
            <a:ext cx="4069080" cy="457200"/>
          </a:xfrm>
          <a:prstGeom prst="rect">
            <a:avLst/>
          </a:prstGeom>
          <a:noFill/>
          <a:ln/>
        </p:spPr>
        <p:txBody>
          <a:bodyPr wrap="square" lIns="0" tIns="0" rIns="0" bIns="0" rtlCol="0" anchor="ctr"/>
          <a:lstStyle/>
          <a:p>
            <a:pPr indent="0" marL="0">
              <a:buNone/>
            </a:pPr>
            <a:r>
              <a:rPr lang="en-US" sz="1600" b="1" dirty="0">
                <a:solidFill>
                  <a:srgbClr val="4A3527"/>
                </a:solidFill>
                <a:latin typeface="Cambria" pitchFamily="34" charset="0"/>
                <a:ea typeface="Cambria" pitchFamily="34" charset="-122"/>
                <a:cs typeface="Cambria" pitchFamily="34" charset="-120"/>
              </a:rPr>
              <a:t>Employees who learn something real</a:t>
            </a:r>
            <a:endParaRPr lang="en-US" sz="1600" dirty="0"/>
          </a:p>
        </p:txBody>
      </p:sp>
      <p:sp>
        <p:nvSpPr>
          <p:cNvPr id="8" name="Text 5"/>
          <p:cNvSpPr txBox="1"/>
          <p:nvPr/>
        </p:nvSpPr>
        <p:spPr>
          <a:xfrm>
            <a:off x="1691640" y="2834640"/>
            <a:ext cx="4069080" cy="1005840"/>
          </a:xfrm>
          <a:prstGeom prst="rect">
            <a:avLst/>
          </a:prstGeom>
          <a:noFill/>
          <a:ln/>
        </p:spPr>
        <p:txBody>
          <a:bodyPr wrap="square" lIns="0" tIns="0" rIns="0" bIns="0" rtlCol="0" anchor="t"/>
          <a:lstStyle/>
          <a:p>
            <a:pPr indent="0" marL="0">
              <a:buNone/>
            </a:pPr>
            <a:r>
              <a:rPr lang="en-US" sz="1250" dirty="0">
                <a:solidFill>
                  <a:srgbClr val="2E2118"/>
                </a:solidFill>
                <a:latin typeface="Calibri" pitchFamily="34" charset="0"/>
                <a:ea typeface="Calibri" pitchFamily="34" charset="-122"/>
                <a:cs typeface="Calibri" pitchFamily="34" charset="-120"/>
              </a:rPr>
              <a:t>Skills-based volunteering: your team learns 3D capture on a phone and publishes actual heritage under their names. People talk about it afterwards.</a:t>
            </a:r>
            <a:endParaRPr lang="en-US" sz="1250" dirty="0"/>
          </a:p>
        </p:txBody>
      </p:sp>
      <p:sp>
        <p:nvSpPr>
          <p:cNvPr id="9" name="Shape 6"/>
          <p:cNvSpPr/>
          <p:nvPr/>
        </p:nvSpPr>
        <p:spPr>
          <a:xfrm>
            <a:off x="6263640" y="2057400"/>
            <a:ext cx="5303520" cy="1874520"/>
          </a:xfrm>
          <a:prstGeom prst="roundRect">
            <a:avLst>
              <a:gd name="adj" fmla="val 5854"/>
            </a:avLst>
          </a:prstGeom>
          <a:solidFill>
            <a:srgbClr val="FFFFFF"/>
          </a:solidFill>
          <a:ln w="12700">
            <a:solidFill>
              <a:srgbClr val="E4D8C4"/>
            </a:solidFill>
            <a:prstDash val="solid"/>
          </a:ln>
        </p:spPr>
      </p:sp>
      <p:sp>
        <p:nvSpPr>
          <p:cNvPr id="10" name="Shape 7"/>
          <p:cNvSpPr/>
          <p:nvPr/>
        </p:nvSpPr>
        <p:spPr>
          <a:xfrm>
            <a:off x="6492240" y="2331720"/>
            <a:ext cx="640080" cy="640080"/>
          </a:xfrm>
          <a:prstGeom prst="ellipse">
            <a:avLst/>
          </a:prstGeom>
          <a:solidFill>
            <a:srgbClr val="E8DCC6"/>
          </a:solidFill>
          <a:ln w="12700">
            <a:solidFill>
              <a:srgbClr val="E8DCC6"/>
            </a:solidFill>
            <a:prstDash val="solid"/>
          </a:ln>
        </p:spPr>
      </p:sp>
      <p:pic>
        <p:nvPicPr>
          <p:cNvPr id="11" name="Image 1" descr="preencoded.png">    </p:cNvPr>
          <p:cNvPicPr>
            <a:picLocks noChangeAspect="1"/>
          </p:cNvPicPr>
          <p:nvPr/>
        </p:nvPicPr>
        <p:blipFill>
          <a:blip r:embed="rId2"/>
          <a:stretch>
            <a:fillRect/>
          </a:stretch>
        </p:blipFill>
        <p:spPr>
          <a:xfrm>
            <a:off x="6652260" y="2491740"/>
            <a:ext cx="320040" cy="320040"/>
          </a:xfrm>
          <a:prstGeom prst="rect">
            <a:avLst/>
          </a:prstGeom>
        </p:spPr>
      </p:pic>
      <p:sp>
        <p:nvSpPr>
          <p:cNvPr id="12" name="Text 8"/>
          <p:cNvSpPr txBox="1"/>
          <p:nvPr/>
        </p:nvSpPr>
        <p:spPr>
          <a:xfrm>
            <a:off x="7315200" y="2331720"/>
            <a:ext cx="4069080" cy="457200"/>
          </a:xfrm>
          <a:prstGeom prst="rect">
            <a:avLst/>
          </a:prstGeom>
          <a:noFill/>
          <a:ln/>
        </p:spPr>
        <p:txBody>
          <a:bodyPr wrap="square" lIns="0" tIns="0" rIns="0" bIns="0" rtlCol="0" anchor="ctr"/>
          <a:lstStyle/>
          <a:p>
            <a:pPr indent="0" marL="0">
              <a:buNone/>
            </a:pPr>
            <a:r>
              <a:rPr lang="en-US" sz="1600" b="1" dirty="0">
                <a:solidFill>
                  <a:srgbClr val="4A3527"/>
                </a:solidFill>
                <a:latin typeface="Cambria" pitchFamily="34" charset="0"/>
                <a:ea typeface="Cambria" pitchFamily="34" charset="-122"/>
                <a:cs typeface="Cambria" pitchFamily="34" charset="-120"/>
              </a:rPr>
              <a:t>A story your communications team can use</a:t>
            </a:r>
            <a:endParaRPr lang="en-US" sz="1600" dirty="0"/>
          </a:p>
        </p:txBody>
      </p:sp>
      <p:sp>
        <p:nvSpPr>
          <p:cNvPr id="13" name="Text 9"/>
          <p:cNvSpPr txBox="1"/>
          <p:nvPr/>
        </p:nvSpPr>
        <p:spPr>
          <a:xfrm>
            <a:off x="7315200" y="2834640"/>
            <a:ext cx="4069080" cy="1005840"/>
          </a:xfrm>
          <a:prstGeom prst="rect">
            <a:avLst/>
          </a:prstGeom>
          <a:noFill/>
          <a:ln/>
        </p:spPr>
        <p:txBody>
          <a:bodyPr wrap="square" lIns="0" tIns="0" rIns="0" bIns="0" rtlCol="0" anchor="t"/>
          <a:lstStyle/>
          <a:p>
            <a:pPr indent="0" marL="0">
              <a:buNone/>
            </a:pPr>
            <a:r>
              <a:rPr lang="en-US" sz="1250" dirty="0">
                <a:solidFill>
                  <a:srgbClr val="2E2118"/>
                </a:solidFill>
                <a:latin typeface="Calibri" pitchFamily="34" charset="0"/>
                <a:ea typeface="Calibri" pitchFamily="34" charset="-122"/>
                <a:cs typeface="Calibri" pitchFamily="34" charset="-120"/>
              </a:rPr>
              <a:t>A storm, a rescue, a volunteer, a stone: pictures and stories we take ourselves, with your part in them told plainly.</a:t>
            </a:r>
            <a:endParaRPr lang="en-US" sz="1250" dirty="0"/>
          </a:p>
        </p:txBody>
      </p:sp>
      <p:sp>
        <p:nvSpPr>
          <p:cNvPr id="14" name="Shape 10"/>
          <p:cNvSpPr/>
          <p:nvPr/>
        </p:nvSpPr>
        <p:spPr>
          <a:xfrm>
            <a:off x="640080" y="4160520"/>
            <a:ext cx="5303520" cy="1874520"/>
          </a:xfrm>
          <a:prstGeom prst="roundRect">
            <a:avLst>
              <a:gd name="adj" fmla="val 5854"/>
            </a:avLst>
          </a:prstGeom>
          <a:solidFill>
            <a:srgbClr val="FFFFFF"/>
          </a:solidFill>
          <a:ln w="12700">
            <a:solidFill>
              <a:srgbClr val="E4D8C4"/>
            </a:solidFill>
            <a:prstDash val="solid"/>
          </a:ln>
        </p:spPr>
      </p:sp>
      <p:sp>
        <p:nvSpPr>
          <p:cNvPr id="15" name="Shape 11"/>
          <p:cNvSpPr/>
          <p:nvPr/>
        </p:nvSpPr>
        <p:spPr>
          <a:xfrm>
            <a:off x="868680" y="4434840"/>
            <a:ext cx="640080" cy="640080"/>
          </a:xfrm>
          <a:prstGeom prst="ellipse">
            <a:avLst/>
          </a:prstGeom>
          <a:solidFill>
            <a:srgbClr val="E8DCC6"/>
          </a:solidFill>
          <a:ln w="12700">
            <a:solidFill>
              <a:srgbClr val="E8DCC6"/>
            </a:solidFill>
            <a:prstDash val="solid"/>
          </a:ln>
        </p:spPr>
      </p:sp>
      <p:pic>
        <p:nvPicPr>
          <p:cNvPr id="16" name="Image 2" descr="preencoded.png">    </p:cNvPr>
          <p:cNvPicPr>
            <a:picLocks noChangeAspect="1"/>
          </p:cNvPicPr>
          <p:nvPr/>
        </p:nvPicPr>
        <p:blipFill>
          <a:blip r:embed="rId3"/>
          <a:stretch>
            <a:fillRect/>
          </a:stretch>
        </p:blipFill>
        <p:spPr>
          <a:xfrm>
            <a:off x="1028700" y="4594860"/>
            <a:ext cx="320040" cy="320040"/>
          </a:xfrm>
          <a:prstGeom prst="rect">
            <a:avLst/>
          </a:prstGeom>
        </p:spPr>
      </p:pic>
      <p:sp>
        <p:nvSpPr>
          <p:cNvPr id="17" name="Text 12"/>
          <p:cNvSpPr txBox="1"/>
          <p:nvPr/>
        </p:nvSpPr>
        <p:spPr>
          <a:xfrm>
            <a:off x="1691640" y="4434840"/>
            <a:ext cx="4069080" cy="457200"/>
          </a:xfrm>
          <a:prstGeom prst="rect">
            <a:avLst/>
          </a:prstGeom>
          <a:noFill/>
          <a:ln/>
        </p:spPr>
        <p:txBody>
          <a:bodyPr wrap="square" lIns="0" tIns="0" rIns="0" bIns="0" rtlCol="0" anchor="ctr"/>
          <a:lstStyle/>
          <a:p>
            <a:pPr indent="0" marL="0">
              <a:buNone/>
            </a:pPr>
            <a:r>
              <a:rPr lang="en-US" sz="1600" b="1" dirty="0">
                <a:solidFill>
                  <a:srgbClr val="4A3527"/>
                </a:solidFill>
                <a:latin typeface="Cambria" pitchFamily="34" charset="0"/>
                <a:ea typeface="Cambria" pitchFamily="34" charset="-122"/>
                <a:cs typeface="Cambria" pitchFamily="34" charset="-120"/>
              </a:rPr>
              <a:t>Presence in Tunisia and North Africa</a:t>
            </a:r>
            <a:endParaRPr lang="en-US" sz="1600" dirty="0"/>
          </a:p>
        </p:txBody>
      </p:sp>
      <p:sp>
        <p:nvSpPr>
          <p:cNvPr id="18" name="Text 13"/>
          <p:cNvSpPr txBox="1"/>
          <p:nvPr/>
        </p:nvSpPr>
        <p:spPr>
          <a:xfrm>
            <a:off x="1691640" y="4937760"/>
            <a:ext cx="4069080" cy="1005840"/>
          </a:xfrm>
          <a:prstGeom prst="rect">
            <a:avLst/>
          </a:prstGeom>
          <a:noFill/>
          <a:ln/>
        </p:spPr>
        <p:txBody>
          <a:bodyPr wrap="square" lIns="0" tIns="0" rIns="0" bIns="0" rtlCol="0" anchor="t"/>
          <a:lstStyle/>
          <a:p>
            <a:pPr indent="0" marL="0">
              <a:buNone/>
            </a:pPr>
            <a:r>
              <a:rPr lang="en-US" sz="1250" dirty="0">
                <a:solidFill>
                  <a:srgbClr val="2E2118"/>
                </a:solidFill>
                <a:latin typeface="Calibri" pitchFamily="34" charset="0"/>
                <a:ea typeface="Calibri" pitchFamily="34" charset="-122"/>
                <a:cs typeface="Calibri" pitchFamily="34" charset="-120"/>
              </a:rPr>
              <a:t>A visible, respected role in a country's heritage, alongside a Tunisian-led team, at a fraction of a campaign's cost.</a:t>
            </a:r>
            <a:endParaRPr lang="en-US" sz="1250" dirty="0"/>
          </a:p>
        </p:txBody>
      </p:sp>
      <p:sp>
        <p:nvSpPr>
          <p:cNvPr id="19" name="Shape 14"/>
          <p:cNvSpPr/>
          <p:nvPr/>
        </p:nvSpPr>
        <p:spPr>
          <a:xfrm>
            <a:off x="6263640" y="4160520"/>
            <a:ext cx="5303520" cy="1874520"/>
          </a:xfrm>
          <a:prstGeom prst="roundRect">
            <a:avLst>
              <a:gd name="adj" fmla="val 5854"/>
            </a:avLst>
          </a:prstGeom>
          <a:solidFill>
            <a:srgbClr val="FFFFFF"/>
          </a:solidFill>
          <a:ln w="12700">
            <a:solidFill>
              <a:srgbClr val="E4D8C4"/>
            </a:solidFill>
            <a:prstDash val="solid"/>
          </a:ln>
        </p:spPr>
      </p:sp>
      <p:sp>
        <p:nvSpPr>
          <p:cNvPr id="20" name="Shape 15"/>
          <p:cNvSpPr/>
          <p:nvPr/>
        </p:nvSpPr>
        <p:spPr>
          <a:xfrm>
            <a:off x="6492240" y="4434840"/>
            <a:ext cx="640080" cy="640080"/>
          </a:xfrm>
          <a:prstGeom prst="ellipse">
            <a:avLst/>
          </a:prstGeom>
          <a:solidFill>
            <a:srgbClr val="E8DCC6"/>
          </a:solidFill>
          <a:ln w="12700">
            <a:solidFill>
              <a:srgbClr val="E8DCC6"/>
            </a:solidFill>
            <a:prstDash val="solid"/>
          </a:ln>
        </p:spPr>
      </p:sp>
      <p:pic>
        <p:nvPicPr>
          <p:cNvPr id="21" name="Image 3" descr="preencoded.png">    </p:cNvPr>
          <p:cNvPicPr>
            <a:picLocks noChangeAspect="1"/>
          </p:cNvPicPr>
          <p:nvPr/>
        </p:nvPicPr>
        <p:blipFill>
          <a:blip r:embed="rId4"/>
          <a:stretch>
            <a:fillRect/>
          </a:stretch>
        </p:blipFill>
        <p:spPr>
          <a:xfrm>
            <a:off x="6652260" y="4594860"/>
            <a:ext cx="320040" cy="320040"/>
          </a:xfrm>
          <a:prstGeom prst="rect">
            <a:avLst/>
          </a:prstGeom>
        </p:spPr>
      </p:pic>
      <p:sp>
        <p:nvSpPr>
          <p:cNvPr id="22" name="Text 16"/>
          <p:cNvSpPr txBox="1"/>
          <p:nvPr/>
        </p:nvSpPr>
        <p:spPr>
          <a:xfrm>
            <a:off x="7315200" y="4434840"/>
            <a:ext cx="4069080" cy="457200"/>
          </a:xfrm>
          <a:prstGeom prst="rect">
            <a:avLst/>
          </a:prstGeom>
          <a:noFill/>
          <a:ln/>
        </p:spPr>
        <p:txBody>
          <a:bodyPr wrap="square" lIns="0" tIns="0" rIns="0" bIns="0" rtlCol="0" anchor="ctr"/>
          <a:lstStyle/>
          <a:p>
            <a:pPr indent="0" marL="0">
              <a:buNone/>
            </a:pPr>
            <a:r>
              <a:rPr lang="en-US" sz="1600" b="1" dirty="0">
                <a:solidFill>
                  <a:srgbClr val="4A3527"/>
                </a:solidFill>
                <a:latin typeface="Cambria" pitchFamily="34" charset="0"/>
                <a:ea typeface="Cambria" pitchFamily="34" charset="-122"/>
                <a:cs typeface="Cambria" pitchFamily="34" charset="-120"/>
              </a:rPr>
              <a:t>Innovation your audience can touch</a:t>
            </a:r>
            <a:endParaRPr lang="en-US" sz="1600" dirty="0"/>
          </a:p>
        </p:txBody>
      </p:sp>
      <p:sp>
        <p:nvSpPr>
          <p:cNvPr id="23" name="Text 17"/>
          <p:cNvSpPr txBox="1"/>
          <p:nvPr/>
        </p:nvSpPr>
        <p:spPr>
          <a:xfrm>
            <a:off x="7315200" y="4937760"/>
            <a:ext cx="4069080" cy="1005840"/>
          </a:xfrm>
          <a:prstGeom prst="rect">
            <a:avLst/>
          </a:prstGeom>
          <a:noFill/>
          <a:ln/>
        </p:spPr>
        <p:txBody>
          <a:bodyPr wrap="square" lIns="0" tIns="0" rIns="0" bIns="0" rtlCol="0" anchor="t"/>
          <a:lstStyle/>
          <a:p>
            <a:pPr indent="0" marL="0">
              <a:buNone/>
            </a:pPr>
            <a:r>
              <a:rPr lang="en-US" sz="1250" dirty="0">
                <a:solidFill>
                  <a:srgbClr val="2E2118"/>
                </a:solidFill>
                <a:latin typeface="Calibri" pitchFamily="34" charset="0"/>
                <a:ea typeface="Calibri" pitchFamily="34" charset="-122"/>
                <a:cs typeface="Calibri" pitchFamily="34" charset="-120"/>
              </a:rPr>
              <a:t>Phones, 3D, AR and headsets in the service of memory. A live demo at your event that nobody expects at a tech gathering.</a:t>
            </a:r>
            <a:endParaRPr lang="en-US" sz="1250" dirty="0"/>
          </a:p>
        </p:txBody>
      </p:sp>
      <p:sp>
        <p:nvSpPr>
          <p:cNvPr id="24" name="Text 18"/>
          <p:cNvSpPr txBox="1"/>
          <p:nvPr/>
        </p:nvSpPr>
        <p:spPr>
          <a:xfrm>
            <a:off x="9811512" y="6355080"/>
            <a:ext cx="1920240" cy="274320"/>
          </a:xfrm>
          <a:prstGeom prst="rect">
            <a:avLst/>
          </a:prstGeom>
          <a:noFill/>
          <a:ln/>
        </p:spPr>
        <p:txBody>
          <a:bodyPr wrap="square" lIns="0" tIns="0" rIns="0" bIns="0" rtlCol="0" anchor="ctr"/>
          <a:lstStyle/>
          <a:p>
            <a:pPr algn="r" indent="0" marL="0">
              <a:buNone/>
            </a:pPr>
            <a:r>
              <a:rPr lang="en-US" sz="1100" dirty="0">
                <a:solidFill>
                  <a:srgbClr val="7D6A58"/>
                </a:solidFill>
                <a:latin typeface="Calibri" pitchFamily="34" charset="0"/>
                <a:ea typeface="Calibri" pitchFamily="34" charset="-122"/>
                <a:cs typeface="Calibri" pitchFamily="34" charset="-120"/>
              </a:rPr>
              <a:t>tanitxr.org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40080"/>
            <a:ext cx="7315200" cy="274320"/>
          </a:xfrm>
          <a:prstGeom prst="rect">
            <a:avLst/>
          </a:prstGeom>
          <a:noFill/>
          <a:ln/>
        </p:spPr>
        <p:txBody>
          <a:bodyPr wrap="square" lIns="0" tIns="0" rIns="0" bIns="0" rtlCol="0" anchor="ctr"/>
          <a:lstStyle/>
          <a:p>
            <a:pPr indent="0" marL="0">
              <a:buNone/>
            </a:pPr>
            <a:r>
              <a:rPr lang="en-US" sz="1200" b="1" spc="400" kern="0" dirty="0">
                <a:solidFill>
                  <a:srgbClr val="A35F3F"/>
                </a:solidFill>
                <a:latin typeface="Calibri" pitchFamily="34" charset="0"/>
                <a:ea typeface="Calibri" pitchFamily="34" charset="-122"/>
                <a:cs typeface="Calibri" pitchFamily="34" charset="-120"/>
              </a:rPr>
              <a:t>WAYS TO PARTNER</a:t>
            </a:r>
            <a:endParaRPr lang="en-US" sz="1200" dirty="0"/>
          </a:p>
        </p:txBody>
      </p:sp>
      <p:sp>
        <p:nvSpPr>
          <p:cNvPr id="3" name="Text 1"/>
          <p:cNvSpPr txBox="1"/>
          <p:nvPr/>
        </p:nvSpPr>
        <p:spPr>
          <a:xfrm>
            <a:off x="640080" y="960120"/>
            <a:ext cx="10972800" cy="822960"/>
          </a:xfrm>
          <a:prstGeom prst="rect">
            <a:avLst/>
          </a:prstGeom>
          <a:noFill/>
          <a:ln/>
        </p:spPr>
        <p:txBody>
          <a:bodyPr wrap="square" lIns="0" tIns="0" rIns="0" bIns="0" rtlCol="0" anchor="ctr"/>
          <a:lstStyle/>
          <a:p>
            <a:pPr indent="0" marL="0">
              <a:buNone/>
            </a:pPr>
            <a:r>
              <a:rPr lang="en-US" sz="3200" b="1" dirty="0">
                <a:solidFill>
                  <a:srgbClr val="2E2118"/>
                </a:solidFill>
                <a:latin typeface="Cambria" pitchFamily="34" charset="0"/>
                <a:ea typeface="Cambria" pitchFamily="34" charset="-122"/>
                <a:cs typeface="Cambria" pitchFamily="34" charset="-120"/>
              </a:rPr>
              <a:t>Pick one, or shape one with us</a:t>
            </a:r>
            <a:endParaRPr lang="en-US" sz="3200" dirty="0"/>
          </a:p>
        </p:txBody>
      </p:sp>
      <p:sp>
        <p:nvSpPr>
          <p:cNvPr id="4" name="Shape 2"/>
          <p:cNvSpPr/>
          <p:nvPr/>
        </p:nvSpPr>
        <p:spPr>
          <a:xfrm>
            <a:off x="640080" y="1965960"/>
            <a:ext cx="3291840" cy="1965960"/>
          </a:xfrm>
          <a:prstGeom prst="roundRect">
            <a:avLst>
              <a:gd name="adj" fmla="val 5581"/>
            </a:avLst>
          </a:prstGeom>
          <a:solidFill>
            <a:srgbClr val="FDF8F0"/>
          </a:solidFill>
          <a:ln w="12700">
            <a:solidFill>
              <a:srgbClr val="E9DFCC"/>
            </a:solidFill>
            <a:prstDash val="solid"/>
          </a:ln>
        </p:spPr>
      </p:sp>
      <p:sp>
        <p:nvSpPr>
          <p:cNvPr id="5" name="Shape 3"/>
          <p:cNvSpPr/>
          <p:nvPr/>
        </p:nvSpPr>
        <p:spPr>
          <a:xfrm>
            <a:off x="868680" y="2194560"/>
            <a:ext cx="548640" cy="5486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005840" y="2331720"/>
            <a:ext cx="274320" cy="274320"/>
          </a:xfrm>
          <a:prstGeom prst="rect">
            <a:avLst/>
          </a:prstGeom>
        </p:spPr>
      </p:pic>
      <p:sp>
        <p:nvSpPr>
          <p:cNvPr id="7" name="Text 4"/>
          <p:cNvSpPr txBox="1"/>
          <p:nvPr/>
        </p:nvSpPr>
        <p:spPr>
          <a:xfrm>
            <a:off x="1554480" y="2240280"/>
            <a:ext cx="2240280" cy="457200"/>
          </a:xfrm>
          <a:prstGeom prst="rect">
            <a:avLst/>
          </a:prstGeom>
          <a:noFill/>
          <a:ln/>
        </p:spPr>
        <p:txBody>
          <a:bodyPr wrap="square" lIns="0" tIns="0" rIns="0" bIns="0" rtlCol="0" anchor="ctr"/>
          <a:lstStyle/>
          <a:p>
            <a:pPr indent="0" marL="0">
              <a:buNone/>
            </a:pPr>
            <a:r>
              <a:rPr lang="en-US" sz="1450" b="1" dirty="0">
                <a:solidFill>
                  <a:srgbClr val="4A3527"/>
                </a:solidFill>
                <a:latin typeface="Cambria" pitchFamily="34" charset="0"/>
                <a:ea typeface="Cambria" pitchFamily="34" charset="-122"/>
                <a:cs typeface="Cambria" pitchFamily="34" charset="-120"/>
              </a:rPr>
              <a:t>Your team learns to scan</a:t>
            </a:r>
            <a:endParaRPr lang="en-US" sz="1450" dirty="0"/>
          </a:p>
        </p:txBody>
      </p:sp>
      <p:sp>
        <p:nvSpPr>
          <p:cNvPr id="8" name="Text 5"/>
          <p:cNvSpPr txBox="1"/>
          <p:nvPr/>
        </p:nvSpPr>
        <p:spPr>
          <a:xfrm>
            <a:off x="868680" y="2834640"/>
            <a:ext cx="2834640" cy="1005840"/>
          </a:xfrm>
          <a:prstGeom prst="rect">
            <a:avLst/>
          </a:prstGeom>
          <a:noFill/>
          <a:ln/>
        </p:spPr>
        <p:txBody>
          <a:bodyPr wrap="square" lIns="0" tIns="0" rIns="0" bIns="0" rtlCol="0" anchor="t"/>
          <a:lstStyle/>
          <a:p>
            <a:pPr indent="0" marL="0">
              <a:buNone/>
            </a:pPr>
            <a:r>
              <a:rPr lang="en-US" sz="1150" dirty="0">
                <a:solidFill>
                  <a:srgbClr val="2E2118"/>
                </a:solidFill>
                <a:latin typeface="Calibri" pitchFamily="34" charset="0"/>
                <a:ea typeface="Calibri" pitchFamily="34" charset="-122"/>
                <a:cs typeface="Calibri" pitchFamily="34" charset="-120"/>
              </a:rPr>
              <a:t>A half day or a six-week course, online or on site. Your employees publish a real piece of heritage under their names.</a:t>
            </a:r>
            <a:endParaRPr lang="en-US" sz="1150" dirty="0"/>
          </a:p>
        </p:txBody>
      </p:sp>
      <p:sp>
        <p:nvSpPr>
          <p:cNvPr id="9" name="Shape 6"/>
          <p:cNvSpPr/>
          <p:nvPr/>
        </p:nvSpPr>
        <p:spPr>
          <a:xfrm>
            <a:off x="4453128" y="1965960"/>
            <a:ext cx="3291840" cy="1965960"/>
          </a:xfrm>
          <a:prstGeom prst="roundRect">
            <a:avLst>
              <a:gd name="adj" fmla="val 5581"/>
            </a:avLst>
          </a:prstGeom>
          <a:solidFill>
            <a:srgbClr val="FDF8F0"/>
          </a:solidFill>
          <a:ln w="12700">
            <a:solidFill>
              <a:srgbClr val="E9DFCC"/>
            </a:solidFill>
            <a:prstDash val="solid"/>
          </a:ln>
        </p:spPr>
      </p:sp>
      <p:sp>
        <p:nvSpPr>
          <p:cNvPr id="10" name="Shape 7"/>
          <p:cNvSpPr/>
          <p:nvPr/>
        </p:nvSpPr>
        <p:spPr>
          <a:xfrm>
            <a:off x="4681728" y="2194560"/>
            <a:ext cx="548640" cy="54864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818888" y="2331720"/>
            <a:ext cx="274320" cy="274320"/>
          </a:xfrm>
          <a:prstGeom prst="rect">
            <a:avLst/>
          </a:prstGeom>
        </p:spPr>
      </p:pic>
      <p:sp>
        <p:nvSpPr>
          <p:cNvPr id="12" name="Text 8"/>
          <p:cNvSpPr txBox="1"/>
          <p:nvPr/>
        </p:nvSpPr>
        <p:spPr>
          <a:xfrm>
            <a:off x="5367528" y="2240280"/>
            <a:ext cx="2240280" cy="457200"/>
          </a:xfrm>
          <a:prstGeom prst="rect">
            <a:avLst/>
          </a:prstGeom>
          <a:noFill/>
          <a:ln/>
        </p:spPr>
        <p:txBody>
          <a:bodyPr wrap="square" lIns="0" tIns="0" rIns="0" bIns="0" rtlCol="0" anchor="ctr"/>
          <a:lstStyle/>
          <a:p>
            <a:pPr indent="0" marL="0">
              <a:buNone/>
            </a:pPr>
            <a:r>
              <a:rPr lang="en-US" sz="1450" b="1" dirty="0">
                <a:solidFill>
                  <a:srgbClr val="4A3527"/>
                </a:solidFill>
                <a:latin typeface="Cambria" pitchFamily="34" charset="0"/>
                <a:ea typeface="Cambria" pitchFamily="34" charset="-122"/>
                <a:cs typeface="Cambria" pitchFamily="34" charset="-120"/>
              </a:rPr>
              <a:t>Adopt a site or a gallery</a:t>
            </a:r>
            <a:endParaRPr lang="en-US" sz="1450" dirty="0"/>
          </a:p>
        </p:txBody>
      </p:sp>
      <p:sp>
        <p:nvSpPr>
          <p:cNvPr id="13" name="Text 9"/>
          <p:cNvSpPr txBox="1"/>
          <p:nvPr/>
        </p:nvSpPr>
        <p:spPr>
          <a:xfrm>
            <a:off x="4681728" y="2834640"/>
            <a:ext cx="2834640" cy="1005840"/>
          </a:xfrm>
          <a:prstGeom prst="rect">
            <a:avLst/>
          </a:prstGeom>
          <a:noFill/>
          <a:ln/>
        </p:spPr>
        <p:txBody>
          <a:bodyPr wrap="square" lIns="0" tIns="0" rIns="0" bIns="0" rtlCol="0" anchor="t"/>
          <a:lstStyle/>
          <a:p>
            <a:pPr indent="0" marL="0">
              <a:buNone/>
            </a:pPr>
            <a:r>
              <a:rPr lang="en-US" sz="1150" dirty="0">
                <a:solidFill>
                  <a:srgbClr val="2E2118"/>
                </a:solidFill>
                <a:latin typeface="Calibri" pitchFamily="34" charset="0"/>
                <a:ea typeface="Calibri" pitchFamily="34" charset="-122"/>
                <a:cs typeface="Calibri" pitchFamily="34" charset="-120"/>
              </a:rPr>
              <a:t>Fund the scanning of one site, or one gallery in the virtual museum, and it carries your name in 3D and in the headset.</a:t>
            </a:r>
            <a:endParaRPr lang="en-US" sz="1150" dirty="0"/>
          </a:p>
        </p:txBody>
      </p:sp>
      <p:sp>
        <p:nvSpPr>
          <p:cNvPr id="14" name="Shape 10"/>
          <p:cNvSpPr/>
          <p:nvPr/>
        </p:nvSpPr>
        <p:spPr>
          <a:xfrm>
            <a:off x="8266176" y="1965960"/>
            <a:ext cx="3291840" cy="1965960"/>
          </a:xfrm>
          <a:prstGeom prst="roundRect">
            <a:avLst>
              <a:gd name="adj" fmla="val 5581"/>
            </a:avLst>
          </a:prstGeom>
          <a:solidFill>
            <a:srgbClr val="FDF8F0"/>
          </a:solidFill>
          <a:ln w="12700">
            <a:solidFill>
              <a:srgbClr val="E9DFCC"/>
            </a:solidFill>
            <a:prstDash val="solid"/>
          </a:ln>
        </p:spPr>
      </p:sp>
      <p:sp>
        <p:nvSpPr>
          <p:cNvPr id="15" name="Shape 11"/>
          <p:cNvSpPr/>
          <p:nvPr/>
        </p:nvSpPr>
        <p:spPr>
          <a:xfrm>
            <a:off x="8494776" y="2194560"/>
            <a:ext cx="548640" cy="54864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8631936" y="2331720"/>
            <a:ext cx="274320" cy="274320"/>
          </a:xfrm>
          <a:prstGeom prst="rect">
            <a:avLst/>
          </a:prstGeom>
        </p:spPr>
      </p:pic>
      <p:sp>
        <p:nvSpPr>
          <p:cNvPr id="17" name="Text 12"/>
          <p:cNvSpPr txBox="1"/>
          <p:nvPr/>
        </p:nvSpPr>
        <p:spPr>
          <a:xfrm>
            <a:off x="9180576" y="2240280"/>
            <a:ext cx="2240280" cy="457200"/>
          </a:xfrm>
          <a:prstGeom prst="rect">
            <a:avLst/>
          </a:prstGeom>
          <a:noFill/>
          <a:ln/>
        </p:spPr>
        <p:txBody>
          <a:bodyPr wrap="square" lIns="0" tIns="0" rIns="0" bIns="0" rtlCol="0" anchor="ctr"/>
          <a:lstStyle/>
          <a:p>
            <a:pPr indent="0" marL="0">
              <a:buNone/>
            </a:pPr>
            <a:r>
              <a:rPr lang="en-US" sz="1450" b="1" dirty="0">
                <a:solidFill>
                  <a:srgbClr val="4A3527"/>
                </a:solidFill>
                <a:latin typeface="Cambria" pitchFamily="34" charset="0"/>
                <a:ea typeface="Cambria" pitchFamily="34" charset="-122"/>
                <a:cs typeface="Cambria" pitchFamily="34" charset="-120"/>
              </a:rPr>
              <a:t>Bring a room to your event</a:t>
            </a:r>
            <a:endParaRPr lang="en-US" sz="1450" dirty="0"/>
          </a:p>
        </p:txBody>
      </p:sp>
      <p:sp>
        <p:nvSpPr>
          <p:cNvPr id="18" name="Text 13"/>
          <p:cNvSpPr txBox="1"/>
          <p:nvPr/>
        </p:nvSpPr>
        <p:spPr>
          <a:xfrm>
            <a:off x="8494776" y="2834640"/>
            <a:ext cx="2834640" cy="1005840"/>
          </a:xfrm>
          <a:prstGeom prst="rect">
            <a:avLst/>
          </a:prstGeom>
          <a:noFill/>
          <a:ln/>
        </p:spPr>
        <p:txBody>
          <a:bodyPr wrap="square" lIns="0" tIns="0" rIns="0" bIns="0" rtlCol="0" anchor="t"/>
          <a:lstStyle/>
          <a:p>
            <a:pPr indent="0" marL="0">
              <a:buNone/>
            </a:pPr>
            <a:r>
              <a:rPr lang="en-US" sz="1150" dirty="0">
                <a:solidFill>
                  <a:srgbClr val="2E2118"/>
                </a:solidFill>
                <a:latin typeface="Calibri" pitchFamily="34" charset="0"/>
                <a:ea typeface="Calibri" pitchFamily="34" charset="-122"/>
                <a:cs typeface="Calibri" pitchFamily="34" charset="-120"/>
              </a:rPr>
              <a:t>The 3D experience and a headset at your conference or office, with a volunteer to guide people through it.</a:t>
            </a:r>
            <a:endParaRPr lang="en-US" sz="1150" dirty="0"/>
          </a:p>
        </p:txBody>
      </p:sp>
      <p:sp>
        <p:nvSpPr>
          <p:cNvPr id="19" name="Shape 14"/>
          <p:cNvSpPr/>
          <p:nvPr/>
        </p:nvSpPr>
        <p:spPr>
          <a:xfrm>
            <a:off x="640080" y="4160520"/>
            <a:ext cx="3291840" cy="1965960"/>
          </a:xfrm>
          <a:prstGeom prst="roundRect">
            <a:avLst>
              <a:gd name="adj" fmla="val 5581"/>
            </a:avLst>
          </a:prstGeom>
          <a:solidFill>
            <a:srgbClr val="FDF8F0"/>
          </a:solidFill>
          <a:ln w="12700">
            <a:solidFill>
              <a:srgbClr val="E9DFCC"/>
            </a:solidFill>
            <a:prstDash val="solid"/>
          </a:ln>
        </p:spPr>
      </p:sp>
      <p:sp>
        <p:nvSpPr>
          <p:cNvPr id="20" name="Shape 15"/>
          <p:cNvSpPr/>
          <p:nvPr/>
        </p:nvSpPr>
        <p:spPr>
          <a:xfrm>
            <a:off x="868680" y="4389120"/>
            <a:ext cx="548640" cy="548640"/>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1005840" y="4526280"/>
            <a:ext cx="274320" cy="274320"/>
          </a:xfrm>
          <a:prstGeom prst="rect">
            <a:avLst/>
          </a:prstGeom>
        </p:spPr>
      </p:pic>
      <p:sp>
        <p:nvSpPr>
          <p:cNvPr id="22" name="Text 16"/>
          <p:cNvSpPr txBox="1"/>
          <p:nvPr/>
        </p:nvSpPr>
        <p:spPr>
          <a:xfrm>
            <a:off x="1554480" y="4434840"/>
            <a:ext cx="2240280" cy="457200"/>
          </a:xfrm>
          <a:prstGeom prst="rect">
            <a:avLst/>
          </a:prstGeom>
          <a:noFill/>
          <a:ln/>
        </p:spPr>
        <p:txBody>
          <a:bodyPr wrap="square" lIns="0" tIns="0" rIns="0" bIns="0" rtlCol="0" anchor="ctr"/>
          <a:lstStyle/>
          <a:p>
            <a:pPr indent="0" marL="0">
              <a:buNone/>
            </a:pPr>
            <a:r>
              <a:rPr lang="en-US" sz="1450" b="1" dirty="0">
                <a:solidFill>
                  <a:srgbClr val="4A3527"/>
                </a:solidFill>
                <a:latin typeface="Cambria" pitchFamily="34" charset="0"/>
                <a:ea typeface="Cambria" pitchFamily="34" charset="-122"/>
                <a:cs typeface="Cambria" pitchFamily="34" charset="-120"/>
              </a:rPr>
              <a:t>A talk or a workshop</a:t>
            </a:r>
            <a:endParaRPr lang="en-US" sz="1450" dirty="0"/>
          </a:p>
        </p:txBody>
      </p:sp>
      <p:sp>
        <p:nvSpPr>
          <p:cNvPr id="23" name="Text 17"/>
          <p:cNvSpPr txBox="1"/>
          <p:nvPr/>
        </p:nvSpPr>
        <p:spPr>
          <a:xfrm>
            <a:off x="868680" y="5029200"/>
            <a:ext cx="2834640" cy="1005840"/>
          </a:xfrm>
          <a:prstGeom prst="rect">
            <a:avLst/>
          </a:prstGeom>
          <a:noFill/>
          <a:ln/>
        </p:spPr>
        <p:txBody>
          <a:bodyPr wrap="square" lIns="0" tIns="0" rIns="0" bIns="0" rtlCol="0" anchor="t"/>
          <a:lstStyle/>
          <a:p>
            <a:pPr indent="0" marL="0">
              <a:buNone/>
            </a:pPr>
            <a:r>
              <a:rPr lang="en-US" sz="1150" dirty="0">
                <a:solidFill>
                  <a:srgbClr val="2E2118"/>
                </a:solidFill>
                <a:latin typeface="Calibri" pitchFamily="34" charset="0"/>
                <a:ea typeface="Calibri" pitchFamily="34" charset="-122"/>
                <a:cs typeface="Calibri" pitchFamily="34" charset="-120"/>
              </a:rPr>
              <a:t>Our founder and team speak on phone photogrammetry, community XR and heritage at risk: AWE, Voices of VR, Georgia Tech, El Jem.</a:t>
            </a:r>
            <a:endParaRPr lang="en-US" sz="1150" dirty="0"/>
          </a:p>
        </p:txBody>
      </p:sp>
      <p:sp>
        <p:nvSpPr>
          <p:cNvPr id="24" name="Shape 18"/>
          <p:cNvSpPr/>
          <p:nvPr/>
        </p:nvSpPr>
        <p:spPr>
          <a:xfrm>
            <a:off x="4453128" y="4160520"/>
            <a:ext cx="3291840" cy="1965960"/>
          </a:xfrm>
          <a:prstGeom prst="roundRect">
            <a:avLst>
              <a:gd name="adj" fmla="val 5581"/>
            </a:avLst>
          </a:prstGeom>
          <a:solidFill>
            <a:srgbClr val="FDF8F0"/>
          </a:solidFill>
          <a:ln w="12700">
            <a:solidFill>
              <a:srgbClr val="E9DFCC"/>
            </a:solidFill>
            <a:prstDash val="solid"/>
          </a:ln>
        </p:spPr>
      </p:sp>
      <p:sp>
        <p:nvSpPr>
          <p:cNvPr id="25" name="Shape 19"/>
          <p:cNvSpPr/>
          <p:nvPr/>
        </p:nvSpPr>
        <p:spPr>
          <a:xfrm>
            <a:off x="4681728" y="4389120"/>
            <a:ext cx="548640" cy="548640"/>
          </a:xfrm>
          <a:prstGeom prst="ellipse">
            <a:avLst/>
          </a:prstGeom>
          <a:solidFill>
            <a:srgbClr val="FFFFFF"/>
          </a:solidFill>
          <a:ln w="12700">
            <a:solidFill>
              <a:srgbClr val="FFFFFF"/>
            </a:solidFill>
            <a:prstDash val="solid"/>
          </a:ln>
        </p:spPr>
      </p:sp>
      <p:pic>
        <p:nvPicPr>
          <p:cNvPr id="26" name="Image 4" descr="preencoded.png">    </p:cNvPr>
          <p:cNvPicPr>
            <a:picLocks noChangeAspect="1"/>
          </p:cNvPicPr>
          <p:nvPr/>
        </p:nvPicPr>
        <p:blipFill>
          <a:blip r:embed="rId5"/>
          <a:stretch>
            <a:fillRect/>
          </a:stretch>
        </p:blipFill>
        <p:spPr>
          <a:xfrm>
            <a:off x="4818888" y="4526280"/>
            <a:ext cx="274320" cy="274320"/>
          </a:xfrm>
          <a:prstGeom prst="rect">
            <a:avLst/>
          </a:prstGeom>
        </p:spPr>
      </p:pic>
      <p:sp>
        <p:nvSpPr>
          <p:cNvPr id="27" name="Text 20"/>
          <p:cNvSpPr txBox="1"/>
          <p:nvPr/>
        </p:nvSpPr>
        <p:spPr>
          <a:xfrm>
            <a:off x="5367528" y="4434840"/>
            <a:ext cx="2240280" cy="457200"/>
          </a:xfrm>
          <a:prstGeom prst="rect">
            <a:avLst/>
          </a:prstGeom>
          <a:noFill/>
          <a:ln/>
        </p:spPr>
        <p:txBody>
          <a:bodyPr wrap="square" lIns="0" tIns="0" rIns="0" bIns="0" rtlCol="0" anchor="ctr"/>
          <a:lstStyle/>
          <a:p>
            <a:pPr indent="0" marL="0">
              <a:buNone/>
            </a:pPr>
            <a:r>
              <a:rPr lang="en-US" sz="1450" b="1" dirty="0">
                <a:solidFill>
                  <a:srgbClr val="4A3527"/>
                </a:solidFill>
                <a:latin typeface="Cambria" pitchFamily="34" charset="0"/>
                <a:ea typeface="Cambria" pitchFamily="34" charset="-122"/>
                <a:cs typeface="Cambria" pitchFamily="34" charset="-120"/>
              </a:rPr>
              <a:t>Sponsor a hackathon track</a:t>
            </a:r>
            <a:endParaRPr lang="en-US" sz="1450" dirty="0"/>
          </a:p>
        </p:txBody>
      </p:sp>
      <p:sp>
        <p:nvSpPr>
          <p:cNvPr id="28" name="Text 21"/>
          <p:cNvSpPr txBox="1"/>
          <p:nvPr/>
        </p:nvSpPr>
        <p:spPr>
          <a:xfrm>
            <a:off x="4681728" y="5029200"/>
            <a:ext cx="2834640" cy="1005840"/>
          </a:xfrm>
          <a:prstGeom prst="rect">
            <a:avLst/>
          </a:prstGeom>
          <a:noFill/>
          <a:ln/>
        </p:spPr>
        <p:txBody>
          <a:bodyPr wrap="square" lIns="0" tIns="0" rIns="0" bIns="0" rtlCol="0" anchor="t"/>
          <a:lstStyle/>
          <a:p>
            <a:pPr indent="0" marL="0">
              <a:buNone/>
            </a:pPr>
            <a:r>
              <a:rPr lang="en-US" sz="1150" dirty="0">
                <a:solidFill>
                  <a:srgbClr val="2E2118"/>
                </a:solidFill>
                <a:latin typeface="Calibri" pitchFamily="34" charset="0"/>
                <a:ea typeface="Calibri" pitchFamily="34" charset="-122"/>
                <a:cs typeface="Calibri" pitchFamily="34" charset="-120"/>
              </a:rPr>
              <a:t>Real scans as the material. You set the challenge, meet the students, see what they build in a weekend.</a:t>
            </a:r>
            <a:endParaRPr lang="en-US" sz="1150" dirty="0"/>
          </a:p>
        </p:txBody>
      </p:sp>
      <p:sp>
        <p:nvSpPr>
          <p:cNvPr id="29" name="Shape 22"/>
          <p:cNvSpPr/>
          <p:nvPr/>
        </p:nvSpPr>
        <p:spPr>
          <a:xfrm>
            <a:off x="8266176" y="4160520"/>
            <a:ext cx="3291840" cy="1965960"/>
          </a:xfrm>
          <a:prstGeom prst="roundRect">
            <a:avLst>
              <a:gd name="adj" fmla="val 5581"/>
            </a:avLst>
          </a:prstGeom>
          <a:solidFill>
            <a:srgbClr val="FDF8F0"/>
          </a:solidFill>
          <a:ln w="12700">
            <a:solidFill>
              <a:srgbClr val="E9DFCC"/>
            </a:solidFill>
            <a:prstDash val="solid"/>
          </a:ln>
        </p:spPr>
      </p:sp>
      <p:sp>
        <p:nvSpPr>
          <p:cNvPr id="30" name="Shape 23"/>
          <p:cNvSpPr/>
          <p:nvPr/>
        </p:nvSpPr>
        <p:spPr>
          <a:xfrm>
            <a:off x="8494776" y="4389120"/>
            <a:ext cx="548640" cy="548640"/>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8631936" y="4526280"/>
            <a:ext cx="274320" cy="274320"/>
          </a:xfrm>
          <a:prstGeom prst="rect">
            <a:avLst/>
          </a:prstGeom>
        </p:spPr>
      </p:pic>
      <p:sp>
        <p:nvSpPr>
          <p:cNvPr id="32" name="Text 24"/>
          <p:cNvSpPr txBox="1"/>
          <p:nvPr/>
        </p:nvSpPr>
        <p:spPr>
          <a:xfrm>
            <a:off x="9180576" y="4434840"/>
            <a:ext cx="2240280" cy="457200"/>
          </a:xfrm>
          <a:prstGeom prst="rect">
            <a:avLst/>
          </a:prstGeom>
          <a:noFill/>
          <a:ln/>
        </p:spPr>
        <p:txBody>
          <a:bodyPr wrap="square" lIns="0" tIns="0" rIns="0" bIns="0" rtlCol="0" anchor="ctr"/>
          <a:lstStyle/>
          <a:p>
            <a:pPr indent="0" marL="0">
              <a:buNone/>
            </a:pPr>
            <a:r>
              <a:rPr lang="en-US" sz="1450" b="1" dirty="0">
                <a:solidFill>
                  <a:srgbClr val="4A3527"/>
                </a:solidFill>
                <a:latin typeface="Cambria" pitchFamily="34" charset="0"/>
                <a:ea typeface="Cambria" pitchFamily="34" charset="-122"/>
                <a:cs typeface="Cambria" pitchFamily="34" charset="-120"/>
              </a:rPr>
              <a:t>Fund a scanning season</a:t>
            </a:r>
            <a:endParaRPr lang="en-US" sz="1450" dirty="0"/>
          </a:p>
        </p:txBody>
      </p:sp>
      <p:sp>
        <p:nvSpPr>
          <p:cNvPr id="33" name="Text 25"/>
          <p:cNvSpPr txBox="1"/>
          <p:nvPr/>
        </p:nvSpPr>
        <p:spPr>
          <a:xfrm>
            <a:off x="8494776" y="5029200"/>
            <a:ext cx="2834640" cy="1005840"/>
          </a:xfrm>
          <a:prstGeom prst="rect">
            <a:avLst/>
          </a:prstGeom>
          <a:noFill/>
          <a:ln/>
        </p:spPr>
        <p:txBody>
          <a:bodyPr wrap="square" lIns="0" tIns="0" rIns="0" bIns="0" rtlCol="0" anchor="t"/>
          <a:lstStyle/>
          <a:p>
            <a:pPr indent="0" marL="0">
              <a:buNone/>
            </a:pPr>
            <a:r>
              <a:rPr lang="en-US" sz="1150" dirty="0">
                <a:solidFill>
                  <a:srgbClr val="2E2118"/>
                </a:solidFill>
                <a:latin typeface="Calibri" pitchFamily="34" charset="0"/>
                <a:ea typeface="Calibri" pitchFamily="34" charset="-122"/>
                <a:cs typeface="Calibri" pitchFamily="34" charset="-120"/>
              </a:rPr>
              <a:t>Bus fares, data, backups and a modest fee for local volunteers, with sites, counts and stories reported monthly.</a:t>
            </a:r>
            <a:endParaRPr lang="en-US" sz="1150" dirty="0"/>
          </a:p>
        </p:txBody>
      </p:sp>
      <p:sp>
        <p:nvSpPr>
          <p:cNvPr id="34" name="Text 26"/>
          <p:cNvSpPr txBox="1"/>
          <p:nvPr/>
        </p:nvSpPr>
        <p:spPr>
          <a:xfrm>
            <a:off x="9811512" y="6355080"/>
            <a:ext cx="1920240" cy="274320"/>
          </a:xfrm>
          <a:prstGeom prst="rect">
            <a:avLst/>
          </a:prstGeom>
          <a:noFill/>
          <a:ln/>
        </p:spPr>
        <p:txBody>
          <a:bodyPr wrap="square" lIns="0" tIns="0" rIns="0" bIns="0" rtlCol="0" anchor="ctr"/>
          <a:lstStyle/>
          <a:p>
            <a:pPr algn="r" indent="0" marL="0">
              <a:buNone/>
            </a:pPr>
            <a:r>
              <a:rPr lang="en-US" sz="1100" dirty="0">
                <a:solidFill>
                  <a:srgbClr val="7D6A58"/>
                </a:solidFill>
                <a:latin typeface="Calibri" pitchFamily="34" charset="0"/>
                <a:ea typeface="Calibri" pitchFamily="34" charset="-122"/>
                <a:cs typeface="Calibri" pitchFamily="34" charset="-120"/>
              </a:rPr>
              <a:t>tanitxr.org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41A10"/>
        </a:solidFill>
      </p:bgPr>
    </p:bg>
    <p:spTree>
      <p:nvGrpSpPr>
        <p:cNvPr id="1" name=""/>
        <p:cNvGrpSpPr/>
        <p:nvPr/>
      </p:nvGrpSpPr>
      <p:grpSpPr>
        <a:xfrm>
          <a:off x="0" y="0"/>
          <a:ext cx="0" cy="0"/>
          <a:chOff x="0" y="0"/>
          <a:chExt cx="0" cy="0"/>
        </a:xfrm>
      </p:grpSpPr>
      <p:sp>
        <p:nvSpPr>
          <p:cNvPr id="2" name="Text 0"/>
          <p:cNvSpPr txBox="1"/>
          <p:nvPr/>
        </p:nvSpPr>
        <p:spPr>
          <a:xfrm>
            <a:off x="640080" y="640080"/>
            <a:ext cx="7315200" cy="274320"/>
          </a:xfrm>
          <a:prstGeom prst="rect">
            <a:avLst/>
          </a:prstGeom>
          <a:noFill/>
          <a:ln/>
        </p:spPr>
        <p:txBody>
          <a:bodyPr wrap="square" lIns="0" tIns="0" rIns="0" bIns="0" rtlCol="0" anchor="ctr"/>
          <a:lstStyle/>
          <a:p>
            <a:pPr indent="0" marL="0">
              <a:buNone/>
            </a:pPr>
            <a:r>
              <a:rPr lang="en-US" sz="1200" b="1" spc="400" kern="0" dirty="0">
                <a:solidFill>
                  <a:srgbClr val="FFCD05"/>
                </a:solidFill>
                <a:latin typeface="Calibri" pitchFamily="34" charset="0"/>
                <a:ea typeface="Calibri" pitchFamily="34" charset="-122"/>
                <a:cs typeface="Calibri" pitchFamily="34" charset="-120"/>
              </a:rPr>
              <a:t>WHAT YOU GET BACK</a:t>
            </a:r>
            <a:endParaRPr lang="en-US" sz="1200" dirty="0"/>
          </a:p>
        </p:txBody>
      </p:sp>
      <p:sp>
        <p:nvSpPr>
          <p:cNvPr id="3" name="Text 1"/>
          <p:cNvSpPr txBox="1"/>
          <p:nvPr/>
        </p:nvSpPr>
        <p:spPr>
          <a:xfrm>
            <a:off x="640080" y="96012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Impact you can point at</a:t>
            </a:r>
            <a:endParaRPr lang="en-US" sz="3200" dirty="0"/>
          </a:p>
        </p:txBody>
      </p:sp>
      <p:sp>
        <p:nvSpPr>
          <p:cNvPr id="4" name="Text 2"/>
          <p:cNvSpPr txBox="1"/>
          <p:nvPr/>
        </p:nvSpPr>
        <p:spPr>
          <a:xfrm>
            <a:off x="640080" y="2011680"/>
            <a:ext cx="6949440" cy="38404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8DCC6"/>
                </a:solidFill>
                <a:latin typeface="Calibri" pitchFamily="34" charset="0"/>
                <a:ea typeface="Calibri" pitchFamily="34" charset="-122"/>
                <a:cs typeface="Calibri" pitchFamily="34" charset="-120"/>
              </a:rPr>
              <a:t>Every object your support made possible is public, in 3D, with your name beside it.</a:t>
            </a:r>
            <a:endParaRPr lang="en-US" sz="1500" dirty="0"/>
          </a:p>
          <a:p>
            <a:pPr marL="342900" indent="-342900">
              <a:spcAft>
                <a:spcPts val="1000"/>
              </a:spcAft>
              <a:buSzPct val="100000"/>
              <a:buChar char="•"/>
            </a:pPr>
            <a:r>
              <a:rPr lang="en-US" sz="1500" dirty="0">
                <a:solidFill>
                  <a:srgbClr val="E8DCC6"/>
                </a:solidFill>
                <a:latin typeface="Calibri" pitchFamily="34" charset="0"/>
                <a:ea typeface="Calibri" pitchFamily="34" charset="-122"/>
                <a:cs typeface="Calibri" pitchFamily="34" charset="-120"/>
              </a:rPr>
              <a:t>Numbers, monthly: visits, objects viewed, people trained, sites documented, from the same counter we use ourselves.</a:t>
            </a:r>
            <a:endParaRPr lang="en-US" sz="1500" dirty="0"/>
          </a:p>
          <a:p>
            <a:pPr marL="342900" indent="-342900">
              <a:spcAft>
                <a:spcPts val="1000"/>
              </a:spcAft>
              <a:buSzPct val="100000"/>
              <a:buChar char="•"/>
            </a:pPr>
            <a:r>
              <a:rPr lang="en-US" sz="1500" dirty="0">
                <a:solidFill>
                  <a:srgbClr val="E8DCC6"/>
                </a:solidFill>
                <a:latin typeface="Calibri" pitchFamily="34" charset="0"/>
                <a:ea typeface="Calibri" pitchFamily="34" charset="-122"/>
                <a:cs typeface="Calibri" pitchFamily="34" charset="-120"/>
              </a:rPr>
              <a:t>Stories and pictures for your communications team, told plainly, with your part in them.</a:t>
            </a:r>
            <a:endParaRPr lang="en-US" sz="1500" dirty="0"/>
          </a:p>
          <a:p>
            <a:pPr marL="342900" indent="-342900">
              <a:spcAft>
                <a:spcPts val="1000"/>
              </a:spcAft>
              <a:buSzPct val="100000"/>
              <a:buChar char="•"/>
            </a:pPr>
            <a:r>
              <a:rPr lang="en-US" sz="1500" dirty="0">
                <a:solidFill>
                  <a:srgbClr val="E8DCC6"/>
                </a:solidFill>
                <a:latin typeface="Calibri" pitchFamily="34" charset="0"/>
                <a:ea typeface="Calibri" pitchFamily="34" charset="-122"/>
                <a:cs typeface="Calibri" pitchFamily="34" charset="-120"/>
              </a:rPr>
              <a:t>Your logo on the site, in the experience and at our events, and a mention in every newsletter edition.</a:t>
            </a:r>
            <a:endParaRPr lang="en-US" sz="1500" dirty="0"/>
          </a:p>
          <a:p>
            <a:pPr marL="342900" indent="-342900">
              <a:spcAft>
                <a:spcPts val="1000"/>
              </a:spcAft>
              <a:buSzPct val="100000"/>
              <a:buChar char="•"/>
            </a:pPr>
            <a:r>
              <a:rPr lang="en-US" sz="1500" dirty="0">
                <a:solidFill>
                  <a:srgbClr val="E8DCC6"/>
                </a:solidFill>
                <a:latin typeface="Calibri" pitchFamily="34" charset="0"/>
                <a:ea typeface="Calibri" pitchFamily="34" charset="-122"/>
                <a:cs typeface="Calibri" pitchFamily="34" charset="-120"/>
              </a:rPr>
              <a:t>Employees who learned something real and can show their families what they helped keep.</a:t>
            </a:r>
            <a:endParaRPr lang="en-US" sz="1500" dirty="0"/>
          </a:p>
          <a:p>
            <a:pPr marL="342900" indent="-342900">
              <a:spcAft>
                <a:spcPts val="1000"/>
              </a:spcAft>
              <a:buSzPct val="100000"/>
              <a:buChar char="•"/>
            </a:pPr>
            <a:r>
              <a:rPr lang="en-US" sz="1500" dirty="0">
                <a:solidFill>
                  <a:srgbClr val="E8DCC6"/>
                </a:solidFill>
                <a:latin typeface="Calibri" pitchFamily="34" charset="0"/>
                <a:ea typeface="Calibri" pitchFamily="34" charset="-122"/>
                <a:cs typeface="Calibri" pitchFamily="34" charset="-120"/>
              </a:rPr>
              <a:t>A tax-deductible gift through our fiscal sponsor, Florida Community Innovation, a U.S. 501(c)(3).</a:t>
            </a:r>
            <a:endParaRPr lang="en-US" sz="1500" dirty="0"/>
          </a:p>
        </p:txBody>
      </p:sp>
      <p:sp>
        <p:nvSpPr>
          <p:cNvPr id="5" name="Shape 3"/>
          <p:cNvSpPr/>
          <p:nvPr/>
        </p:nvSpPr>
        <p:spPr>
          <a:xfrm>
            <a:off x="8138160" y="2011680"/>
            <a:ext cx="3429000" cy="2377440"/>
          </a:xfrm>
          <a:prstGeom prst="roundRect">
            <a:avLst>
              <a:gd name="adj" fmla="val 5385"/>
            </a:avLst>
          </a:prstGeom>
          <a:solidFill>
            <a:srgbClr val="4A3527"/>
          </a:solidFill>
          <a:ln w="12700">
            <a:solidFill>
              <a:srgbClr val="4A3527"/>
            </a:solidFill>
            <a:prstDash val="solid"/>
          </a:ln>
        </p:spPr>
      </p:sp>
      <p:sp>
        <p:nvSpPr>
          <p:cNvPr id="6" name="Text 4"/>
          <p:cNvSpPr txBox="1"/>
          <p:nvPr/>
        </p:nvSpPr>
        <p:spPr>
          <a:xfrm>
            <a:off x="8366760" y="2194560"/>
            <a:ext cx="3017520" cy="640080"/>
          </a:xfrm>
          <a:prstGeom prst="rect">
            <a:avLst/>
          </a:prstGeom>
          <a:noFill/>
          <a:ln/>
        </p:spPr>
        <p:txBody>
          <a:bodyPr wrap="square" lIns="0" tIns="0" rIns="0" bIns="0" rtlCol="0" anchor="ctr"/>
          <a:lstStyle/>
          <a:p>
            <a:pPr indent="0" marL="0">
              <a:buNone/>
            </a:pPr>
            <a:r>
              <a:rPr lang="en-US" sz="1500" b="1" dirty="0">
                <a:solidFill>
                  <a:srgbClr val="FFCD05"/>
                </a:solidFill>
                <a:latin typeface="Cambria" pitchFamily="34" charset="0"/>
                <a:ea typeface="Cambria" pitchFamily="34" charset="-122"/>
                <a:cs typeface="Cambria" pitchFamily="34" charset="-120"/>
              </a:rPr>
              <a:t>One promise, whatever the partnership</a:t>
            </a:r>
            <a:endParaRPr lang="en-US" sz="1500" dirty="0"/>
          </a:p>
        </p:txBody>
      </p:sp>
      <p:sp>
        <p:nvSpPr>
          <p:cNvPr id="7" name="Text 5"/>
          <p:cNvSpPr txBox="1"/>
          <p:nvPr/>
        </p:nvSpPr>
        <p:spPr>
          <a:xfrm>
            <a:off x="8366760" y="2834640"/>
            <a:ext cx="3017520" cy="1463040"/>
          </a:xfrm>
          <a:prstGeom prst="rect">
            <a:avLst/>
          </a:prstGeom>
          <a:noFill/>
          <a:ln/>
        </p:spPr>
        <p:txBody>
          <a:bodyPr wrap="square" lIns="0" tIns="0" rIns="0" bIns="0" rtlCol="0" anchor="t"/>
          <a:lstStyle/>
          <a:p>
            <a:pPr indent="0" marL="0">
              <a:buNone/>
            </a:pPr>
            <a:r>
              <a:rPr lang="en-US" sz="1250" dirty="0">
                <a:solidFill>
                  <a:srgbClr val="FDF8F0"/>
                </a:solidFill>
                <a:latin typeface="Calibri" pitchFamily="34" charset="0"/>
                <a:ea typeface="Calibri" pitchFamily="34" charset="-122"/>
                <a:cs typeface="Calibri" pitchFamily="34" charset="-120"/>
              </a:rPr>
              <a:t>The archive stays free and open, and our volunteers are never made to work so that someone else earns. We sell training, events and our time. Never the heritage.</a:t>
            </a:r>
            <a:endParaRPr lang="en-US" sz="1250" dirty="0"/>
          </a:p>
        </p:txBody>
      </p:sp>
      <p:sp>
        <p:nvSpPr>
          <p:cNvPr id="8" name="Text 6"/>
          <p:cNvSpPr txBox="1"/>
          <p:nvPr/>
        </p:nvSpPr>
        <p:spPr>
          <a:xfrm>
            <a:off x="9811512" y="6355080"/>
            <a:ext cx="1920240" cy="274320"/>
          </a:xfrm>
          <a:prstGeom prst="rect">
            <a:avLst/>
          </a:prstGeom>
          <a:noFill/>
          <a:ln/>
        </p:spPr>
        <p:txBody>
          <a:bodyPr wrap="square" lIns="0" tIns="0" rIns="0" bIns="0" rtlCol="0" anchor="ctr"/>
          <a:lstStyle/>
          <a:p>
            <a:pPr algn="r" indent="0" marL="0">
              <a:buNone/>
            </a:pPr>
            <a:r>
              <a:rPr lang="en-US" sz="1100" dirty="0">
                <a:solidFill>
                  <a:srgbClr val="E8DCC6"/>
                </a:solidFill>
                <a:latin typeface="Calibri" pitchFamily="34" charset="0"/>
                <a:ea typeface="Calibri" pitchFamily="34" charset="-122"/>
                <a:cs typeface="Calibri" pitchFamily="34" charset="-120"/>
              </a:rPr>
              <a:t>tanitxr.org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8F0"/>
        </a:solidFill>
      </p:bgPr>
    </p:bg>
    <p:spTree>
      <p:nvGrpSpPr>
        <p:cNvPr id="1" name=""/>
        <p:cNvGrpSpPr/>
        <p:nvPr/>
      </p:nvGrpSpPr>
      <p:grpSpPr>
        <a:xfrm>
          <a:off x="0" y="0"/>
          <a:ext cx="0" cy="0"/>
          <a:chOff x="0" y="0"/>
          <a:chExt cx="0" cy="0"/>
        </a:xfrm>
      </p:grpSpPr>
      <p:sp>
        <p:nvSpPr>
          <p:cNvPr id="2" name="Text 0"/>
          <p:cNvSpPr txBox="1"/>
          <p:nvPr/>
        </p:nvSpPr>
        <p:spPr>
          <a:xfrm>
            <a:off x="640080" y="640080"/>
            <a:ext cx="7315200" cy="274320"/>
          </a:xfrm>
          <a:prstGeom prst="rect">
            <a:avLst/>
          </a:prstGeom>
          <a:noFill/>
          <a:ln/>
        </p:spPr>
        <p:txBody>
          <a:bodyPr wrap="square" lIns="0" tIns="0" rIns="0" bIns="0" rtlCol="0" anchor="ctr"/>
          <a:lstStyle/>
          <a:p>
            <a:pPr indent="0" marL="0">
              <a:buNone/>
            </a:pPr>
            <a:r>
              <a:rPr lang="en-US" sz="1200" b="1" spc="400" kern="0" dirty="0">
                <a:solidFill>
                  <a:srgbClr val="A35F3F"/>
                </a:solidFill>
                <a:latin typeface="Calibri" pitchFamily="34" charset="0"/>
                <a:ea typeface="Calibri" pitchFamily="34" charset="-122"/>
                <a:cs typeface="Calibri" pitchFamily="34" charset="-120"/>
              </a:rPr>
              <a:t>PARTNERSHIP LEVELS</a:t>
            </a:r>
            <a:endParaRPr lang="en-US" sz="1200" dirty="0"/>
          </a:p>
        </p:txBody>
      </p:sp>
      <p:sp>
        <p:nvSpPr>
          <p:cNvPr id="3" name="Text 1"/>
          <p:cNvSpPr txBox="1"/>
          <p:nvPr/>
        </p:nvSpPr>
        <p:spPr>
          <a:xfrm>
            <a:off x="640080" y="960120"/>
            <a:ext cx="10972800" cy="822960"/>
          </a:xfrm>
          <a:prstGeom prst="rect">
            <a:avLst/>
          </a:prstGeom>
          <a:noFill/>
          <a:ln/>
        </p:spPr>
        <p:txBody>
          <a:bodyPr wrap="square" lIns="0" tIns="0" rIns="0" bIns="0" rtlCol="0" anchor="ctr"/>
          <a:lstStyle/>
          <a:p>
            <a:pPr indent="0" marL="0">
              <a:buNone/>
            </a:pPr>
            <a:r>
              <a:rPr lang="en-US" sz="3200" b="1" dirty="0">
                <a:solidFill>
                  <a:srgbClr val="2E2118"/>
                </a:solidFill>
                <a:latin typeface="Cambria" pitchFamily="34" charset="0"/>
                <a:ea typeface="Cambria" pitchFamily="34" charset="-122"/>
                <a:cs typeface="Cambria" pitchFamily="34" charset="-120"/>
              </a:rPr>
              <a:t>A first step, and a way to grow</a:t>
            </a:r>
            <a:endParaRPr lang="en-US" sz="3200" dirty="0"/>
          </a:p>
        </p:txBody>
      </p:sp>
      <p:sp>
        <p:nvSpPr>
          <p:cNvPr id="4" name="Shape 2"/>
          <p:cNvSpPr/>
          <p:nvPr/>
        </p:nvSpPr>
        <p:spPr>
          <a:xfrm>
            <a:off x="640080" y="2011680"/>
            <a:ext cx="2121408" cy="3749040"/>
          </a:xfrm>
          <a:prstGeom prst="roundRect">
            <a:avLst>
              <a:gd name="adj" fmla="val 5172"/>
            </a:avLst>
          </a:prstGeom>
          <a:solidFill>
            <a:srgbClr val="FFFFFF"/>
          </a:solidFill>
          <a:ln w="12700">
            <a:solidFill>
              <a:srgbClr val="E4D8C4"/>
            </a:solidFill>
            <a:prstDash val="solid"/>
          </a:ln>
        </p:spPr>
      </p:sp>
      <p:sp>
        <p:nvSpPr>
          <p:cNvPr id="5" name="Text 3"/>
          <p:cNvSpPr txBox="1"/>
          <p:nvPr/>
        </p:nvSpPr>
        <p:spPr>
          <a:xfrm>
            <a:off x="822960" y="2194560"/>
            <a:ext cx="1755648" cy="457200"/>
          </a:xfrm>
          <a:prstGeom prst="rect">
            <a:avLst/>
          </a:prstGeom>
          <a:noFill/>
          <a:ln/>
        </p:spPr>
        <p:txBody>
          <a:bodyPr wrap="square" lIns="0" tIns="0" rIns="0" bIns="0" rtlCol="0" anchor="ctr"/>
          <a:lstStyle/>
          <a:p>
            <a:pPr indent="0" marL="0">
              <a:buNone/>
            </a:pPr>
            <a:r>
              <a:rPr lang="en-US" sz="1500" b="1" dirty="0">
                <a:solidFill>
                  <a:srgbClr val="4A3527"/>
                </a:solidFill>
                <a:latin typeface="Cambria" pitchFamily="34" charset="0"/>
                <a:ea typeface="Cambria" pitchFamily="34" charset="-122"/>
                <a:cs typeface="Cambria" pitchFamily="34" charset="-120"/>
              </a:rPr>
              <a:t>Scanning day</a:t>
            </a:r>
            <a:endParaRPr lang="en-US" sz="1500" dirty="0"/>
          </a:p>
        </p:txBody>
      </p:sp>
      <p:sp>
        <p:nvSpPr>
          <p:cNvPr id="6" name="Text 4"/>
          <p:cNvSpPr txBox="1"/>
          <p:nvPr/>
        </p:nvSpPr>
        <p:spPr>
          <a:xfrm>
            <a:off x="822960" y="2697480"/>
            <a:ext cx="1755648" cy="548640"/>
          </a:xfrm>
          <a:prstGeom prst="rect">
            <a:avLst/>
          </a:prstGeom>
          <a:noFill/>
          <a:ln/>
        </p:spPr>
        <p:txBody>
          <a:bodyPr wrap="square" lIns="0" tIns="0" rIns="0" bIns="0" rtlCol="0" anchor="ctr"/>
          <a:lstStyle/>
          <a:p>
            <a:pPr indent="0" marL="0">
              <a:buNone/>
            </a:pPr>
            <a:r>
              <a:rPr lang="en-US" sz="2400" b="1" dirty="0">
                <a:solidFill>
                  <a:srgbClr val="A35F3F"/>
                </a:solidFill>
                <a:latin typeface="Cambria" pitchFamily="34" charset="0"/>
                <a:ea typeface="Cambria" pitchFamily="34" charset="-122"/>
                <a:cs typeface="Cambria" pitchFamily="34" charset="-120"/>
              </a:rPr>
              <a:t>$2,500</a:t>
            </a:r>
            <a:endParaRPr lang="en-US" sz="2400" dirty="0"/>
          </a:p>
        </p:txBody>
      </p:sp>
      <p:sp>
        <p:nvSpPr>
          <p:cNvPr id="7" name="Text 5"/>
          <p:cNvSpPr txBox="1"/>
          <p:nvPr/>
        </p:nvSpPr>
        <p:spPr>
          <a:xfrm>
            <a:off x="822960" y="3383280"/>
            <a:ext cx="1755648" cy="1188720"/>
          </a:xfrm>
          <a:prstGeom prst="rect">
            <a:avLst/>
          </a:prstGeom>
          <a:noFill/>
          <a:ln/>
        </p:spPr>
        <p:txBody>
          <a:bodyPr wrap="square" lIns="0" tIns="0" rIns="0" bIns="0" rtlCol="0" anchor="t"/>
          <a:lstStyle/>
          <a:p>
            <a:pPr indent="0" marL="0">
              <a:buNone/>
            </a:pPr>
            <a:r>
              <a:rPr lang="en-US" sz="1150" dirty="0">
                <a:solidFill>
                  <a:srgbClr val="2E2118"/>
                </a:solidFill>
                <a:latin typeface="Calibri" pitchFamily="34" charset="0"/>
                <a:ea typeface="Calibri" pitchFamily="34" charset="-122"/>
                <a:cs typeface="Calibri" pitchFamily="34" charset="-120"/>
              </a:rPr>
              <a:t>One volunteer's season of site visits: transport, data, backups.</a:t>
            </a:r>
            <a:endParaRPr lang="en-US" sz="1150" dirty="0"/>
          </a:p>
        </p:txBody>
      </p:sp>
      <p:sp>
        <p:nvSpPr>
          <p:cNvPr id="8" name="Text 6"/>
          <p:cNvSpPr txBox="1"/>
          <p:nvPr/>
        </p:nvSpPr>
        <p:spPr>
          <a:xfrm>
            <a:off x="822960" y="4709160"/>
            <a:ext cx="1755648" cy="914400"/>
          </a:xfrm>
          <a:prstGeom prst="rect">
            <a:avLst/>
          </a:prstGeom>
          <a:noFill/>
          <a:ln/>
        </p:spPr>
        <p:txBody>
          <a:bodyPr wrap="square" lIns="0" tIns="0" rIns="0" bIns="0" rtlCol="0" anchor="t"/>
          <a:lstStyle/>
          <a:p>
            <a:pPr indent="0" marL="0">
              <a:buNone/>
            </a:pPr>
            <a:r>
              <a:rPr lang="en-US" sz="1100" i="1" dirty="0">
                <a:solidFill>
                  <a:srgbClr val="7D6A58"/>
                </a:solidFill>
                <a:latin typeface="Calibri" pitchFamily="34" charset="0"/>
                <a:ea typeface="Calibri" pitchFamily="34" charset="-122"/>
                <a:cs typeface="Calibri" pitchFamily="34" charset="-120"/>
              </a:rPr>
              <a:t>Named on the objects scanned that season</a:t>
            </a:r>
            <a:endParaRPr lang="en-US" sz="1100" dirty="0"/>
          </a:p>
        </p:txBody>
      </p:sp>
      <p:sp>
        <p:nvSpPr>
          <p:cNvPr id="9" name="Shape 7"/>
          <p:cNvSpPr/>
          <p:nvPr/>
        </p:nvSpPr>
        <p:spPr>
          <a:xfrm>
            <a:off x="2889504" y="2011680"/>
            <a:ext cx="2121408" cy="3749040"/>
          </a:xfrm>
          <a:prstGeom prst="roundRect">
            <a:avLst>
              <a:gd name="adj" fmla="val 5172"/>
            </a:avLst>
          </a:prstGeom>
          <a:solidFill>
            <a:srgbClr val="FFFFFF"/>
          </a:solidFill>
          <a:ln w="12700">
            <a:solidFill>
              <a:srgbClr val="E4D8C4"/>
            </a:solidFill>
            <a:prstDash val="solid"/>
          </a:ln>
        </p:spPr>
      </p:sp>
      <p:sp>
        <p:nvSpPr>
          <p:cNvPr id="10" name="Text 8"/>
          <p:cNvSpPr txBox="1"/>
          <p:nvPr/>
        </p:nvSpPr>
        <p:spPr>
          <a:xfrm>
            <a:off x="3072384" y="2194560"/>
            <a:ext cx="1755648" cy="457200"/>
          </a:xfrm>
          <a:prstGeom prst="rect">
            <a:avLst/>
          </a:prstGeom>
          <a:noFill/>
          <a:ln/>
        </p:spPr>
        <p:txBody>
          <a:bodyPr wrap="square" lIns="0" tIns="0" rIns="0" bIns="0" rtlCol="0" anchor="ctr"/>
          <a:lstStyle/>
          <a:p>
            <a:pPr indent="0" marL="0">
              <a:buNone/>
            </a:pPr>
            <a:r>
              <a:rPr lang="en-US" sz="1500" b="1" dirty="0">
                <a:solidFill>
                  <a:srgbClr val="4A3527"/>
                </a:solidFill>
                <a:latin typeface="Cambria" pitchFamily="34" charset="0"/>
                <a:ea typeface="Cambria" pitchFamily="34" charset="-122"/>
                <a:cs typeface="Cambria" pitchFamily="34" charset="-120"/>
              </a:rPr>
              <a:t>Adopt a site</a:t>
            </a:r>
            <a:endParaRPr lang="en-US" sz="1500" dirty="0"/>
          </a:p>
        </p:txBody>
      </p:sp>
      <p:sp>
        <p:nvSpPr>
          <p:cNvPr id="11" name="Text 9"/>
          <p:cNvSpPr txBox="1"/>
          <p:nvPr/>
        </p:nvSpPr>
        <p:spPr>
          <a:xfrm>
            <a:off x="3072384" y="2697480"/>
            <a:ext cx="1755648" cy="548640"/>
          </a:xfrm>
          <a:prstGeom prst="rect">
            <a:avLst/>
          </a:prstGeom>
          <a:noFill/>
          <a:ln/>
        </p:spPr>
        <p:txBody>
          <a:bodyPr wrap="square" lIns="0" tIns="0" rIns="0" bIns="0" rtlCol="0" anchor="ctr"/>
          <a:lstStyle/>
          <a:p>
            <a:pPr indent="0" marL="0">
              <a:buNone/>
            </a:pPr>
            <a:r>
              <a:rPr lang="en-US" sz="2400" b="1" dirty="0">
                <a:solidFill>
                  <a:srgbClr val="A35F3F"/>
                </a:solidFill>
                <a:latin typeface="Cambria" pitchFamily="34" charset="0"/>
                <a:ea typeface="Cambria" pitchFamily="34" charset="-122"/>
                <a:cs typeface="Cambria" pitchFamily="34" charset="-120"/>
              </a:rPr>
              <a:t>$10,000</a:t>
            </a:r>
            <a:endParaRPr lang="en-US" sz="2400" dirty="0"/>
          </a:p>
        </p:txBody>
      </p:sp>
      <p:sp>
        <p:nvSpPr>
          <p:cNvPr id="12" name="Text 10"/>
          <p:cNvSpPr txBox="1"/>
          <p:nvPr/>
        </p:nvSpPr>
        <p:spPr>
          <a:xfrm>
            <a:off x="3072384" y="3383280"/>
            <a:ext cx="1755648" cy="1188720"/>
          </a:xfrm>
          <a:prstGeom prst="rect">
            <a:avLst/>
          </a:prstGeom>
          <a:noFill/>
          <a:ln/>
        </p:spPr>
        <p:txBody>
          <a:bodyPr wrap="square" lIns="0" tIns="0" rIns="0" bIns="0" rtlCol="0" anchor="t"/>
          <a:lstStyle/>
          <a:p>
            <a:pPr indent="0" marL="0">
              <a:buNone/>
            </a:pPr>
            <a:r>
              <a:rPr lang="en-US" sz="1150" dirty="0">
                <a:solidFill>
                  <a:srgbClr val="2E2118"/>
                </a:solidFill>
                <a:latin typeface="Calibri" pitchFamily="34" charset="0"/>
                <a:ea typeface="Calibri" pitchFamily="34" charset="-122"/>
                <a:cs typeface="Calibri" pitchFamily="34" charset="-120"/>
              </a:rPr>
              <a:t>Every object from one site, scanned, researched, published.</a:t>
            </a:r>
            <a:endParaRPr lang="en-US" sz="1150" dirty="0"/>
          </a:p>
        </p:txBody>
      </p:sp>
      <p:sp>
        <p:nvSpPr>
          <p:cNvPr id="13" name="Text 11"/>
          <p:cNvSpPr txBox="1"/>
          <p:nvPr/>
        </p:nvSpPr>
        <p:spPr>
          <a:xfrm>
            <a:off x="3072384" y="4709160"/>
            <a:ext cx="1755648" cy="914400"/>
          </a:xfrm>
          <a:prstGeom prst="rect">
            <a:avLst/>
          </a:prstGeom>
          <a:noFill/>
          <a:ln/>
        </p:spPr>
        <p:txBody>
          <a:bodyPr wrap="square" lIns="0" tIns="0" rIns="0" bIns="0" rtlCol="0" anchor="t"/>
          <a:lstStyle/>
          <a:p>
            <a:pPr indent="0" marL="0">
              <a:buNone/>
            </a:pPr>
            <a:r>
              <a:rPr lang="en-US" sz="1100" i="1" dirty="0">
                <a:solidFill>
                  <a:srgbClr val="7D6A58"/>
                </a:solidFill>
                <a:latin typeface="Calibri" pitchFamily="34" charset="0"/>
                <a:ea typeface="Calibri" pitchFamily="34" charset="-122"/>
                <a:cs typeface="Calibri" pitchFamily="34" charset="-120"/>
              </a:rPr>
              <a:t>Your name on the site's gallery</a:t>
            </a:r>
            <a:endParaRPr lang="en-US" sz="1100" dirty="0"/>
          </a:p>
        </p:txBody>
      </p:sp>
      <p:sp>
        <p:nvSpPr>
          <p:cNvPr id="14" name="Shape 12"/>
          <p:cNvSpPr/>
          <p:nvPr/>
        </p:nvSpPr>
        <p:spPr>
          <a:xfrm>
            <a:off x="5138928" y="2011680"/>
            <a:ext cx="2121408" cy="3749040"/>
          </a:xfrm>
          <a:prstGeom prst="roundRect">
            <a:avLst>
              <a:gd name="adj" fmla="val 5172"/>
            </a:avLst>
          </a:prstGeom>
          <a:solidFill>
            <a:srgbClr val="FFFFFF"/>
          </a:solidFill>
          <a:ln w="12700">
            <a:solidFill>
              <a:srgbClr val="E4D8C4"/>
            </a:solidFill>
            <a:prstDash val="solid"/>
          </a:ln>
        </p:spPr>
      </p:sp>
      <p:sp>
        <p:nvSpPr>
          <p:cNvPr id="15" name="Text 13"/>
          <p:cNvSpPr txBox="1"/>
          <p:nvPr/>
        </p:nvSpPr>
        <p:spPr>
          <a:xfrm>
            <a:off x="5321808" y="2194560"/>
            <a:ext cx="1755648" cy="457200"/>
          </a:xfrm>
          <a:prstGeom prst="rect">
            <a:avLst/>
          </a:prstGeom>
          <a:noFill/>
          <a:ln/>
        </p:spPr>
        <p:txBody>
          <a:bodyPr wrap="square" lIns="0" tIns="0" rIns="0" bIns="0" rtlCol="0" anchor="ctr"/>
          <a:lstStyle/>
          <a:p>
            <a:pPr indent="0" marL="0">
              <a:buNone/>
            </a:pPr>
            <a:r>
              <a:rPr lang="en-US" sz="1500" b="1" dirty="0">
                <a:solidFill>
                  <a:srgbClr val="4A3527"/>
                </a:solidFill>
                <a:latin typeface="Cambria" pitchFamily="34" charset="0"/>
                <a:ea typeface="Cambria" pitchFamily="34" charset="-122"/>
                <a:cs typeface="Cambria" pitchFamily="34" charset="-120"/>
              </a:rPr>
              <a:t>Sponsor a track</a:t>
            </a:r>
            <a:endParaRPr lang="en-US" sz="1500" dirty="0"/>
          </a:p>
        </p:txBody>
      </p:sp>
      <p:sp>
        <p:nvSpPr>
          <p:cNvPr id="16" name="Text 14"/>
          <p:cNvSpPr txBox="1"/>
          <p:nvPr/>
        </p:nvSpPr>
        <p:spPr>
          <a:xfrm>
            <a:off x="5321808" y="2697480"/>
            <a:ext cx="1755648" cy="548640"/>
          </a:xfrm>
          <a:prstGeom prst="rect">
            <a:avLst/>
          </a:prstGeom>
          <a:noFill/>
          <a:ln/>
        </p:spPr>
        <p:txBody>
          <a:bodyPr wrap="square" lIns="0" tIns="0" rIns="0" bIns="0" rtlCol="0" anchor="ctr"/>
          <a:lstStyle/>
          <a:p>
            <a:pPr indent="0" marL="0">
              <a:buNone/>
            </a:pPr>
            <a:r>
              <a:rPr lang="en-US" sz="2400" b="1" dirty="0">
                <a:solidFill>
                  <a:srgbClr val="A35F3F"/>
                </a:solidFill>
                <a:latin typeface="Cambria" pitchFamily="34" charset="0"/>
                <a:ea typeface="Cambria" pitchFamily="34" charset="-122"/>
                <a:cs typeface="Cambria" pitchFamily="34" charset="-120"/>
              </a:rPr>
              <a:t>$25,000</a:t>
            </a:r>
            <a:endParaRPr lang="en-US" sz="2400" dirty="0"/>
          </a:p>
        </p:txBody>
      </p:sp>
      <p:sp>
        <p:nvSpPr>
          <p:cNvPr id="17" name="Text 15"/>
          <p:cNvSpPr txBox="1"/>
          <p:nvPr/>
        </p:nvSpPr>
        <p:spPr>
          <a:xfrm>
            <a:off x="5321808" y="3383280"/>
            <a:ext cx="1755648" cy="1188720"/>
          </a:xfrm>
          <a:prstGeom prst="rect">
            <a:avLst/>
          </a:prstGeom>
          <a:noFill/>
          <a:ln/>
        </p:spPr>
        <p:txBody>
          <a:bodyPr wrap="square" lIns="0" tIns="0" rIns="0" bIns="0" rtlCol="0" anchor="t"/>
          <a:lstStyle/>
          <a:p>
            <a:pPr indent="0" marL="0">
              <a:buNone/>
            </a:pPr>
            <a:r>
              <a:rPr lang="en-US" sz="1150" dirty="0">
                <a:solidFill>
                  <a:srgbClr val="2E2118"/>
                </a:solidFill>
                <a:latin typeface="Calibri" pitchFamily="34" charset="0"/>
                <a:ea typeface="Calibri" pitchFamily="34" charset="-122"/>
                <a:cs typeface="Calibri" pitchFamily="34" charset="-120"/>
              </a:rPr>
              <a:t>A year of one volunteer track, or a full course cohort of 20.</a:t>
            </a:r>
            <a:endParaRPr lang="en-US" sz="1150" dirty="0"/>
          </a:p>
        </p:txBody>
      </p:sp>
      <p:sp>
        <p:nvSpPr>
          <p:cNvPr id="18" name="Text 16"/>
          <p:cNvSpPr txBox="1"/>
          <p:nvPr/>
        </p:nvSpPr>
        <p:spPr>
          <a:xfrm>
            <a:off x="5321808" y="4709160"/>
            <a:ext cx="1755648" cy="914400"/>
          </a:xfrm>
          <a:prstGeom prst="rect">
            <a:avLst/>
          </a:prstGeom>
          <a:noFill/>
          <a:ln/>
        </p:spPr>
        <p:txBody>
          <a:bodyPr wrap="square" lIns="0" tIns="0" rIns="0" bIns="0" rtlCol="0" anchor="t"/>
          <a:lstStyle/>
          <a:p>
            <a:pPr indent="0" marL="0">
              <a:buNone/>
            </a:pPr>
            <a:r>
              <a:rPr lang="en-US" sz="1100" i="1" dirty="0">
                <a:solidFill>
                  <a:srgbClr val="7D6A58"/>
                </a:solidFill>
                <a:latin typeface="Calibri" pitchFamily="34" charset="0"/>
                <a:ea typeface="Calibri" pitchFamily="34" charset="-122"/>
                <a:cs typeface="Calibri" pitchFamily="34" charset="-120"/>
              </a:rPr>
              <a:t>Featured in materials, quarterly reports</a:t>
            </a:r>
            <a:endParaRPr lang="en-US" sz="1100" dirty="0"/>
          </a:p>
        </p:txBody>
      </p:sp>
      <p:sp>
        <p:nvSpPr>
          <p:cNvPr id="19" name="Shape 17"/>
          <p:cNvSpPr/>
          <p:nvPr/>
        </p:nvSpPr>
        <p:spPr>
          <a:xfrm>
            <a:off x="7388352" y="2011680"/>
            <a:ext cx="2121408" cy="3749040"/>
          </a:xfrm>
          <a:prstGeom prst="roundRect">
            <a:avLst>
              <a:gd name="adj" fmla="val 5172"/>
            </a:avLst>
          </a:prstGeom>
          <a:solidFill>
            <a:srgbClr val="4A3527"/>
          </a:solidFill>
          <a:ln w="12700">
            <a:solidFill>
              <a:srgbClr val="4A3527"/>
            </a:solidFill>
            <a:prstDash val="solid"/>
          </a:ln>
        </p:spPr>
      </p:sp>
      <p:sp>
        <p:nvSpPr>
          <p:cNvPr id="20" name="Text 18"/>
          <p:cNvSpPr txBox="1"/>
          <p:nvPr/>
        </p:nvSpPr>
        <p:spPr>
          <a:xfrm>
            <a:off x="7571232" y="2194560"/>
            <a:ext cx="1755648" cy="457200"/>
          </a:xfrm>
          <a:prstGeom prst="rect">
            <a:avLst/>
          </a:prstGeom>
          <a:noFill/>
          <a:ln/>
        </p:spPr>
        <p:txBody>
          <a:bodyPr wrap="square" lIns="0" tIns="0" rIns="0" bIns="0" rtlCol="0" anchor="ctr"/>
          <a:lstStyle/>
          <a:p>
            <a:pPr indent="0" marL="0">
              <a:buNone/>
            </a:pPr>
            <a:r>
              <a:rPr lang="en-US" sz="1500" b="1" dirty="0">
                <a:solidFill>
                  <a:srgbClr val="FFCD05"/>
                </a:solidFill>
                <a:latin typeface="Cambria" pitchFamily="34" charset="0"/>
                <a:ea typeface="Cambria" pitchFamily="34" charset="-122"/>
                <a:cs typeface="Cambria" pitchFamily="34" charset="-120"/>
              </a:rPr>
              <a:t>Founding partner</a:t>
            </a:r>
            <a:endParaRPr lang="en-US" sz="1500" dirty="0"/>
          </a:p>
        </p:txBody>
      </p:sp>
      <p:sp>
        <p:nvSpPr>
          <p:cNvPr id="21" name="Text 19"/>
          <p:cNvSpPr txBox="1"/>
          <p:nvPr/>
        </p:nvSpPr>
        <p:spPr>
          <a:xfrm>
            <a:off x="7571232" y="2697480"/>
            <a:ext cx="1755648"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$100,000</a:t>
            </a:r>
            <a:endParaRPr lang="en-US" sz="2400" dirty="0"/>
          </a:p>
        </p:txBody>
      </p:sp>
      <p:sp>
        <p:nvSpPr>
          <p:cNvPr id="22" name="Text 20"/>
          <p:cNvSpPr txBox="1"/>
          <p:nvPr/>
        </p:nvSpPr>
        <p:spPr>
          <a:xfrm>
            <a:off x="7571232" y="3383280"/>
            <a:ext cx="1755648" cy="1188720"/>
          </a:xfrm>
          <a:prstGeom prst="rect">
            <a:avLst/>
          </a:prstGeom>
          <a:noFill/>
          <a:ln/>
        </p:spPr>
        <p:txBody>
          <a:bodyPr wrap="square" lIns="0" tIns="0" rIns="0" bIns="0" rtlCol="0" anchor="t"/>
          <a:lstStyle/>
          <a:p>
            <a:pPr indent="0" marL="0">
              <a:buNone/>
            </a:pPr>
            <a:r>
              <a:rPr lang="en-US" sz="1150" dirty="0">
                <a:solidFill>
                  <a:srgbClr val="FDF8F0"/>
                </a:solidFill>
                <a:latin typeface="Calibri" pitchFamily="34" charset="0"/>
                <a:ea typeface="Calibri" pitchFamily="34" charset="-122"/>
                <a:cs typeface="Calibri" pitchFamily="34" charset="-120"/>
              </a:rPr>
              <a:t>A custom year-round volunteer programme for your team on one track.</a:t>
            </a:r>
            <a:endParaRPr lang="en-US" sz="1150" dirty="0"/>
          </a:p>
        </p:txBody>
      </p:sp>
      <p:sp>
        <p:nvSpPr>
          <p:cNvPr id="23" name="Text 21"/>
          <p:cNvSpPr txBox="1"/>
          <p:nvPr/>
        </p:nvSpPr>
        <p:spPr>
          <a:xfrm>
            <a:off x="7571232" y="4709160"/>
            <a:ext cx="1755648" cy="914400"/>
          </a:xfrm>
          <a:prstGeom prst="rect">
            <a:avLst/>
          </a:prstGeom>
          <a:noFill/>
          <a:ln/>
        </p:spPr>
        <p:txBody>
          <a:bodyPr wrap="square" lIns="0" tIns="0" rIns="0" bIns="0" rtlCol="0" anchor="t"/>
          <a:lstStyle/>
          <a:p>
            <a:pPr indent="0" marL="0">
              <a:buNone/>
            </a:pPr>
            <a:r>
              <a:rPr lang="en-US" sz="1100" i="1" dirty="0">
                <a:solidFill>
                  <a:srgbClr val="E8DCC6"/>
                </a:solidFill>
                <a:latin typeface="Calibri" pitchFamily="34" charset="0"/>
                <a:ea typeface="Calibri" pitchFamily="34" charset="-122"/>
                <a:cs typeface="Calibri" pitchFamily="34" charset="-120"/>
              </a:rPr>
              <a:t>Lead recognition, quarterly reports</a:t>
            </a:r>
            <a:endParaRPr lang="en-US" sz="1100" dirty="0"/>
          </a:p>
        </p:txBody>
      </p:sp>
      <p:sp>
        <p:nvSpPr>
          <p:cNvPr id="24" name="Shape 22"/>
          <p:cNvSpPr/>
          <p:nvPr/>
        </p:nvSpPr>
        <p:spPr>
          <a:xfrm>
            <a:off x="9637776" y="2011680"/>
            <a:ext cx="2121408" cy="3749040"/>
          </a:xfrm>
          <a:prstGeom prst="roundRect">
            <a:avLst>
              <a:gd name="adj" fmla="val 5172"/>
            </a:avLst>
          </a:prstGeom>
          <a:solidFill>
            <a:srgbClr val="4A3527"/>
          </a:solidFill>
          <a:ln w="12700">
            <a:solidFill>
              <a:srgbClr val="4A3527"/>
            </a:solidFill>
            <a:prstDash val="solid"/>
          </a:ln>
        </p:spPr>
      </p:sp>
      <p:sp>
        <p:nvSpPr>
          <p:cNvPr id="25" name="Text 23"/>
          <p:cNvSpPr txBox="1"/>
          <p:nvPr/>
        </p:nvSpPr>
        <p:spPr>
          <a:xfrm>
            <a:off x="9820656" y="2194560"/>
            <a:ext cx="1755648" cy="457200"/>
          </a:xfrm>
          <a:prstGeom prst="rect">
            <a:avLst/>
          </a:prstGeom>
          <a:noFill/>
          <a:ln/>
        </p:spPr>
        <p:txBody>
          <a:bodyPr wrap="square" lIns="0" tIns="0" rIns="0" bIns="0" rtlCol="0" anchor="ctr"/>
          <a:lstStyle/>
          <a:p>
            <a:pPr indent="0" marL="0">
              <a:buNone/>
            </a:pPr>
            <a:r>
              <a:rPr lang="en-US" sz="1500" b="1" dirty="0">
                <a:solidFill>
                  <a:srgbClr val="FFCD05"/>
                </a:solidFill>
                <a:latin typeface="Cambria" pitchFamily="34" charset="0"/>
                <a:ea typeface="Cambria" pitchFamily="34" charset="-122"/>
                <a:cs typeface="Cambria" pitchFamily="34" charset="-120"/>
              </a:rPr>
              <a:t>Title sponsor</a:t>
            </a:r>
            <a:endParaRPr lang="en-US" sz="1500" dirty="0"/>
          </a:p>
        </p:txBody>
      </p:sp>
      <p:sp>
        <p:nvSpPr>
          <p:cNvPr id="26" name="Text 24"/>
          <p:cNvSpPr txBox="1"/>
          <p:nvPr/>
        </p:nvSpPr>
        <p:spPr>
          <a:xfrm>
            <a:off x="9820656" y="2697480"/>
            <a:ext cx="1755648"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$300,000</a:t>
            </a:r>
            <a:endParaRPr lang="en-US" sz="2400" dirty="0"/>
          </a:p>
        </p:txBody>
      </p:sp>
      <p:sp>
        <p:nvSpPr>
          <p:cNvPr id="27" name="Text 25"/>
          <p:cNvSpPr txBox="1"/>
          <p:nvPr/>
        </p:nvSpPr>
        <p:spPr>
          <a:xfrm>
            <a:off x="9820656" y="3383280"/>
            <a:ext cx="1755648" cy="1188720"/>
          </a:xfrm>
          <a:prstGeom prst="rect">
            <a:avLst/>
          </a:prstGeom>
          <a:noFill/>
          <a:ln/>
        </p:spPr>
        <p:txBody>
          <a:bodyPr wrap="square" lIns="0" tIns="0" rIns="0" bIns="0" rtlCol="0" anchor="t"/>
          <a:lstStyle/>
          <a:p>
            <a:pPr indent="0" marL="0">
              <a:buNone/>
            </a:pPr>
            <a:r>
              <a:rPr lang="en-US" sz="1150" dirty="0">
                <a:solidFill>
                  <a:srgbClr val="FDF8F0"/>
                </a:solidFill>
                <a:latin typeface="Calibri" pitchFamily="34" charset="0"/>
                <a:ea typeface="Calibri" pitchFamily="34" charset="-122"/>
                <a:cs typeface="Calibri" pitchFamily="34" charset="-120"/>
              </a:rPr>
              <a:t>All four tracks, the virtual museum, and core team capacity.</a:t>
            </a:r>
            <a:endParaRPr lang="en-US" sz="1150" dirty="0"/>
          </a:p>
        </p:txBody>
      </p:sp>
      <p:sp>
        <p:nvSpPr>
          <p:cNvPr id="28" name="Text 26"/>
          <p:cNvSpPr txBox="1"/>
          <p:nvPr/>
        </p:nvSpPr>
        <p:spPr>
          <a:xfrm>
            <a:off x="9820656" y="4709160"/>
            <a:ext cx="1755648" cy="914400"/>
          </a:xfrm>
          <a:prstGeom prst="rect">
            <a:avLst/>
          </a:prstGeom>
          <a:noFill/>
          <a:ln/>
        </p:spPr>
        <p:txBody>
          <a:bodyPr wrap="square" lIns="0" tIns="0" rIns="0" bIns="0" rtlCol="0" anchor="t"/>
          <a:lstStyle/>
          <a:p>
            <a:pPr indent="0" marL="0">
              <a:buNone/>
            </a:pPr>
            <a:r>
              <a:rPr lang="en-US" sz="1100" i="1" dirty="0">
                <a:solidFill>
                  <a:srgbClr val="E8DCC6"/>
                </a:solidFill>
                <a:latin typeface="Calibri" pitchFamily="34" charset="0"/>
                <a:ea typeface="Calibri" pitchFamily="34" charset="-122"/>
                <a:cs typeface="Calibri" pitchFamily="34" charset="-120"/>
              </a:rPr>
              <a:t>Title sponsor of the museum, monthly reports</a:t>
            </a:r>
            <a:endParaRPr lang="en-US" sz="1100" dirty="0"/>
          </a:p>
        </p:txBody>
      </p:sp>
      <p:sp>
        <p:nvSpPr>
          <p:cNvPr id="29" name="Text 27"/>
          <p:cNvSpPr txBox="1"/>
          <p:nvPr/>
        </p:nvSpPr>
        <p:spPr>
          <a:xfrm>
            <a:off x="640080" y="5943600"/>
            <a:ext cx="10972800" cy="457200"/>
          </a:xfrm>
          <a:prstGeom prst="rect">
            <a:avLst/>
          </a:prstGeom>
          <a:noFill/>
          <a:ln/>
        </p:spPr>
        <p:txBody>
          <a:bodyPr wrap="square" lIns="0" tIns="0" rIns="0" bIns="0" rtlCol="0" anchor="ctr"/>
          <a:lstStyle/>
          <a:p>
            <a:pPr indent="0" marL="0">
              <a:buNone/>
            </a:pPr>
            <a:r>
              <a:rPr lang="en-US" sz="1200" i="1" dirty="0">
                <a:solidFill>
                  <a:srgbClr val="7D6A58"/>
                </a:solidFill>
                <a:latin typeface="Calibri" pitchFamily="34" charset="0"/>
                <a:ea typeface="Calibri" pitchFamily="34" charset="-122"/>
                <a:cs typeface="Calibri" pitchFamily="34" charset="-120"/>
              </a:rPr>
              <a:t>Every level includes credit on the site and in the 3D experience, monthly numbers, and a tax receipt through our fiscal sponsor.</a:t>
            </a:r>
            <a:endParaRPr lang="en-US" sz="1200" dirty="0"/>
          </a:p>
        </p:txBody>
      </p:sp>
      <p:sp>
        <p:nvSpPr>
          <p:cNvPr id="30" name="Text 28"/>
          <p:cNvSpPr txBox="1"/>
          <p:nvPr/>
        </p:nvSpPr>
        <p:spPr>
          <a:xfrm>
            <a:off x="9811512" y="6355080"/>
            <a:ext cx="1920240" cy="274320"/>
          </a:xfrm>
          <a:prstGeom prst="rect">
            <a:avLst/>
          </a:prstGeom>
          <a:noFill/>
          <a:ln/>
        </p:spPr>
        <p:txBody>
          <a:bodyPr wrap="square" lIns="0" tIns="0" rIns="0" bIns="0" rtlCol="0" anchor="ctr"/>
          <a:lstStyle/>
          <a:p>
            <a:pPr algn="r" indent="0" marL="0">
              <a:buNone/>
            </a:pPr>
            <a:r>
              <a:rPr lang="en-US" sz="1100" dirty="0">
                <a:solidFill>
                  <a:srgbClr val="7D6A58"/>
                </a:solidFill>
                <a:latin typeface="Calibri" pitchFamily="34" charset="0"/>
                <a:ea typeface="Calibri" pitchFamily="34" charset="-122"/>
                <a:cs typeface="Calibri" pitchFamily="34" charset="-120"/>
              </a:rPr>
              <a:t>tanitxr.org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40080"/>
            <a:ext cx="7315200" cy="274320"/>
          </a:xfrm>
          <a:prstGeom prst="rect">
            <a:avLst/>
          </a:prstGeom>
          <a:noFill/>
          <a:ln/>
        </p:spPr>
        <p:txBody>
          <a:bodyPr wrap="square" lIns="0" tIns="0" rIns="0" bIns="0" rtlCol="0" anchor="ctr"/>
          <a:lstStyle/>
          <a:p>
            <a:pPr indent="0" marL="0">
              <a:buNone/>
            </a:pPr>
            <a:r>
              <a:rPr lang="en-US" sz="1200" b="1" spc="400" kern="0" dirty="0">
                <a:solidFill>
                  <a:srgbClr val="A35F3F"/>
                </a:solidFill>
                <a:latin typeface="Calibri" pitchFamily="34" charset="0"/>
                <a:ea typeface="Calibri" pitchFamily="34" charset="-122"/>
                <a:cs typeface="Calibri" pitchFamily="34" charset="-120"/>
              </a:rPr>
              <a:t>THE PEOPLE</a:t>
            </a:r>
            <a:endParaRPr lang="en-US" sz="1200" dirty="0"/>
          </a:p>
        </p:txBody>
      </p:sp>
      <p:sp>
        <p:nvSpPr>
          <p:cNvPr id="3" name="Text 1"/>
          <p:cNvSpPr txBox="1"/>
          <p:nvPr/>
        </p:nvSpPr>
        <p:spPr>
          <a:xfrm>
            <a:off x="640080" y="960120"/>
            <a:ext cx="10972800" cy="822960"/>
          </a:xfrm>
          <a:prstGeom prst="rect">
            <a:avLst/>
          </a:prstGeom>
          <a:noFill/>
          <a:ln/>
        </p:spPr>
        <p:txBody>
          <a:bodyPr wrap="square" lIns="0" tIns="0" rIns="0" bIns="0" rtlCol="0" anchor="ctr"/>
          <a:lstStyle/>
          <a:p>
            <a:pPr indent="0" marL="0">
              <a:buNone/>
            </a:pPr>
            <a:r>
              <a:rPr lang="en-US" sz="3200" b="1" dirty="0">
                <a:solidFill>
                  <a:srgbClr val="2E2118"/>
                </a:solidFill>
                <a:latin typeface="Cambria" pitchFamily="34" charset="0"/>
                <a:ea typeface="Cambria" pitchFamily="34" charset="-122"/>
                <a:cs typeface="Cambria" pitchFamily="34" charset="-120"/>
              </a:rPr>
              <a:t>Local roots, global reach</a:t>
            </a:r>
            <a:endParaRPr lang="en-US" sz="3200" dirty="0"/>
          </a:p>
        </p:txBody>
      </p:sp>
      <p:pic>
        <p:nvPicPr>
          <p:cNvPr id="4" name="Image 0" descr="/Users/inessaid/Documents/tanitxr.org/media/InesSaid_EE30U30_1.jpg">    </p:cNvPr>
          <p:cNvPicPr>
            <a:picLocks noChangeAspect="1"/>
          </p:cNvPicPr>
          <p:nvPr/>
        </p:nvPicPr>
        <p:blipFill>
          <a:blip r:embed="rId1"/>
          <a:srcRect l="0" r="0" t="0" b="0"/>
          <a:stretch/>
        </p:blipFill>
        <p:spPr>
          <a:xfrm>
            <a:off x="640080" y="2103120"/>
            <a:ext cx="3566160" cy="2514600"/>
          </a:xfrm>
          <a:prstGeom prst="rect">
            <a:avLst/>
          </a:prstGeom>
        </p:spPr>
      </p:pic>
      <p:sp>
        <p:nvSpPr>
          <p:cNvPr id="5" name="Text 2"/>
          <p:cNvSpPr txBox="1"/>
          <p:nvPr/>
        </p:nvSpPr>
        <p:spPr>
          <a:xfrm>
            <a:off x="640080" y="4709160"/>
            <a:ext cx="3566160" cy="365760"/>
          </a:xfrm>
          <a:prstGeom prst="rect">
            <a:avLst/>
          </a:prstGeom>
          <a:noFill/>
          <a:ln/>
        </p:spPr>
        <p:txBody>
          <a:bodyPr wrap="square" lIns="0" tIns="0" rIns="0" bIns="0" rtlCol="0" anchor="ctr"/>
          <a:lstStyle/>
          <a:p>
            <a:pPr indent="0" marL="0">
              <a:buNone/>
            </a:pPr>
            <a:r>
              <a:rPr lang="en-US" sz="1500" b="1" dirty="0">
                <a:solidFill>
                  <a:srgbClr val="4A3527"/>
                </a:solidFill>
                <a:latin typeface="Cambria" pitchFamily="34" charset="0"/>
                <a:ea typeface="Cambria" pitchFamily="34" charset="-122"/>
                <a:cs typeface="Cambria" pitchFamily="34" charset="-120"/>
              </a:rPr>
              <a:t>Ines Said, Founder</a:t>
            </a:r>
            <a:endParaRPr lang="en-US" sz="1500" dirty="0"/>
          </a:p>
        </p:txBody>
      </p:sp>
      <p:sp>
        <p:nvSpPr>
          <p:cNvPr id="6" name="Text 3"/>
          <p:cNvSpPr txBox="1"/>
          <p:nvPr/>
        </p:nvSpPr>
        <p:spPr>
          <a:xfrm>
            <a:off x="640080" y="5074920"/>
            <a:ext cx="3566160" cy="1097280"/>
          </a:xfrm>
          <a:prstGeom prst="rect">
            <a:avLst/>
          </a:prstGeom>
          <a:noFill/>
          <a:ln/>
        </p:spPr>
        <p:txBody>
          <a:bodyPr wrap="square" lIns="0" tIns="0" rIns="0" bIns="0" rtlCol="0" anchor="t"/>
          <a:lstStyle/>
          <a:p>
            <a:pPr indent="0" marL="0">
              <a:buNone/>
            </a:pPr>
            <a:r>
              <a:rPr lang="en-US" sz="1150" dirty="0">
                <a:solidFill>
                  <a:srgbClr val="2E2118"/>
                </a:solidFill>
                <a:latin typeface="Calibri" pitchFamily="34" charset="0"/>
                <a:ea typeface="Calibri" pitchFamily="34" charset="-122"/>
                <a:cs typeface="Calibri" pitchFamily="34" charset="-120"/>
              </a:rPr>
              <a:t>Tunisian XR developer who grew up beside the ruins of Carthage. Smithsonian installations, IEEE best paper, AWE 2026 speaker, Auggie Awards finalist.</a:t>
            </a:r>
            <a:endParaRPr lang="en-US" sz="1150" dirty="0"/>
          </a:p>
        </p:txBody>
      </p:sp>
      <p:sp>
        <p:nvSpPr>
          <p:cNvPr id="7" name="Shape 4"/>
          <p:cNvSpPr/>
          <p:nvPr/>
        </p:nvSpPr>
        <p:spPr>
          <a:xfrm>
            <a:off x="4663440" y="2103120"/>
            <a:ext cx="3246120" cy="960120"/>
          </a:xfrm>
          <a:prstGeom prst="roundRect">
            <a:avLst>
              <a:gd name="adj" fmla="val 9524"/>
            </a:avLst>
          </a:prstGeom>
          <a:solidFill>
            <a:srgbClr val="FDF8F0"/>
          </a:solidFill>
          <a:ln w="12700">
            <a:solidFill>
              <a:srgbClr val="E9DFCC"/>
            </a:solidFill>
            <a:prstDash val="solid"/>
          </a:ln>
        </p:spPr>
      </p:sp>
      <p:sp>
        <p:nvSpPr>
          <p:cNvPr id="8" name="Text 5"/>
          <p:cNvSpPr txBox="1"/>
          <p:nvPr/>
        </p:nvSpPr>
        <p:spPr>
          <a:xfrm>
            <a:off x="4846320" y="2267712"/>
            <a:ext cx="2926080" cy="365760"/>
          </a:xfrm>
          <a:prstGeom prst="rect">
            <a:avLst/>
          </a:prstGeom>
          <a:noFill/>
          <a:ln/>
        </p:spPr>
        <p:txBody>
          <a:bodyPr wrap="square" lIns="0" tIns="0" rIns="0" bIns="0" rtlCol="0" anchor="ctr"/>
          <a:lstStyle/>
          <a:p>
            <a:pPr indent="0" marL="0">
              <a:buNone/>
            </a:pPr>
            <a:r>
              <a:rPr lang="en-US" sz="1400" b="1" dirty="0">
                <a:solidFill>
                  <a:srgbClr val="4A3527"/>
                </a:solidFill>
                <a:latin typeface="Cambria" pitchFamily="34" charset="0"/>
                <a:ea typeface="Cambria" pitchFamily="34" charset="-122"/>
                <a:cs typeface="Cambria" pitchFamily="34" charset="-120"/>
              </a:rPr>
              <a:t>Julia Moreno-Molen</a:t>
            </a:r>
            <a:endParaRPr lang="en-US" sz="1400" dirty="0"/>
          </a:p>
        </p:txBody>
      </p:sp>
      <p:sp>
        <p:nvSpPr>
          <p:cNvPr id="9" name="Text 6"/>
          <p:cNvSpPr txBox="1"/>
          <p:nvPr/>
        </p:nvSpPr>
        <p:spPr>
          <a:xfrm>
            <a:off x="4846320" y="2633472"/>
            <a:ext cx="2926080" cy="320040"/>
          </a:xfrm>
          <a:prstGeom prst="rect">
            <a:avLst/>
          </a:prstGeom>
          <a:noFill/>
          <a:ln/>
        </p:spPr>
        <p:txBody>
          <a:bodyPr wrap="square" lIns="0" tIns="0" rIns="0" bIns="0" rtlCol="0" anchor="ctr"/>
          <a:lstStyle/>
          <a:p>
            <a:pPr indent="0" marL="0">
              <a:buNone/>
            </a:pPr>
            <a:r>
              <a:rPr lang="en-US" sz="1150" dirty="0">
                <a:solidFill>
                  <a:srgbClr val="7D6A58"/>
                </a:solidFill>
                <a:latin typeface="Calibri" pitchFamily="34" charset="0"/>
                <a:ea typeface="Calibri" pitchFamily="34" charset="-122"/>
                <a:cs typeface="Calibri" pitchFamily="34" charset="-120"/>
              </a:rPr>
              <a:t>Project Manager</a:t>
            </a:r>
            <a:endParaRPr lang="en-US" sz="1150" dirty="0"/>
          </a:p>
        </p:txBody>
      </p:sp>
      <p:sp>
        <p:nvSpPr>
          <p:cNvPr id="10" name="Shape 7"/>
          <p:cNvSpPr/>
          <p:nvPr/>
        </p:nvSpPr>
        <p:spPr>
          <a:xfrm>
            <a:off x="8138160" y="2103120"/>
            <a:ext cx="3246120" cy="960120"/>
          </a:xfrm>
          <a:prstGeom prst="roundRect">
            <a:avLst>
              <a:gd name="adj" fmla="val 9524"/>
            </a:avLst>
          </a:prstGeom>
          <a:solidFill>
            <a:srgbClr val="FDF8F0"/>
          </a:solidFill>
          <a:ln w="12700">
            <a:solidFill>
              <a:srgbClr val="E9DFCC"/>
            </a:solidFill>
            <a:prstDash val="solid"/>
          </a:ln>
        </p:spPr>
      </p:sp>
      <p:sp>
        <p:nvSpPr>
          <p:cNvPr id="11" name="Text 8"/>
          <p:cNvSpPr txBox="1"/>
          <p:nvPr/>
        </p:nvSpPr>
        <p:spPr>
          <a:xfrm>
            <a:off x="8321040" y="2267712"/>
            <a:ext cx="2926080" cy="365760"/>
          </a:xfrm>
          <a:prstGeom prst="rect">
            <a:avLst/>
          </a:prstGeom>
          <a:noFill/>
          <a:ln/>
        </p:spPr>
        <p:txBody>
          <a:bodyPr wrap="square" lIns="0" tIns="0" rIns="0" bIns="0" rtlCol="0" anchor="ctr"/>
          <a:lstStyle/>
          <a:p>
            <a:pPr indent="0" marL="0">
              <a:buNone/>
            </a:pPr>
            <a:r>
              <a:rPr lang="en-US" sz="1400" b="1" dirty="0">
                <a:solidFill>
                  <a:srgbClr val="4A3527"/>
                </a:solidFill>
                <a:latin typeface="Cambria" pitchFamily="34" charset="0"/>
                <a:ea typeface="Cambria" pitchFamily="34" charset="-122"/>
                <a:cs typeface="Cambria" pitchFamily="34" charset="-120"/>
              </a:rPr>
              <a:t>Melek Said</a:t>
            </a:r>
            <a:endParaRPr lang="en-US" sz="1400" dirty="0"/>
          </a:p>
        </p:txBody>
      </p:sp>
      <p:sp>
        <p:nvSpPr>
          <p:cNvPr id="12" name="Text 9"/>
          <p:cNvSpPr txBox="1"/>
          <p:nvPr/>
        </p:nvSpPr>
        <p:spPr>
          <a:xfrm>
            <a:off x="8321040" y="2633472"/>
            <a:ext cx="2926080" cy="320040"/>
          </a:xfrm>
          <a:prstGeom prst="rect">
            <a:avLst/>
          </a:prstGeom>
          <a:noFill/>
          <a:ln/>
        </p:spPr>
        <p:txBody>
          <a:bodyPr wrap="square" lIns="0" tIns="0" rIns="0" bIns="0" rtlCol="0" anchor="ctr"/>
          <a:lstStyle/>
          <a:p>
            <a:pPr indent="0" marL="0">
              <a:buNone/>
            </a:pPr>
            <a:r>
              <a:rPr lang="en-US" sz="1150" dirty="0">
                <a:solidFill>
                  <a:srgbClr val="7D6A58"/>
                </a:solidFill>
                <a:latin typeface="Calibri" pitchFamily="34" charset="0"/>
                <a:ea typeface="Calibri" pitchFamily="34" charset="-122"/>
                <a:cs typeface="Calibri" pitchFamily="34" charset="-120"/>
              </a:rPr>
              <a:t>Regional Manager, Tunisia</a:t>
            </a:r>
            <a:endParaRPr lang="en-US" sz="1150" dirty="0"/>
          </a:p>
        </p:txBody>
      </p:sp>
      <p:sp>
        <p:nvSpPr>
          <p:cNvPr id="13" name="Shape 10"/>
          <p:cNvSpPr/>
          <p:nvPr/>
        </p:nvSpPr>
        <p:spPr>
          <a:xfrm>
            <a:off x="4663440" y="3246120"/>
            <a:ext cx="3246120" cy="960120"/>
          </a:xfrm>
          <a:prstGeom prst="roundRect">
            <a:avLst>
              <a:gd name="adj" fmla="val 9524"/>
            </a:avLst>
          </a:prstGeom>
          <a:solidFill>
            <a:srgbClr val="FDF8F0"/>
          </a:solidFill>
          <a:ln w="12700">
            <a:solidFill>
              <a:srgbClr val="E9DFCC"/>
            </a:solidFill>
            <a:prstDash val="solid"/>
          </a:ln>
        </p:spPr>
      </p:sp>
      <p:sp>
        <p:nvSpPr>
          <p:cNvPr id="14" name="Text 11"/>
          <p:cNvSpPr txBox="1"/>
          <p:nvPr/>
        </p:nvSpPr>
        <p:spPr>
          <a:xfrm>
            <a:off x="4846320" y="3410712"/>
            <a:ext cx="2926080" cy="365760"/>
          </a:xfrm>
          <a:prstGeom prst="rect">
            <a:avLst/>
          </a:prstGeom>
          <a:noFill/>
          <a:ln/>
        </p:spPr>
        <p:txBody>
          <a:bodyPr wrap="square" lIns="0" tIns="0" rIns="0" bIns="0" rtlCol="0" anchor="ctr"/>
          <a:lstStyle/>
          <a:p>
            <a:pPr indent="0" marL="0">
              <a:buNone/>
            </a:pPr>
            <a:r>
              <a:rPr lang="en-US" sz="1400" b="1" dirty="0">
                <a:solidFill>
                  <a:srgbClr val="4A3527"/>
                </a:solidFill>
                <a:latin typeface="Cambria" pitchFamily="34" charset="0"/>
                <a:ea typeface="Cambria" pitchFamily="34" charset="-122"/>
                <a:cs typeface="Cambria" pitchFamily="34" charset="-120"/>
              </a:rPr>
              <a:t>Dr. Laura Harrison</a:t>
            </a:r>
            <a:endParaRPr lang="en-US" sz="1400" dirty="0"/>
          </a:p>
        </p:txBody>
      </p:sp>
      <p:sp>
        <p:nvSpPr>
          <p:cNvPr id="15" name="Text 12"/>
          <p:cNvSpPr txBox="1"/>
          <p:nvPr/>
        </p:nvSpPr>
        <p:spPr>
          <a:xfrm>
            <a:off x="4846320" y="3776472"/>
            <a:ext cx="2926080" cy="320040"/>
          </a:xfrm>
          <a:prstGeom prst="rect">
            <a:avLst/>
          </a:prstGeom>
          <a:noFill/>
          <a:ln/>
        </p:spPr>
        <p:txBody>
          <a:bodyPr wrap="square" lIns="0" tIns="0" rIns="0" bIns="0" rtlCol="0" anchor="ctr"/>
          <a:lstStyle/>
          <a:p>
            <a:pPr indent="0" marL="0">
              <a:buNone/>
            </a:pPr>
            <a:r>
              <a:rPr lang="en-US" sz="1150" dirty="0">
                <a:solidFill>
                  <a:srgbClr val="7D6A58"/>
                </a:solidFill>
                <a:latin typeface="Calibri" pitchFamily="34" charset="0"/>
                <a:ea typeface="Calibri" pitchFamily="34" charset="-122"/>
                <a:cs typeface="Calibri" pitchFamily="34" charset="-120"/>
              </a:rPr>
              <a:t>Chief Scientist, archaeology</a:t>
            </a:r>
            <a:endParaRPr lang="en-US" sz="1150" dirty="0"/>
          </a:p>
        </p:txBody>
      </p:sp>
      <p:sp>
        <p:nvSpPr>
          <p:cNvPr id="16" name="Shape 13"/>
          <p:cNvSpPr/>
          <p:nvPr/>
        </p:nvSpPr>
        <p:spPr>
          <a:xfrm>
            <a:off x="8138160" y="3246120"/>
            <a:ext cx="3246120" cy="960120"/>
          </a:xfrm>
          <a:prstGeom prst="roundRect">
            <a:avLst>
              <a:gd name="adj" fmla="val 9524"/>
            </a:avLst>
          </a:prstGeom>
          <a:solidFill>
            <a:srgbClr val="FDF8F0"/>
          </a:solidFill>
          <a:ln w="12700">
            <a:solidFill>
              <a:srgbClr val="E9DFCC"/>
            </a:solidFill>
            <a:prstDash val="solid"/>
          </a:ln>
        </p:spPr>
      </p:sp>
      <p:sp>
        <p:nvSpPr>
          <p:cNvPr id="17" name="Text 14"/>
          <p:cNvSpPr txBox="1"/>
          <p:nvPr/>
        </p:nvSpPr>
        <p:spPr>
          <a:xfrm>
            <a:off x="8321040" y="3410712"/>
            <a:ext cx="2926080" cy="365760"/>
          </a:xfrm>
          <a:prstGeom prst="rect">
            <a:avLst/>
          </a:prstGeom>
          <a:noFill/>
          <a:ln/>
        </p:spPr>
        <p:txBody>
          <a:bodyPr wrap="square" lIns="0" tIns="0" rIns="0" bIns="0" rtlCol="0" anchor="ctr"/>
          <a:lstStyle/>
          <a:p>
            <a:pPr indent="0" marL="0">
              <a:buNone/>
            </a:pPr>
            <a:r>
              <a:rPr lang="en-US" sz="1400" b="1" dirty="0">
                <a:solidFill>
                  <a:srgbClr val="4A3527"/>
                </a:solidFill>
                <a:latin typeface="Cambria" pitchFamily="34" charset="0"/>
                <a:ea typeface="Cambria" pitchFamily="34" charset="-122"/>
                <a:cs typeface="Cambria" pitchFamily="34" charset="-120"/>
              </a:rPr>
              <a:t>Dr. Caroline Nickerson</a:t>
            </a:r>
            <a:endParaRPr lang="en-US" sz="1400" dirty="0"/>
          </a:p>
        </p:txBody>
      </p:sp>
      <p:sp>
        <p:nvSpPr>
          <p:cNvPr id="18" name="Text 15"/>
          <p:cNvSpPr txBox="1"/>
          <p:nvPr/>
        </p:nvSpPr>
        <p:spPr>
          <a:xfrm>
            <a:off x="8321040" y="3776472"/>
            <a:ext cx="2926080" cy="320040"/>
          </a:xfrm>
          <a:prstGeom prst="rect">
            <a:avLst/>
          </a:prstGeom>
          <a:noFill/>
          <a:ln/>
        </p:spPr>
        <p:txBody>
          <a:bodyPr wrap="square" lIns="0" tIns="0" rIns="0" bIns="0" rtlCol="0" anchor="ctr"/>
          <a:lstStyle/>
          <a:p>
            <a:pPr indent="0" marL="0">
              <a:buNone/>
            </a:pPr>
            <a:r>
              <a:rPr lang="en-US" sz="1150" dirty="0">
                <a:solidFill>
                  <a:srgbClr val="7D6A58"/>
                </a:solidFill>
                <a:latin typeface="Calibri" pitchFamily="34" charset="0"/>
                <a:ea typeface="Calibri" pitchFamily="34" charset="-122"/>
                <a:cs typeface="Calibri" pitchFamily="34" charset="-120"/>
              </a:rPr>
              <a:t>Partnerships and Community</a:t>
            </a:r>
            <a:endParaRPr lang="en-US" sz="1150" dirty="0"/>
          </a:p>
        </p:txBody>
      </p:sp>
      <p:sp>
        <p:nvSpPr>
          <p:cNvPr id="19" name="Shape 16"/>
          <p:cNvSpPr/>
          <p:nvPr/>
        </p:nvSpPr>
        <p:spPr>
          <a:xfrm>
            <a:off x="4663440" y="4389120"/>
            <a:ext cx="3246120" cy="960120"/>
          </a:xfrm>
          <a:prstGeom prst="roundRect">
            <a:avLst>
              <a:gd name="adj" fmla="val 9524"/>
            </a:avLst>
          </a:prstGeom>
          <a:solidFill>
            <a:srgbClr val="FDF8F0"/>
          </a:solidFill>
          <a:ln w="12700">
            <a:solidFill>
              <a:srgbClr val="E9DFCC"/>
            </a:solidFill>
            <a:prstDash val="solid"/>
          </a:ln>
        </p:spPr>
      </p:sp>
      <p:sp>
        <p:nvSpPr>
          <p:cNvPr id="20" name="Text 17"/>
          <p:cNvSpPr txBox="1"/>
          <p:nvPr/>
        </p:nvSpPr>
        <p:spPr>
          <a:xfrm>
            <a:off x="4846320" y="4553712"/>
            <a:ext cx="2926080" cy="365760"/>
          </a:xfrm>
          <a:prstGeom prst="rect">
            <a:avLst/>
          </a:prstGeom>
          <a:noFill/>
          <a:ln/>
        </p:spPr>
        <p:txBody>
          <a:bodyPr wrap="square" lIns="0" tIns="0" rIns="0" bIns="0" rtlCol="0" anchor="ctr"/>
          <a:lstStyle/>
          <a:p>
            <a:pPr indent="0" marL="0">
              <a:buNone/>
            </a:pPr>
            <a:r>
              <a:rPr lang="en-US" sz="1400" b="1" dirty="0">
                <a:solidFill>
                  <a:srgbClr val="4A3527"/>
                </a:solidFill>
                <a:latin typeface="Cambria" pitchFamily="34" charset="0"/>
                <a:ea typeface="Cambria" pitchFamily="34" charset="-122"/>
                <a:cs typeface="Cambria" pitchFamily="34" charset="-120"/>
              </a:rPr>
              <a:t>Margarita Johnson</a:t>
            </a:r>
            <a:endParaRPr lang="en-US" sz="1400" dirty="0"/>
          </a:p>
        </p:txBody>
      </p:sp>
      <p:sp>
        <p:nvSpPr>
          <p:cNvPr id="21" name="Text 18"/>
          <p:cNvSpPr txBox="1"/>
          <p:nvPr/>
        </p:nvSpPr>
        <p:spPr>
          <a:xfrm>
            <a:off x="4846320" y="4919472"/>
            <a:ext cx="2926080" cy="320040"/>
          </a:xfrm>
          <a:prstGeom prst="rect">
            <a:avLst/>
          </a:prstGeom>
          <a:noFill/>
          <a:ln/>
        </p:spPr>
        <p:txBody>
          <a:bodyPr wrap="square" lIns="0" tIns="0" rIns="0" bIns="0" rtlCol="0" anchor="ctr"/>
          <a:lstStyle/>
          <a:p>
            <a:pPr indent="0" marL="0">
              <a:buNone/>
            </a:pPr>
            <a:r>
              <a:rPr lang="en-US" sz="1150" dirty="0">
                <a:solidFill>
                  <a:srgbClr val="7D6A58"/>
                </a:solidFill>
                <a:latin typeface="Calibri" pitchFamily="34" charset="0"/>
                <a:ea typeface="Calibri" pitchFamily="34" charset="-122"/>
                <a:cs typeface="Calibri" pitchFamily="34" charset="-120"/>
              </a:rPr>
              <a:t>Research and Writing</a:t>
            </a:r>
            <a:endParaRPr lang="en-US" sz="1150" dirty="0"/>
          </a:p>
        </p:txBody>
      </p:sp>
      <p:sp>
        <p:nvSpPr>
          <p:cNvPr id="22" name="Shape 19"/>
          <p:cNvSpPr/>
          <p:nvPr/>
        </p:nvSpPr>
        <p:spPr>
          <a:xfrm>
            <a:off x="8138160" y="4389120"/>
            <a:ext cx="3246120" cy="960120"/>
          </a:xfrm>
          <a:prstGeom prst="roundRect">
            <a:avLst>
              <a:gd name="adj" fmla="val 9524"/>
            </a:avLst>
          </a:prstGeom>
          <a:solidFill>
            <a:srgbClr val="FDF8F0"/>
          </a:solidFill>
          <a:ln w="12700">
            <a:solidFill>
              <a:srgbClr val="E9DFCC"/>
            </a:solidFill>
            <a:prstDash val="solid"/>
          </a:ln>
        </p:spPr>
      </p:sp>
      <p:sp>
        <p:nvSpPr>
          <p:cNvPr id="23" name="Text 20"/>
          <p:cNvSpPr txBox="1"/>
          <p:nvPr/>
        </p:nvSpPr>
        <p:spPr>
          <a:xfrm>
            <a:off x="8321040" y="4553712"/>
            <a:ext cx="2926080" cy="365760"/>
          </a:xfrm>
          <a:prstGeom prst="rect">
            <a:avLst/>
          </a:prstGeom>
          <a:noFill/>
          <a:ln/>
        </p:spPr>
        <p:txBody>
          <a:bodyPr wrap="square" lIns="0" tIns="0" rIns="0" bIns="0" rtlCol="0" anchor="ctr"/>
          <a:lstStyle/>
          <a:p>
            <a:pPr indent="0" marL="0">
              <a:buNone/>
            </a:pPr>
            <a:r>
              <a:rPr lang="en-US" sz="1400" b="1" dirty="0">
                <a:solidFill>
                  <a:srgbClr val="4A3527"/>
                </a:solidFill>
                <a:latin typeface="Cambria" pitchFamily="34" charset="0"/>
                <a:ea typeface="Cambria" pitchFamily="34" charset="-122"/>
                <a:cs typeface="Cambria" pitchFamily="34" charset="-120"/>
              </a:rPr>
              <a:t>Fatma Slama</a:t>
            </a:r>
            <a:endParaRPr lang="en-US" sz="1400" dirty="0"/>
          </a:p>
        </p:txBody>
      </p:sp>
      <p:sp>
        <p:nvSpPr>
          <p:cNvPr id="24" name="Text 21"/>
          <p:cNvSpPr txBox="1"/>
          <p:nvPr/>
        </p:nvSpPr>
        <p:spPr>
          <a:xfrm>
            <a:off x="8321040" y="4919472"/>
            <a:ext cx="2926080" cy="320040"/>
          </a:xfrm>
          <a:prstGeom prst="rect">
            <a:avLst/>
          </a:prstGeom>
          <a:noFill/>
          <a:ln/>
        </p:spPr>
        <p:txBody>
          <a:bodyPr wrap="square" lIns="0" tIns="0" rIns="0" bIns="0" rtlCol="0" anchor="ctr"/>
          <a:lstStyle/>
          <a:p>
            <a:pPr indent="0" marL="0">
              <a:buNone/>
            </a:pPr>
            <a:r>
              <a:rPr lang="en-US" sz="1150" dirty="0">
                <a:solidFill>
                  <a:srgbClr val="7D6A58"/>
                </a:solidFill>
                <a:latin typeface="Calibri" pitchFamily="34" charset="0"/>
                <a:ea typeface="Calibri" pitchFamily="34" charset="-122"/>
                <a:cs typeface="Calibri" pitchFamily="34" charset="-120"/>
              </a:rPr>
              <a:t>Community Liaison, Tunisia</a:t>
            </a:r>
            <a:endParaRPr lang="en-US" sz="1150" dirty="0"/>
          </a:p>
        </p:txBody>
      </p:sp>
      <p:sp>
        <p:nvSpPr>
          <p:cNvPr id="25" name="Text 22"/>
          <p:cNvSpPr txBox="1"/>
          <p:nvPr/>
        </p:nvSpPr>
        <p:spPr>
          <a:xfrm>
            <a:off x="4663440" y="5532120"/>
            <a:ext cx="6766560" cy="640080"/>
          </a:xfrm>
          <a:prstGeom prst="rect">
            <a:avLst/>
          </a:prstGeom>
          <a:noFill/>
          <a:ln/>
        </p:spPr>
        <p:txBody>
          <a:bodyPr wrap="square" lIns="0" tIns="0" rIns="0" bIns="0" rtlCol="0" anchor="ctr"/>
          <a:lstStyle/>
          <a:p>
            <a:pPr indent="0" marL="0">
              <a:buNone/>
            </a:pPr>
            <a:r>
              <a:rPr lang="en-US" sz="1250" i="1" dirty="0">
                <a:solidFill>
                  <a:srgbClr val="7D6A58"/>
                </a:solidFill>
                <a:latin typeface="Calibri" pitchFamily="34" charset="0"/>
                <a:ea typeface="Calibri" pitchFamily="34" charset="-122"/>
                <a:cs typeface="Calibri" pitchFamily="34" charset="-120"/>
              </a:rPr>
              <a:t>And 85+ volunteers: 3D artists, Unity developers, researchers, writers, teachers, in Tunisia, the United States, Europe and Nigeria.</a:t>
            </a:r>
            <a:endParaRPr lang="en-US" sz="1250" dirty="0"/>
          </a:p>
        </p:txBody>
      </p:sp>
      <p:sp>
        <p:nvSpPr>
          <p:cNvPr id="26" name="Text 23"/>
          <p:cNvSpPr txBox="1"/>
          <p:nvPr/>
        </p:nvSpPr>
        <p:spPr>
          <a:xfrm>
            <a:off x="9811512" y="6355080"/>
            <a:ext cx="1920240" cy="274320"/>
          </a:xfrm>
          <a:prstGeom prst="rect">
            <a:avLst/>
          </a:prstGeom>
          <a:noFill/>
          <a:ln/>
        </p:spPr>
        <p:txBody>
          <a:bodyPr wrap="square" lIns="0" tIns="0" rIns="0" bIns="0" rtlCol="0" anchor="ctr"/>
          <a:lstStyle/>
          <a:p>
            <a:pPr algn="r" indent="0" marL="0">
              <a:buNone/>
            </a:pPr>
            <a:r>
              <a:rPr lang="en-US" sz="1100" dirty="0">
                <a:solidFill>
                  <a:srgbClr val="7D6A58"/>
                </a:solidFill>
                <a:latin typeface="Calibri" pitchFamily="34" charset="0"/>
                <a:ea typeface="Calibri" pitchFamily="34" charset="-122"/>
                <a:cs typeface="Calibri" pitchFamily="34" charset="-120"/>
              </a:rPr>
              <a:t>tanitxr.org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41A10"/>
        </a:solidFill>
      </p:bgPr>
    </p:bg>
    <p:spTree>
      <p:nvGrpSpPr>
        <p:cNvPr id="1" name=""/>
        <p:cNvGrpSpPr/>
        <p:nvPr/>
      </p:nvGrpSpPr>
      <p:grpSpPr>
        <a:xfrm>
          <a:off x="0" y="0"/>
          <a:ext cx="0" cy="0"/>
          <a:chOff x="0" y="0"/>
          <a:chExt cx="0" cy="0"/>
        </a:xfrm>
      </p:grpSpPr>
      <p:pic>
        <p:nvPicPr>
          <p:cNvPr id="2" name="Image 0" descr="/Users/inessaid/Documents/tanitxr.org/docs/assets/img/hero-baths-flipped-1920.jpg">    </p:cNvPr>
          <p:cNvPicPr>
            <a:picLocks noChangeAspect="1"/>
          </p:cNvPicPr>
          <p:nvPr/>
        </p:nvPicPr>
        <p:blipFill>
          <a:blip r:embed="rId1">
            <a:alphaModFix amt="30000"/>
          </a:blip>
          <a:srcRect l="0" r="0" t="0" b="0"/>
          <a:stretch/>
        </p:blipFill>
        <p:spPr>
          <a:xfrm>
            <a:off x="0" y="0"/>
            <a:ext cx="12188952" cy="6858000"/>
          </a:xfrm>
          <a:prstGeom prst="rect">
            <a:avLst/>
          </a:prstGeom>
        </p:spPr>
      </p:pic>
      <p:sp>
        <p:nvSpPr>
          <p:cNvPr id="3" name="Text 0"/>
          <p:cNvSpPr txBox="1"/>
          <p:nvPr/>
        </p:nvSpPr>
        <p:spPr>
          <a:xfrm>
            <a:off x="640080" y="1828800"/>
            <a:ext cx="7315200" cy="274320"/>
          </a:xfrm>
          <a:prstGeom prst="rect">
            <a:avLst/>
          </a:prstGeom>
          <a:noFill/>
          <a:ln/>
        </p:spPr>
        <p:txBody>
          <a:bodyPr wrap="square" lIns="0" tIns="0" rIns="0" bIns="0" rtlCol="0" anchor="ctr"/>
          <a:lstStyle/>
          <a:p>
            <a:pPr indent="0" marL="0">
              <a:buNone/>
            </a:pPr>
            <a:r>
              <a:rPr lang="en-US" sz="1200" b="1" spc="400" kern="0" dirty="0">
                <a:solidFill>
                  <a:srgbClr val="FFCD05"/>
                </a:solidFill>
                <a:latin typeface="Calibri" pitchFamily="34" charset="0"/>
                <a:ea typeface="Calibri" pitchFamily="34" charset="-122"/>
                <a:cs typeface="Calibri" pitchFamily="34" charset="-120"/>
              </a:rPr>
              <a:t>START THE CONVERSATION</a:t>
            </a:r>
            <a:endParaRPr lang="en-US" sz="1200" dirty="0"/>
          </a:p>
        </p:txBody>
      </p:sp>
      <p:sp>
        <p:nvSpPr>
          <p:cNvPr id="4" name="Text 1"/>
          <p:cNvSpPr txBox="1"/>
          <p:nvPr/>
        </p:nvSpPr>
        <p:spPr>
          <a:xfrm>
            <a:off x="640080" y="2194560"/>
            <a:ext cx="8229600" cy="14630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Fifteen minutes is enough to see if this fits</a:t>
            </a:r>
            <a:endParaRPr lang="en-US" sz="3800" dirty="0"/>
          </a:p>
        </p:txBody>
      </p:sp>
      <p:sp>
        <p:nvSpPr>
          <p:cNvPr id="5" name="Text 2"/>
          <p:cNvSpPr txBox="1"/>
          <p:nvPr/>
        </p:nvSpPr>
        <p:spPr>
          <a:xfrm>
            <a:off x="640080" y="3703320"/>
            <a:ext cx="7315200" cy="822960"/>
          </a:xfrm>
          <a:prstGeom prst="rect">
            <a:avLst/>
          </a:prstGeom>
          <a:noFill/>
          <a:ln/>
        </p:spPr>
        <p:txBody>
          <a:bodyPr wrap="square" lIns="0" tIns="0" rIns="0" bIns="0" rtlCol="0" anchor="ctr"/>
          <a:lstStyle/>
          <a:p>
            <a:pPr indent="0" marL="0">
              <a:buNone/>
            </a:pPr>
            <a:r>
              <a:rPr lang="en-US" sz="1500" dirty="0">
                <a:solidFill>
                  <a:srgbClr val="E8DCC6"/>
                </a:solidFill>
                <a:latin typeface="Calibri" pitchFamily="34" charset="0"/>
                <a:ea typeface="Calibri" pitchFamily="34" charset="-122"/>
                <a:cs typeface="Calibri" pitchFamily="34" charset="-120"/>
              </a:rPr>
              <a:t>Tell us about your team and what matters to you. We come back with two or three ways to work together, with real numbers.</a:t>
            </a:r>
            <a:endParaRPr lang="en-US" sz="1500" dirty="0"/>
          </a:p>
        </p:txBody>
      </p:sp>
      <p:sp>
        <p:nvSpPr>
          <p:cNvPr id="6" name="Text 3"/>
          <p:cNvSpPr txBox="1"/>
          <p:nvPr/>
        </p:nvSpPr>
        <p:spPr>
          <a:xfrm>
            <a:off x="640080" y="4663440"/>
            <a:ext cx="5486400" cy="457200"/>
          </a:xfrm>
          <a:prstGeom prst="rect">
            <a:avLst/>
          </a:prstGeom>
          <a:noFill/>
          <a:ln/>
        </p:spPr>
        <p:txBody>
          <a:bodyPr wrap="square" lIns="0" tIns="0" rIns="0" bIns="0" rtlCol="0" anchor="ctr"/>
          <a:lstStyle/>
          <a:p>
            <a:pPr indent="0" marL="0">
              <a:buNone/>
            </a:pPr>
            <a:r>
              <a:rPr lang="en-US" sz="2200" b="1" dirty="0">
                <a:solidFill>
                  <a:srgbClr val="FFCD05"/>
                </a:solidFill>
                <a:latin typeface="Calibri" pitchFamily="34" charset="0"/>
                <a:ea typeface="Calibri" pitchFamily="34" charset="-122"/>
                <a:cs typeface="Calibri" pitchFamily="34" charset="-120"/>
              </a:rPr>
              <a:t>info@tanitxr.org</a:t>
            </a:r>
            <a:endParaRPr lang="en-US" sz="2200" dirty="0"/>
          </a:p>
        </p:txBody>
      </p:sp>
      <p:sp>
        <p:nvSpPr>
          <p:cNvPr id="7" name="Text 4"/>
          <p:cNvSpPr txBox="1"/>
          <p:nvPr/>
        </p:nvSpPr>
        <p:spPr>
          <a:xfrm>
            <a:off x="640080" y="5166360"/>
            <a:ext cx="7315200" cy="365760"/>
          </a:xfrm>
          <a:prstGeom prst="rect">
            <a:avLst/>
          </a:prstGeom>
          <a:noFill/>
          <a:ln/>
        </p:spPr>
        <p:txBody>
          <a:bodyPr wrap="square" lIns="0" tIns="0" rIns="0" bIns="0" rtlCol="0" anchor="ctr"/>
          <a:lstStyle/>
          <a:p>
            <a:pPr indent="0" marL="0">
              <a:buNone/>
            </a:pPr>
            <a:r>
              <a:rPr lang="en-US" sz="1400" dirty="0">
                <a:solidFill>
                  <a:srgbClr val="E8DCC6"/>
                </a:solidFill>
                <a:latin typeface="Calibri" pitchFamily="34" charset="0"/>
                <a:ea typeface="Calibri" pitchFamily="34" charset="-122"/>
                <a:cs typeface="Calibri" pitchFamily="34" charset="-120"/>
              </a:rPr>
              <a:t>tanitxr.org/partners  ·  tanitxr.org/explore?tour=1</a:t>
            </a:r>
            <a:endParaRPr lang="en-US" sz="1400" dirty="0"/>
          </a:p>
        </p:txBody>
      </p:sp>
      <p:sp>
        <p:nvSpPr>
          <p:cNvPr id="8" name="Text 5"/>
          <p:cNvSpPr txBox="1"/>
          <p:nvPr/>
        </p:nvSpPr>
        <p:spPr>
          <a:xfrm>
            <a:off x="640080" y="6035040"/>
            <a:ext cx="9144000" cy="320040"/>
          </a:xfrm>
          <a:prstGeom prst="rect">
            <a:avLst/>
          </a:prstGeom>
          <a:noFill/>
          <a:ln/>
        </p:spPr>
        <p:txBody>
          <a:bodyPr wrap="square" lIns="0" tIns="0" rIns="0" bIns="0" rtlCol="0" anchor="ctr"/>
          <a:lstStyle/>
          <a:p>
            <a:pPr indent="0" marL="0">
              <a:buNone/>
            </a:pPr>
            <a:r>
              <a:rPr lang="en-US" sz="1050" dirty="0">
                <a:solidFill>
                  <a:srgbClr val="E8DCC6"/>
                </a:solidFill>
                <a:latin typeface="Calibri" pitchFamily="34" charset="0"/>
                <a:ea typeface="Calibri" pitchFamily="34" charset="-122"/>
                <a:cs typeface="Calibri" pitchFamily="34" charset="-120"/>
              </a:rPr>
              <a:t>Tanit XR is fiscally sponsored by Florida Community Innovation, a U.S. 501(c)(3). Gifts are tax-deductible.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Tanit XR, partnership opportunities</dc:title>
  <dc:subject>PptxGenJS Presentation</dc:subject>
  <dc:creator>Tanit XR</dc:creator>
  <cp:lastModifiedBy>Tanit XR</cp:lastModifiedBy>
  <cp:revision>1</cp:revision>
  <dcterms:created xsi:type="dcterms:W3CDTF">2026-09-18T22:38:50Z</dcterms:created>
  <dcterms:modified xsi:type="dcterms:W3CDTF">2026-09-18T22:38:50Z</dcterms:modified>
</cp:coreProperties>
</file>