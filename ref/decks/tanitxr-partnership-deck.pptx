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four-minute guided visit at tanitxr.org/explore?tour=1 before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Amounts are proposals for the team to confirm before this deck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A10"/>
        </a:solidFill>
      </p:bgPr>
    </p:bg>
    <p:spTree>
      <p:nvGrpSpPr>
        <p:cNvPr id="1" name=""/>
        <p:cNvGrpSpPr/>
        <p:nvPr/>
      </p:nvGrpSpPr>
      <p:grpSpPr>
        <a:xfrm>
          <a:off x="0" y="0"/>
          <a:ext cx="0" cy="0"/>
          <a:chOff x="0" y="0"/>
          <a:chExt cx="0" cy="0"/>
        </a:xfrm>
      </p:grpSpPr>
      <p:pic>
        <p:nvPicPr>
          <p:cNvPr id="2" name="Image 0" descr="/Users/inessaid/Documents/tanitxr.org/docs/assets/img/sv-img-0511-1800.jpg">    </p:cNvPr>
          <p:cNvPicPr>
            <a:picLocks noChangeAspect="1"/>
          </p:cNvPicPr>
          <p:nvPr/>
        </p:nvPicPr>
        <p:blipFill>
          <a:blip r:embed="rId1"/>
          <a:srcRect l="0" r="0" t="0" b="0"/>
          <a:stretch/>
        </p:blipFill>
        <p:spPr>
          <a:xfrm>
            <a:off x="6309360" y="0"/>
            <a:ext cx="5879592" cy="6858000"/>
          </a:xfrm>
          <a:prstGeom prst="rect">
            <a:avLst/>
          </a:prstGeom>
        </p:spPr>
      </p:pic>
      <p:pic>
        <p:nvPicPr>
          <p:cNvPr id="3" name="Image 1" descr="/Users/inessaid/Documents/tanitxr.org/media/tanitxr-logo_red_horizontal.png">    </p:cNvPr>
          <p:cNvPicPr>
            <a:picLocks noChangeAspect="1"/>
          </p:cNvPicPr>
          <p:nvPr/>
        </p:nvPicPr>
        <p:blipFill>
          <a:blip r:embed="rId2"/>
          <a:stretch>
            <a:fillRect/>
          </a:stretch>
        </p:blipFill>
        <p:spPr>
          <a:xfrm>
            <a:off x="640080" y="548640"/>
            <a:ext cx="2194560" cy="914400"/>
          </a:xfrm>
          <a:prstGeom prst="rect">
            <a:avLst/>
          </a:prstGeom>
        </p:spPr>
      </p:pic>
      <p:sp>
        <p:nvSpPr>
          <p:cNvPr id="4" name="Text 0"/>
          <p:cNvSpPr txBox="1"/>
          <p:nvPr/>
        </p:nvSpPr>
        <p:spPr>
          <a:xfrm>
            <a:off x="640080" y="210312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PARTNERSHIP OPPORTUNITIES</a:t>
            </a:r>
            <a:endParaRPr lang="en-US" sz="1200" dirty="0"/>
          </a:p>
        </p:txBody>
      </p:sp>
      <p:sp>
        <p:nvSpPr>
          <p:cNvPr id="5" name="Text 1"/>
          <p:cNvSpPr txBox="1"/>
          <p:nvPr/>
        </p:nvSpPr>
        <p:spPr>
          <a:xfrm>
            <a:off x="640080" y="2468880"/>
            <a:ext cx="5394960" cy="201168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Keep a country's memory, with your name on it</a:t>
            </a:r>
            <a:endParaRPr lang="en-US" sz="4000" dirty="0"/>
          </a:p>
        </p:txBody>
      </p:sp>
      <p:sp>
        <p:nvSpPr>
          <p:cNvPr id="6" name="Text 2"/>
          <p:cNvSpPr txBox="1"/>
          <p:nvPr/>
        </p:nvSpPr>
        <p:spPr>
          <a:xfrm>
            <a:off x="640080" y="4572000"/>
            <a:ext cx="5394960" cy="1097280"/>
          </a:xfrm>
          <a:prstGeom prst="rect">
            <a:avLst/>
          </a:prstGeom>
          <a:noFill/>
          <a:ln/>
        </p:spPr>
        <p:txBody>
          <a:bodyPr wrap="square" lIns="0" tIns="0" rIns="0" bIns="0" rtlCol="0" anchor="ctr"/>
          <a:lstStyle/>
          <a:p>
            <a:pPr indent="0" marL="0">
              <a:buNone/>
            </a:pPr>
            <a:r>
              <a:rPr lang="en-US" sz="1500" dirty="0">
                <a:solidFill>
                  <a:srgbClr val="E8DCC6"/>
                </a:solidFill>
                <a:latin typeface="Calibri" pitchFamily="34" charset="0"/>
                <a:ea typeface="Calibri" pitchFamily="34" charset="-122"/>
                <a:cs typeface="Calibri" pitchFamily="34" charset="-120"/>
              </a:rPr>
              <a:t>Tanit XR is a volunteer community on four continents that brings Tunisia's endangered heritage into 3D and publishes it free, in 3D, AR and VR, alongside the institutions that look after the sites.</a:t>
            </a:r>
            <a:endParaRPr lang="en-US" sz="1500" dirty="0"/>
          </a:p>
        </p:txBody>
      </p:sp>
      <p:sp>
        <p:nvSpPr>
          <p:cNvPr id="7" name="Text 3"/>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E8DCC6"/>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8F0"/>
        </a:solidFill>
      </p:bgPr>
    </p:bg>
    <p:spTree>
      <p:nvGrpSpPr>
        <p:cNvPr id="1" name=""/>
        <p:cNvGrpSpPr/>
        <p:nvPr/>
      </p:nvGrpSpPr>
      <p:grpSpPr>
        <a:xfrm>
          <a:off x="0" y="0"/>
          <a:ext cx="0" cy="0"/>
          <a:chOff x="0" y="0"/>
          <a:chExt cx="0" cy="0"/>
        </a:xfrm>
      </p:grpSpPr>
      <p:pic>
        <p:nvPicPr>
          <p:cNvPr id="2" name="Image 0" descr="/Users/inessaid/Documents/tanitxr.org/docs/assets/img/aug-pxl-0811-150245-1800.jpg">    </p:cNvPr>
          <p:cNvPicPr>
            <a:picLocks noChangeAspect="1"/>
          </p:cNvPicPr>
          <p:nvPr/>
        </p:nvPicPr>
        <p:blipFill>
          <a:blip r:embed="rId1"/>
          <a:srcRect l="0" r="0" t="0" b="0"/>
          <a:stretch/>
        </p:blipFill>
        <p:spPr>
          <a:xfrm>
            <a:off x="0" y="0"/>
            <a:ext cx="5120640" cy="6858000"/>
          </a:xfrm>
          <a:prstGeom prst="rect">
            <a:avLst/>
          </a:prstGeom>
        </p:spPr>
      </p:pic>
      <p:sp>
        <p:nvSpPr>
          <p:cNvPr id="3" name="Text 0"/>
          <p:cNvSpPr txBox="1"/>
          <p:nvPr/>
        </p:nvSpPr>
        <p:spPr>
          <a:xfrm>
            <a:off x="5669280" y="82296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THE PROBLEM</a:t>
            </a:r>
            <a:endParaRPr lang="en-US" sz="1200" dirty="0"/>
          </a:p>
        </p:txBody>
      </p:sp>
      <p:sp>
        <p:nvSpPr>
          <p:cNvPr id="4" name="Text 1"/>
          <p:cNvSpPr txBox="1"/>
          <p:nvPr/>
        </p:nvSpPr>
        <p:spPr>
          <a:xfrm>
            <a:off x="5669280" y="1188720"/>
            <a:ext cx="5852160" cy="12801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Heritage in the open air, with no record</a:t>
            </a:r>
            <a:endParaRPr lang="en-US" sz="3200" dirty="0"/>
          </a:p>
        </p:txBody>
      </p:sp>
      <p:sp>
        <p:nvSpPr>
          <p:cNvPr id="5" name="Shape 2"/>
          <p:cNvSpPr/>
          <p:nvPr/>
        </p:nvSpPr>
        <p:spPr>
          <a:xfrm>
            <a:off x="5669280" y="2770632"/>
            <a:ext cx="146304" cy="146304"/>
          </a:xfrm>
          <a:prstGeom prst="ellipse">
            <a:avLst/>
          </a:prstGeom>
          <a:solidFill>
            <a:srgbClr val="A35F3F"/>
          </a:solidFill>
          <a:ln w="12700">
            <a:solidFill>
              <a:srgbClr val="A35F3F"/>
            </a:solidFill>
            <a:prstDash val="solid"/>
          </a:ln>
        </p:spPr>
      </p:sp>
      <p:sp>
        <p:nvSpPr>
          <p:cNvPr id="6" name="Text 3"/>
          <p:cNvSpPr txBox="1"/>
          <p:nvPr/>
        </p:nvSpPr>
        <p:spPr>
          <a:xfrm>
            <a:off x="5989320" y="2697480"/>
            <a:ext cx="5577840" cy="1005840"/>
          </a:xfrm>
          <a:prstGeom prst="rect">
            <a:avLst/>
          </a:prstGeom>
          <a:noFill/>
          <a:ln/>
        </p:spPr>
        <p:txBody>
          <a:bodyPr wrap="square" lIns="0" tIns="0" rIns="0" bIns="0" rtlCol="0" anchor="t"/>
          <a:lstStyle/>
          <a:p>
            <a:pPr indent="0" marL="0">
              <a:buNone/>
            </a:pPr>
            <a:r>
              <a:rPr lang="en-US" sz="1400" b="1" dirty="0">
                <a:solidFill>
                  <a:srgbClr val="2E2118"/>
                </a:solidFill>
                <a:latin typeface="Calibri" pitchFamily="34" charset="0"/>
                <a:ea typeface="Calibri" pitchFamily="34" charset="-122"/>
                <a:cs typeface="Calibri" pitchFamily="34" charset="-120"/>
              </a:rPr>
              <a:t>Storms, erosion, heat and neglect </a:t>
            </a:r>
            <a:pPr indent="0" marL="0">
              <a:buNone/>
            </a:pPr>
            <a:r>
              <a:rPr lang="en-US" sz="1400" dirty="0">
                <a:solidFill>
                  <a:srgbClr val="2E2118"/>
                </a:solidFill>
                <a:latin typeface="Calibri" pitchFamily="34" charset="0"/>
                <a:ea typeface="Calibri" pitchFamily="34" charset="-122"/>
                <a:cs typeface="Calibri" pitchFamily="34" charset="-120"/>
              </a:rPr>
              <a:t>wear down Punic stelae, Roman mosaics and medina doors faster than institutions can document them.</a:t>
            </a:r>
            <a:endParaRPr lang="en-US" sz="1400" dirty="0"/>
          </a:p>
        </p:txBody>
      </p:sp>
      <p:sp>
        <p:nvSpPr>
          <p:cNvPr id="7" name="Shape 4"/>
          <p:cNvSpPr/>
          <p:nvPr/>
        </p:nvSpPr>
        <p:spPr>
          <a:xfrm>
            <a:off x="5669280" y="3913632"/>
            <a:ext cx="146304" cy="146304"/>
          </a:xfrm>
          <a:prstGeom prst="ellipse">
            <a:avLst/>
          </a:prstGeom>
          <a:solidFill>
            <a:srgbClr val="A35F3F"/>
          </a:solidFill>
          <a:ln w="12700">
            <a:solidFill>
              <a:srgbClr val="A35F3F"/>
            </a:solidFill>
            <a:prstDash val="solid"/>
          </a:ln>
        </p:spPr>
      </p:sp>
      <p:sp>
        <p:nvSpPr>
          <p:cNvPr id="8" name="Text 5"/>
          <p:cNvSpPr txBox="1"/>
          <p:nvPr/>
        </p:nvSpPr>
        <p:spPr>
          <a:xfrm>
            <a:off x="5989320" y="3840480"/>
            <a:ext cx="5577840" cy="1005840"/>
          </a:xfrm>
          <a:prstGeom prst="rect">
            <a:avLst/>
          </a:prstGeom>
          <a:noFill/>
          <a:ln/>
        </p:spPr>
        <p:txBody>
          <a:bodyPr wrap="square" lIns="0" tIns="0" rIns="0" bIns="0" rtlCol="0" anchor="t"/>
          <a:lstStyle/>
          <a:p>
            <a:pPr indent="0" marL="0">
              <a:buNone/>
            </a:pPr>
            <a:r>
              <a:rPr lang="en-US" sz="1400" b="1" dirty="0">
                <a:solidFill>
                  <a:srgbClr val="2E2118"/>
                </a:solidFill>
                <a:latin typeface="Calibri" pitchFamily="34" charset="0"/>
                <a:ea typeface="Calibri" pitchFamily="34" charset="-122"/>
                <a:cs typeface="Calibri" pitchFamily="34" charset="-120"/>
              </a:rPr>
              <a:t>In January 2026 a storm uncovered part of Neapolis </a:t>
            </a:r>
            <a:pPr indent="0" marL="0">
              <a:buNone/>
            </a:pPr>
            <a:r>
              <a:rPr lang="en-US" sz="1400" dirty="0">
                <a:solidFill>
                  <a:srgbClr val="2E2118"/>
                </a:solidFill>
                <a:latin typeface="Calibri" pitchFamily="34" charset="0"/>
                <a:ea typeface="Calibri" pitchFamily="34" charset="-122"/>
                <a:cs typeface="Calibri" pitchFamily="34" charset="-120"/>
              </a:rPr>
              <a:t>for a few days. There was no 3D record to compare against. A volunteer scanned it before the sea came back.</a:t>
            </a:r>
            <a:endParaRPr lang="en-US" sz="1400" dirty="0"/>
          </a:p>
        </p:txBody>
      </p:sp>
      <p:sp>
        <p:nvSpPr>
          <p:cNvPr id="9" name="Shape 6"/>
          <p:cNvSpPr/>
          <p:nvPr/>
        </p:nvSpPr>
        <p:spPr>
          <a:xfrm>
            <a:off x="5669280" y="5056632"/>
            <a:ext cx="146304" cy="146304"/>
          </a:xfrm>
          <a:prstGeom prst="ellipse">
            <a:avLst/>
          </a:prstGeom>
          <a:solidFill>
            <a:srgbClr val="A35F3F"/>
          </a:solidFill>
          <a:ln w="12700">
            <a:solidFill>
              <a:srgbClr val="A35F3F"/>
            </a:solidFill>
            <a:prstDash val="solid"/>
          </a:ln>
        </p:spPr>
      </p:sp>
      <p:sp>
        <p:nvSpPr>
          <p:cNvPr id="10" name="Text 7"/>
          <p:cNvSpPr txBox="1"/>
          <p:nvPr/>
        </p:nvSpPr>
        <p:spPr>
          <a:xfrm>
            <a:off x="5989320" y="4983480"/>
            <a:ext cx="5577840" cy="1005840"/>
          </a:xfrm>
          <a:prstGeom prst="rect">
            <a:avLst/>
          </a:prstGeom>
          <a:noFill/>
          <a:ln/>
        </p:spPr>
        <p:txBody>
          <a:bodyPr wrap="square" lIns="0" tIns="0" rIns="0" bIns="0" rtlCol="0" anchor="t"/>
          <a:lstStyle/>
          <a:p>
            <a:pPr indent="0" marL="0">
              <a:buNone/>
            </a:pPr>
            <a:r>
              <a:rPr lang="en-US" sz="1400" b="1" dirty="0">
                <a:solidFill>
                  <a:srgbClr val="2E2118"/>
                </a:solidFill>
                <a:latin typeface="Calibri" pitchFamily="34" charset="0"/>
                <a:ea typeface="Calibri" pitchFamily="34" charset="-122"/>
                <a:cs typeface="Calibri" pitchFamily="34" charset="-120"/>
              </a:rPr>
              <a:t>The tools exist, but sit with a few expert teams. </a:t>
            </a:r>
            <a:pPr indent="0" marL="0">
              <a:buNone/>
            </a:pPr>
            <a:r>
              <a:rPr lang="en-US" sz="1400" dirty="0">
                <a:solidFill>
                  <a:srgbClr val="2E2118"/>
                </a:solidFill>
                <a:latin typeface="Calibri" pitchFamily="34" charset="0"/>
                <a:ea typeface="Calibri" pitchFamily="34" charset="-122"/>
                <a:cs typeface="Calibri" pitchFamily="34" charset="-120"/>
              </a:rPr>
              <a:t>The people who live beside these places have had no way to take part, or to see their heritage where young people spend their time.</a:t>
            </a:r>
            <a:endParaRPr lang="en-US" sz="1400" dirty="0"/>
          </a:p>
        </p:txBody>
      </p:sp>
      <p:sp>
        <p:nvSpPr>
          <p:cNvPr id="11" name="Text 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WHAT WE DO</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From a phone in Carthage to a headset anywhere</a:t>
            </a:r>
            <a:endParaRPr lang="en-US" sz="3200" dirty="0"/>
          </a:p>
        </p:txBody>
      </p:sp>
      <p:sp>
        <p:nvSpPr>
          <p:cNvPr id="4" name="Shape 2"/>
          <p:cNvSpPr/>
          <p:nvPr/>
        </p:nvSpPr>
        <p:spPr>
          <a:xfrm>
            <a:off x="685800" y="2194560"/>
            <a:ext cx="822960" cy="822960"/>
          </a:xfrm>
          <a:prstGeom prst="ellipse">
            <a:avLst/>
          </a:prstGeom>
          <a:solidFill>
            <a:srgbClr val="E8DCC6"/>
          </a:solidFill>
          <a:ln w="12700">
            <a:solidFill>
              <a:srgbClr val="E8DCC6"/>
            </a:solidFill>
            <a:prstDash val="solid"/>
          </a:ln>
        </p:spPr>
      </p:sp>
      <p:pic>
        <p:nvPicPr>
          <p:cNvPr id="5" name="Image 0" descr="preencoded.png">    </p:cNvPr>
          <p:cNvPicPr>
            <a:picLocks noChangeAspect="1"/>
          </p:cNvPicPr>
          <p:nvPr/>
        </p:nvPicPr>
        <p:blipFill>
          <a:blip r:embed="rId1"/>
          <a:stretch>
            <a:fillRect/>
          </a:stretch>
        </p:blipFill>
        <p:spPr>
          <a:xfrm>
            <a:off x="891540" y="2400300"/>
            <a:ext cx="411480" cy="411480"/>
          </a:xfrm>
          <a:prstGeom prst="rect">
            <a:avLst/>
          </a:prstGeom>
        </p:spPr>
      </p:pic>
      <p:sp>
        <p:nvSpPr>
          <p:cNvPr id="6" name="Text 3"/>
          <p:cNvSpPr txBox="1"/>
          <p:nvPr/>
        </p:nvSpPr>
        <p:spPr>
          <a:xfrm>
            <a:off x="640080"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Scan</a:t>
            </a:r>
            <a:endParaRPr lang="en-US" sz="1800" dirty="0"/>
          </a:p>
        </p:txBody>
      </p:sp>
      <p:sp>
        <p:nvSpPr>
          <p:cNvPr id="7" name="Text 4"/>
          <p:cNvSpPr txBox="1"/>
          <p:nvPr/>
        </p:nvSpPr>
        <p:spPr>
          <a:xfrm>
            <a:off x="640080"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Volunteers in Tunisia walk around an object with a free app. A stone takes minutes.</a:t>
            </a:r>
            <a:endParaRPr lang="en-US" sz="1250" dirty="0"/>
          </a:p>
        </p:txBody>
      </p:sp>
      <p:sp>
        <p:nvSpPr>
          <p:cNvPr id="8" name="Shape 5"/>
          <p:cNvSpPr/>
          <p:nvPr/>
        </p:nvSpPr>
        <p:spPr>
          <a:xfrm>
            <a:off x="2907792" y="2194560"/>
            <a:ext cx="822960" cy="822960"/>
          </a:xfrm>
          <a:prstGeom prst="ellipse">
            <a:avLst/>
          </a:prstGeom>
          <a:solidFill>
            <a:srgbClr val="E8DCC6"/>
          </a:solidFill>
          <a:ln w="12700">
            <a:solidFill>
              <a:srgbClr val="E8DCC6"/>
            </a:solidFill>
            <a:prstDash val="solid"/>
          </a:ln>
        </p:spPr>
      </p:sp>
      <p:pic>
        <p:nvPicPr>
          <p:cNvPr id="9" name="Image 1" descr="preencoded.png">    </p:cNvPr>
          <p:cNvPicPr>
            <a:picLocks noChangeAspect="1"/>
          </p:cNvPicPr>
          <p:nvPr/>
        </p:nvPicPr>
        <p:blipFill>
          <a:blip r:embed="rId2"/>
          <a:stretch>
            <a:fillRect/>
          </a:stretch>
        </p:blipFill>
        <p:spPr>
          <a:xfrm>
            <a:off x="3113532" y="2400300"/>
            <a:ext cx="411480" cy="411480"/>
          </a:xfrm>
          <a:prstGeom prst="rect">
            <a:avLst/>
          </a:prstGeom>
        </p:spPr>
      </p:pic>
      <p:sp>
        <p:nvSpPr>
          <p:cNvPr id="10" name="Text 6"/>
          <p:cNvSpPr txBox="1"/>
          <p:nvPr/>
        </p:nvSpPr>
        <p:spPr>
          <a:xfrm>
            <a:off x="2862072"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Clean</a:t>
            </a:r>
            <a:endParaRPr lang="en-US" sz="1800" dirty="0"/>
          </a:p>
        </p:txBody>
      </p:sp>
      <p:sp>
        <p:nvSpPr>
          <p:cNvPr id="11" name="Text 7"/>
          <p:cNvSpPr txBox="1"/>
          <p:nvPr/>
        </p:nvSpPr>
        <p:spPr>
          <a:xfrm>
            <a:off x="2862072"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Volunteers anywhere turn the raw scan into an archival record and a light web-ready twin.</a:t>
            </a:r>
            <a:endParaRPr lang="en-US" sz="1250" dirty="0"/>
          </a:p>
        </p:txBody>
      </p:sp>
      <p:sp>
        <p:nvSpPr>
          <p:cNvPr id="12" name="Shape 8"/>
          <p:cNvSpPr/>
          <p:nvPr/>
        </p:nvSpPr>
        <p:spPr>
          <a:xfrm>
            <a:off x="5129784" y="2194560"/>
            <a:ext cx="822960" cy="822960"/>
          </a:xfrm>
          <a:prstGeom prst="ellipse">
            <a:avLst/>
          </a:prstGeom>
          <a:solidFill>
            <a:srgbClr val="E8DCC6"/>
          </a:solidFill>
          <a:ln w="12700">
            <a:solidFill>
              <a:srgbClr val="E8DCC6"/>
            </a:solidFill>
            <a:prstDash val="solid"/>
          </a:ln>
        </p:spPr>
      </p:sp>
      <p:pic>
        <p:nvPicPr>
          <p:cNvPr id="13" name="Image 2" descr="preencoded.png">    </p:cNvPr>
          <p:cNvPicPr>
            <a:picLocks noChangeAspect="1"/>
          </p:cNvPicPr>
          <p:nvPr/>
        </p:nvPicPr>
        <p:blipFill>
          <a:blip r:embed="rId3"/>
          <a:stretch>
            <a:fillRect/>
          </a:stretch>
        </p:blipFill>
        <p:spPr>
          <a:xfrm>
            <a:off x="5335524" y="2400300"/>
            <a:ext cx="411480" cy="411480"/>
          </a:xfrm>
          <a:prstGeom prst="rect">
            <a:avLst/>
          </a:prstGeom>
        </p:spPr>
      </p:pic>
      <p:sp>
        <p:nvSpPr>
          <p:cNvPr id="14" name="Text 9"/>
          <p:cNvSpPr txBox="1"/>
          <p:nvPr/>
        </p:nvSpPr>
        <p:spPr>
          <a:xfrm>
            <a:off x="5084064"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Research</a:t>
            </a:r>
            <a:endParaRPr lang="en-US" sz="1800" dirty="0"/>
          </a:p>
        </p:txBody>
      </p:sp>
      <p:sp>
        <p:nvSpPr>
          <p:cNvPr id="15" name="Text 10"/>
          <p:cNvSpPr txBox="1"/>
          <p:nvPr/>
        </p:nvSpPr>
        <p:spPr>
          <a:xfrm>
            <a:off x="5084064"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The history behind each object is written up, in three languages, and credited.</a:t>
            </a:r>
            <a:endParaRPr lang="en-US" sz="1250" dirty="0"/>
          </a:p>
        </p:txBody>
      </p:sp>
      <p:sp>
        <p:nvSpPr>
          <p:cNvPr id="16" name="Shape 11"/>
          <p:cNvSpPr/>
          <p:nvPr/>
        </p:nvSpPr>
        <p:spPr>
          <a:xfrm>
            <a:off x="7351776" y="2194560"/>
            <a:ext cx="822960" cy="822960"/>
          </a:xfrm>
          <a:prstGeom prst="ellipse">
            <a:avLst/>
          </a:prstGeom>
          <a:solidFill>
            <a:srgbClr val="E8DCC6"/>
          </a:solidFill>
          <a:ln w="12700">
            <a:solidFill>
              <a:srgbClr val="E8DCC6"/>
            </a:solidFill>
            <a:prstDash val="solid"/>
          </a:ln>
        </p:spPr>
      </p:sp>
      <p:pic>
        <p:nvPicPr>
          <p:cNvPr id="17" name="Image 3" descr="preencoded.png">    </p:cNvPr>
          <p:cNvPicPr>
            <a:picLocks noChangeAspect="1"/>
          </p:cNvPicPr>
          <p:nvPr/>
        </p:nvPicPr>
        <p:blipFill>
          <a:blip r:embed="rId4"/>
          <a:stretch>
            <a:fillRect/>
          </a:stretch>
        </p:blipFill>
        <p:spPr>
          <a:xfrm>
            <a:off x="7557516" y="2400300"/>
            <a:ext cx="411480" cy="411480"/>
          </a:xfrm>
          <a:prstGeom prst="rect">
            <a:avLst/>
          </a:prstGeom>
        </p:spPr>
      </p:pic>
      <p:sp>
        <p:nvSpPr>
          <p:cNvPr id="18" name="Text 12"/>
          <p:cNvSpPr txBox="1"/>
          <p:nvPr/>
        </p:nvSpPr>
        <p:spPr>
          <a:xfrm>
            <a:off x="7306056"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Publish</a:t>
            </a:r>
            <a:endParaRPr lang="en-US" sz="1800" dirty="0"/>
          </a:p>
        </p:txBody>
      </p:sp>
      <p:sp>
        <p:nvSpPr>
          <p:cNvPr id="19" name="Text 13"/>
          <p:cNvSpPr txBox="1"/>
          <p:nvPr/>
        </p:nvSpPr>
        <p:spPr>
          <a:xfrm>
            <a:off x="7306056"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Everything goes into the open archive and Explore in 3D, free, on any phone or headset.</a:t>
            </a:r>
            <a:endParaRPr lang="en-US" sz="1250" dirty="0"/>
          </a:p>
        </p:txBody>
      </p:sp>
      <p:sp>
        <p:nvSpPr>
          <p:cNvPr id="20" name="Shape 14"/>
          <p:cNvSpPr/>
          <p:nvPr/>
        </p:nvSpPr>
        <p:spPr>
          <a:xfrm>
            <a:off x="9573768" y="2194560"/>
            <a:ext cx="822960" cy="822960"/>
          </a:xfrm>
          <a:prstGeom prst="ellipse">
            <a:avLst/>
          </a:prstGeom>
          <a:solidFill>
            <a:srgbClr val="E8DCC6"/>
          </a:solidFill>
          <a:ln w="12700">
            <a:solidFill>
              <a:srgbClr val="E8DCC6"/>
            </a:solidFill>
            <a:prstDash val="solid"/>
          </a:ln>
        </p:spPr>
      </p:sp>
      <p:pic>
        <p:nvPicPr>
          <p:cNvPr id="21" name="Image 4" descr="preencoded.png">    </p:cNvPr>
          <p:cNvPicPr>
            <a:picLocks noChangeAspect="1"/>
          </p:cNvPicPr>
          <p:nvPr/>
        </p:nvPicPr>
        <p:blipFill>
          <a:blip r:embed="rId5"/>
          <a:stretch>
            <a:fillRect/>
          </a:stretch>
        </p:blipFill>
        <p:spPr>
          <a:xfrm>
            <a:off x="9779508" y="2400300"/>
            <a:ext cx="411480" cy="411480"/>
          </a:xfrm>
          <a:prstGeom prst="rect">
            <a:avLst/>
          </a:prstGeom>
        </p:spPr>
      </p:pic>
      <p:sp>
        <p:nvSpPr>
          <p:cNvPr id="22" name="Text 15"/>
          <p:cNvSpPr txBox="1"/>
          <p:nvPr/>
        </p:nvSpPr>
        <p:spPr>
          <a:xfrm>
            <a:off x="9528048" y="3200400"/>
            <a:ext cx="210312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Share</a:t>
            </a:r>
            <a:endParaRPr lang="en-US" sz="1800" dirty="0"/>
          </a:p>
        </p:txBody>
      </p:sp>
      <p:sp>
        <p:nvSpPr>
          <p:cNvPr id="23" name="Text 16"/>
          <p:cNvSpPr txBox="1"/>
          <p:nvPr/>
        </p:nvSpPr>
        <p:spPr>
          <a:xfrm>
            <a:off x="9528048" y="3611880"/>
            <a:ext cx="2103120" cy="164592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Visitors turn objects, meet our guide Nura, save and share them. Every share keeps a piece seen.</a:t>
            </a:r>
            <a:endParaRPr lang="en-US" sz="1250" dirty="0"/>
          </a:p>
        </p:txBody>
      </p:sp>
      <p:sp>
        <p:nvSpPr>
          <p:cNvPr id="24" name="Text 17"/>
          <p:cNvSpPr txBox="1"/>
          <p:nvPr/>
        </p:nvSpPr>
        <p:spPr>
          <a:xfrm>
            <a:off x="640080" y="5486400"/>
            <a:ext cx="10972800" cy="731520"/>
          </a:xfrm>
          <a:prstGeom prst="rect">
            <a:avLst/>
          </a:prstGeom>
          <a:noFill/>
          <a:ln/>
        </p:spPr>
        <p:txBody>
          <a:bodyPr wrap="square" lIns="0" tIns="0" rIns="0" bIns="0" rtlCol="0" anchor="ctr"/>
          <a:lstStyle/>
          <a:p>
            <a:pPr indent="0" marL="0">
              <a:buNone/>
            </a:pPr>
            <a:r>
              <a:rPr lang="en-US" sz="1400" i="1" dirty="0">
                <a:solidFill>
                  <a:srgbClr val="7D6A58"/>
                </a:solidFill>
                <a:latin typeface="Calibri" pitchFamily="34" charset="0"/>
                <a:ea typeface="Calibri" pitchFamily="34" charset="-122"/>
                <a:cs typeface="Calibri" pitchFamily="34" charset="-120"/>
              </a:rPr>
              <a:t>Around the software is a community: 85+ volunteers on four continents who meet every Thursday, learn Tunisian history together and build pieces for a virtual museum.</a:t>
            </a:r>
            <a:endParaRPr lang="en-US" sz="1400" dirty="0"/>
          </a:p>
        </p:txBody>
      </p:sp>
      <p:sp>
        <p:nvSpPr>
          <p:cNvPr id="25" name="Text 1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41A10"/>
        </a:solidFill>
      </p:bgPr>
    </p:bg>
    <p:spTree>
      <p:nvGrpSpPr>
        <p:cNvPr id="1" name=""/>
        <p:cNvGrpSpPr/>
        <p:nvPr/>
      </p:nvGrpSpPr>
      <p:grpSpPr>
        <a:xfrm>
          <a:off x="0" y="0"/>
          <a:ext cx="0" cy="0"/>
          <a:chOff x="0" y="0"/>
          <a:chExt cx="0" cy="0"/>
        </a:xfrm>
      </p:grpSpPr>
      <p:pic>
        <p:nvPicPr>
          <p:cNvPr id="2" name="Image 0" descr="/Users/inessaid/Documents/tanitxr.org/docs/assets/img/explore-og-1200.jpg">    </p:cNvPr>
          <p:cNvPicPr>
            <a:picLocks noChangeAspect="1"/>
          </p:cNvPicPr>
          <p:nvPr/>
        </p:nvPicPr>
        <p:blipFill>
          <a:blip r:embed="rId1"/>
          <a:stretch>
            <a:fillRect/>
          </a:stretch>
        </p:blipFill>
        <p:spPr>
          <a:xfrm>
            <a:off x="640080" y="1188720"/>
            <a:ext cx="6766560" cy="3552444"/>
          </a:xfrm>
          <a:prstGeom prst="rect">
            <a:avLst/>
          </a:prstGeom>
        </p:spPr>
      </p:pic>
      <p:pic>
        <p:nvPicPr>
          <p:cNvPr id="3" name="Image 1" descr="/Users/inessaid/Documents/tanitxr.org/docs/assets/img/explore-gallery-600.jpg">    </p:cNvPr>
          <p:cNvPicPr>
            <a:picLocks noChangeAspect="1"/>
          </p:cNvPicPr>
          <p:nvPr/>
        </p:nvPicPr>
        <p:blipFill>
          <a:blip r:embed="rId2"/>
          <a:stretch>
            <a:fillRect/>
          </a:stretch>
        </p:blipFill>
        <p:spPr>
          <a:xfrm>
            <a:off x="4754880" y="3931920"/>
            <a:ext cx="3108960" cy="1943100"/>
          </a:xfrm>
          <a:prstGeom prst="rect">
            <a:avLst/>
          </a:prstGeom>
        </p:spPr>
      </p:pic>
      <p:sp>
        <p:nvSpPr>
          <p:cNvPr id="4" name="Text 0"/>
          <p:cNvSpPr txBox="1"/>
          <p:nvPr/>
        </p:nvSpPr>
        <p:spPr>
          <a:xfrm>
            <a:off x="8138160" y="118872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SEE IT NOW</a:t>
            </a:r>
            <a:endParaRPr lang="en-US" sz="1200" dirty="0"/>
          </a:p>
        </p:txBody>
      </p:sp>
      <p:sp>
        <p:nvSpPr>
          <p:cNvPr id="5" name="Text 1"/>
          <p:cNvSpPr txBox="1"/>
          <p:nvPr/>
        </p:nvSpPr>
        <p:spPr>
          <a:xfrm>
            <a:off x="8138160" y="1554480"/>
            <a:ext cx="3657600" cy="10972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Open this on your phone</a:t>
            </a:r>
            <a:endParaRPr lang="en-US" sz="3000" dirty="0"/>
          </a:p>
        </p:txBody>
      </p:sp>
      <p:sp>
        <p:nvSpPr>
          <p:cNvPr id="6" name="Text 2"/>
          <p:cNvSpPr txBox="1"/>
          <p:nvPr/>
        </p:nvSpPr>
        <p:spPr>
          <a:xfrm>
            <a:off x="8138160" y="2697480"/>
            <a:ext cx="3657600" cy="457200"/>
          </a:xfrm>
          <a:prstGeom prst="rect">
            <a:avLst/>
          </a:prstGeom>
          <a:noFill/>
          <a:ln/>
        </p:spPr>
        <p:txBody>
          <a:bodyPr wrap="square" lIns="0" tIns="0" rIns="0" bIns="0" rtlCol="0" anchor="ctr"/>
          <a:lstStyle/>
          <a:p>
            <a:pPr indent="0" marL="0">
              <a:buNone/>
            </a:pPr>
            <a:r>
              <a:rPr lang="en-US" sz="2000" b="1" dirty="0">
                <a:solidFill>
                  <a:srgbClr val="FFCD05"/>
                </a:solidFill>
                <a:latin typeface="Calibri" pitchFamily="34" charset="0"/>
                <a:ea typeface="Calibri" pitchFamily="34" charset="-122"/>
                <a:cs typeface="Calibri" pitchFamily="34" charset="-120"/>
              </a:rPr>
              <a:t>tanitxr.org/explore</a:t>
            </a:r>
            <a:endParaRPr lang="en-US" sz="2000" dirty="0"/>
          </a:p>
        </p:txBody>
      </p:sp>
      <p:sp>
        <p:nvSpPr>
          <p:cNvPr id="7" name="Text 3"/>
          <p:cNvSpPr txBox="1"/>
          <p:nvPr/>
        </p:nvSpPr>
        <p:spPr>
          <a:xfrm>
            <a:off x="8138160" y="3291840"/>
            <a:ext cx="3657600" cy="1463040"/>
          </a:xfrm>
          <a:prstGeom prst="rect">
            <a:avLst/>
          </a:prstGeom>
          <a:noFill/>
          <a:ln/>
        </p:spPr>
        <p:txBody>
          <a:bodyPr wrap="square" lIns="0" tIns="0" rIns="0" bIns="0" rtlCol="0" anchor="ctr"/>
          <a:lstStyle/>
          <a:p>
            <a:pPr indent="0" marL="0">
              <a:buNone/>
            </a:pPr>
            <a:r>
              <a:rPr lang="en-US" sz="1400" dirty="0">
                <a:solidFill>
                  <a:srgbClr val="E8DCC6"/>
                </a:solidFill>
                <a:latin typeface="Calibri" pitchFamily="34" charset="0"/>
                <a:ea typeface="Calibri" pitchFamily="34" charset="-122"/>
                <a:cs typeface="Calibri" pitchFamily="34" charset="-120"/>
              </a:rPr>
              <a:t>Turn a two-thousand-year-old stone with your finger. Tap Nura and she tells you its story. Step into a volunteer's gallery. Put on a Quest headset and stand beside it at real size.</a:t>
            </a:r>
            <a:endParaRPr lang="en-US" sz="1400" dirty="0"/>
          </a:p>
        </p:txBody>
      </p:sp>
      <p:sp>
        <p:nvSpPr>
          <p:cNvPr id="8" name="Text 4"/>
          <p:cNvSpPr txBox="1"/>
          <p:nvPr/>
        </p:nvSpPr>
        <p:spPr>
          <a:xfrm>
            <a:off x="8138160" y="4937760"/>
            <a:ext cx="3657600" cy="457200"/>
          </a:xfrm>
          <a:prstGeom prst="rect">
            <a:avLst/>
          </a:prstGeom>
          <a:noFill/>
          <a:ln/>
        </p:spPr>
        <p:txBody>
          <a:bodyPr wrap="square" lIns="0" tIns="0" rIns="0" bIns="0" rtlCol="0" anchor="ctr"/>
          <a:lstStyle/>
          <a:p>
            <a:pPr indent="0" marL="0">
              <a:buNone/>
            </a:pPr>
            <a:r>
              <a:rPr lang="en-US" sz="1200" i="1" dirty="0">
                <a:solidFill>
                  <a:srgbClr val="E8DCC6"/>
                </a:solidFill>
                <a:latin typeface="Calibri" pitchFamily="34" charset="0"/>
                <a:ea typeface="Calibri" pitchFamily="34" charset="-122"/>
                <a:cs typeface="Calibri" pitchFamily="34" charset="-120"/>
              </a:rPr>
              <a:t>Add ?tour=1 for a four-minute guided visit.</a:t>
            </a:r>
            <a:endParaRPr lang="en-US" sz="1200" dirty="0"/>
          </a:p>
        </p:txBody>
      </p:sp>
      <p:sp>
        <p:nvSpPr>
          <p:cNvPr id="9" name="Text 5"/>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E8DCC6"/>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8F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WHERE WE ARE, SEPTEMBER 2026</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Built by volunteers, before the first grant</a:t>
            </a:r>
            <a:endParaRPr lang="en-US" sz="3200" dirty="0"/>
          </a:p>
        </p:txBody>
      </p:sp>
      <p:sp>
        <p:nvSpPr>
          <p:cNvPr id="4" name="Shape 2"/>
          <p:cNvSpPr/>
          <p:nvPr/>
        </p:nvSpPr>
        <p:spPr>
          <a:xfrm>
            <a:off x="640080" y="2103120"/>
            <a:ext cx="1783080" cy="1737360"/>
          </a:xfrm>
          <a:prstGeom prst="roundRect">
            <a:avLst>
              <a:gd name="adj" fmla="val 6316"/>
            </a:avLst>
          </a:prstGeom>
          <a:solidFill>
            <a:srgbClr val="FFFFFF"/>
          </a:solidFill>
          <a:ln w="12700">
            <a:solidFill>
              <a:srgbClr val="E4D8C4"/>
            </a:solidFill>
            <a:prstDash val="solid"/>
          </a:ln>
        </p:spPr>
      </p:sp>
      <p:sp>
        <p:nvSpPr>
          <p:cNvPr id="5" name="Text 3"/>
          <p:cNvSpPr txBox="1"/>
          <p:nvPr/>
        </p:nvSpPr>
        <p:spPr>
          <a:xfrm>
            <a:off x="640080"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99</a:t>
            </a:r>
            <a:endParaRPr lang="en-US" sz="4400" dirty="0"/>
          </a:p>
        </p:txBody>
      </p:sp>
      <p:sp>
        <p:nvSpPr>
          <p:cNvPr id="6" name="Text 4"/>
          <p:cNvSpPr txBox="1"/>
          <p:nvPr/>
        </p:nvSpPr>
        <p:spPr>
          <a:xfrm>
            <a:off x="731520"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public 3D scans</a:t>
            </a:r>
            <a:endParaRPr lang="en-US" sz="1200" dirty="0"/>
          </a:p>
        </p:txBody>
      </p:sp>
      <p:sp>
        <p:nvSpPr>
          <p:cNvPr id="7" name="Shape 5"/>
          <p:cNvSpPr/>
          <p:nvPr/>
        </p:nvSpPr>
        <p:spPr>
          <a:xfrm>
            <a:off x="2532888" y="2103120"/>
            <a:ext cx="1783080" cy="1737360"/>
          </a:xfrm>
          <a:prstGeom prst="roundRect">
            <a:avLst>
              <a:gd name="adj" fmla="val 6316"/>
            </a:avLst>
          </a:prstGeom>
          <a:solidFill>
            <a:srgbClr val="FFFFFF"/>
          </a:solidFill>
          <a:ln w="12700">
            <a:solidFill>
              <a:srgbClr val="E4D8C4"/>
            </a:solidFill>
            <a:prstDash val="solid"/>
          </a:ln>
        </p:spPr>
      </p:sp>
      <p:sp>
        <p:nvSpPr>
          <p:cNvPr id="8" name="Text 6"/>
          <p:cNvSpPr txBox="1"/>
          <p:nvPr/>
        </p:nvSpPr>
        <p:spPr>
          <a:xfrm>
            <a:off x="2532888"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8</a:t>
            </a:r>
            <a:endParaRPr lang="en-US" sz="4400" dirty="0"/>
          </a:p>
        </p:txBody>
      </p:sp>
      <p:sp>
        <p:nvSpPr>
          <p:cNvPr id="9" name="Text 7"/>
          <p:cNvSpPr txBox="1"/>
          <p:nvPr/>
        </p:nvSpPr>
        <p:spPr>
          <a:xfrm>
            <a:off x="2624328"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Tunisian sites</a:t>
            </a:r>
            <a:endParaRPr lang="en-US" sz="1200" dirty="0"/>
          </a:p>
        </p:txBody>
      </p:sp>
      <p:sp>
        <p:nvSpPr>
          <p:cNvPr id="10" name="Shape 8"/>
          <p:cNvSpPr/>
          <p:nvPr/>
        </p:nvSpPr>
        <p:spPr>
          <a:xfrm>
            <a:off x="4425696" y="2103120"/>
            <a:ext cx="1783080" cy="1737360"/>
          </a:xfrm>
          <a:prstGeom prst="roundRect">
            <a:avLst>
              <a:gd name="adj" fmla="val 6316"/>
            </a:avLst>
          </a:prstGeom>
          <a:solidFill>
            <a:srgbClr val="FFFFFF"/>
          </a:solidFill>
          <a:ln w="12700">
            <a:solidFill>
              <a:srgbClr val="E4D8C4"/>
            </a:solidFill>
            <a:prstDash val="solid"/>
          </a:ln>
        </p:spPr>
      </p:sp>
      <p:sp>
        <p:nvSpPr>
          <p:cNvPr id="11" name="Text 9"/>
          <p:cNvSpPr txBox="1"/>
          <p:nvPr/>
        </p:nvSpPr>
        <p:spPr>
          <a:xfrm>
            <a:off x="4425696"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85+</a:t>
            </a:r>
            <a:endParaRPr lang="en-US" sz="4400" dirty="0"/>
          </a:p>
        </p:txBody>
      </p:sp>
      <p:sp>
        <p:nvSpPr>
          <p:cNvPr id="12" name="Text 10"/>
          <p:cNvSpPr txBox="1"/>
          <p:nvPr/>
        </p:nvSpPr>
        <p:spPr>
          <a:xfrm>
            <a:off x="4517136"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volunteers, 4 continents</a:t>
            </a:r>
            <a:endParaRPr lang="en-US" sz="1200" dirty="0"/>
          </a:p>
        </p:txBody>
      </p:sp>
      <p:sp>
        <p:nvSpPr>
          <p:cNvPr id="13" name="Shape 11"/>
          <p:cNvSpPr/>
          <p:nvPr/>
        </p:nvSpPr>
        <p:spPr>
          <a:xfrm>
            <a:off x="6318504" y="2103120"/>
            <a:ext cx="1783080" cy="1737360"/>
          </a:xfrm>
          <a:prstGeom prst="roundRect">
            <a:avLst>
              <a:gd name="adj" fmla="val 6316"/>
            </a:avLst>
          </a:prstGeom>
          <a:solidFill>
            <a:srgbClr val="FFFFFF"/>
          </a:solidFill>
          <a:ln w="12700">
            <a:solidFill>
              <a:srgbClr val="E4D8C4"/>
            </a:solidFill>
            <a:prstDash val="solid"/>
          </a:ln>
        </p:spPr>
      </p:sp>
      <p:sp>
        <p:nvSpPr>
          <p:cNvPr id="14" name="Text 12"/>
          <p:cNvSpPr txBox="1"/>
          <p:nvPr/>
        </p:nvSpPr>
        <p:spPr>
          <a:xfrm>
            <a:off x="6318504"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75</a:t>
            </a:r>
            <a:endParaRPr lang="en-US" sz="4400" dirty="0"/>
          </a:p>
        </p:txBody>
      </p:sp>
      <p:sp>
        <p:nvSpPr>
          <p:cNvPr id="15" name="Text 13"/>
          <p:cNvSpPr txBox="1"/>
          <p:nvPr/>
        </p:nvSpPr>
        <p:spPr>
          <a:xfrm>
            <a:off x="6409944"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objects live in 3D</a:t>
            </a:r>
            <a:endParaRPr lang="en-US" sz="1200" dirty="0"/>
          </a:p>
        </p:txBody>
      </p:sp>
      <p:sp>
        <p:nvSpPr>
          <p:cNvPr id="16" name="Shape 14"/>
          <p:cNvSpPr/>
          <p:nvPr/>
        </p:nvSpPr>
        <p:spPr>
          <a:xfrm>
            <a:off x="8211312" y="2103120"/>
            <a:ext cx="1783080" cy="1737360"/>
          </a:xfrm>
          <a:prstGeom prst="roundRect">
            <a:avLst>
              <a:gd name="adj" fmla="val 6316"/>
            </a:avLst>
          </a:prstGeom>
          <a:solidFill>
            <a:srgbClr val="FFFFFF"/>
          </a:solidFill>
          <a:ln w="12700">
            <a:solidFill>
              <a:srgbClr val="E4D8C4"/>
            </a:solidFill>
            <a:prstDash val="solid"/>
          </a:ln>
        </p:spPr>
      </p:sp>
      <p:sp>
        <p:nvSpPr>
          <p:cNvPr id="17" name="Text 15"/>
          <p:cNvSpPr txBox="1"/>
          <p:nvPr/>
        </p:nvSpPr>
        <p:spPr>
          <a:xfrm>
            <a:off x="8211312"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20+</a:t>
            </a:r>
            <a:endParaRPr lang="en-US" sz="4400" dirty="0"/>
          </a:p>
        </p:txBody>
      </p:sp>
      <p:sp>
        <p:nvSpPr>
          <p:cNvPr id="18" name="Text 16"/>
          <p:cNvSpPr txBox="1"/>
          <p:nvPr/>
        </p:nvSpPr>
        <p:spPr>
          <a:xfrm>
            <a:off x="8302752"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course graduates</a:t>
            </a:r>
            <a:endParaRPr lang="en-US" sz="1200" dirty="0"/>
          </a:p>
        </p:txBody>
      </p:sp>
      <p:sp>
        <p:nvSpPr>
          <p:cNvPr id="19" name="Shape 17"/>
          <p:cNvSpPr/>
          <p:nvPr/>
        </p:nvSpPr>
        <p:spPr>
          <a:xfrm>
            <a:off x="10104120" y="2103120"/>
            <a:ext cx="1783080" cy="1737360"/>
          </a:xfrm>
          <a:prstGeom prst="roundRect">
            <a:avLst>
              <a:gd name="adj" fmla="val 6316"/>
            </a:avLst>
          </a:prstGeom>
          <a:solidFill>
            <a:srgbClr val="FFFFFF"/>
          </a:solidFill>
          <a:ln w="12700">
            <a:solidFill>
              <a:srgbClr val="E4D8C4"/>
            </a:solidFill>
            <a:prstDash val="solid"/>
          </a:ln>
        </p:spPr>
      </p:sp>
      <p:sp>
        <p:nvSpPr>
          <p:cNvPr id="20" name="Text 18"/>
          <p:cNvSpPr txBox="1"/>
          <p:nvPr/>
        </p:nvSpPr>
        <p:spPr>
          <a:xfrm>
            <a:off x="10104120" y="2240280"/>
            <a:ext cx="1783080" cy="868680"/>
          </a:xfrm>
          <a:prstGeom prst="rect">
            <a:avLst/>
          </a:prstGeom>
          <a:noFill/>
          <a:ln/>
        </p:spPr>
        <p:txBody>
          <a:bodyPr wrap="square" lIns="0" tIns="0" rIns="0" bIns="0" rtlCol="0" anchor="ctr"/>
          <a:lstStyle/>
          <a:p>
            <a:pPr algn="ctr" indent="0" marL="0">
              <a:buNone/>
            </a:pPr>
            <a:r>
              <a:rPr lang="en-US" sz="4400" b="1" dirty="0">
                <a:solidFill>
                  <a:srgbClr val="A35F3F"/>
                </a:solidFill>
                <a:latin typeface="Cambria" pitchFamily="34" charset="0"/>
                <a:ea typeface="Cambria" pitchFamily="34" charset="-122"/>
                <a:cs typeface="Cambria" pitchFamily="34" charset="-120"/>
              </a:rPr>
              <a:t>3</a:t>
            </a:r>
            <a:endParaRPr lang="en-US" sz="4400" dirty="0"/>
          </a:p>
        </p:txBody>
      </p:sp>
      <p:sp>
        <p:nvSpPr>
          <p:cNvPr id="21" name="Text 19"/>
          <p:cNvSpPr txBox="1"/>
          <p:nvPr/>
        </p:nvSpPr>
        <p:spPr>
          <a:xfrm>
            <a:off x="10195560" y="3108960"/>
            <a:ext cx="1600200" cy="640080"/>
          </a:xfrm>
          <a:prstGeom prst="rect">
            <a:avLst/>
          </a:prstGeom>
          <a:noFill/>
          <a:ln/>
        </p:spPr>
        <p:txBody>
          <a:bodyPr wrap="square" lIns="0" tIns="0" rIns="0" bIns="0" rtlCol="0" anchor="ctr"/>
          <a:lstStyle/>
          <a:p>
            <a:pPr algn="ctr" indent="0" marL="0">
              <a:buNone/>
            </a:pPr>
            <a:r>
              <a:rPr lang="en-US" sz="1200" dirty="0">
                <a:solidFill>
                  <a:srgbClr val="7D6A58"/>
                </a:solidFill>
                <a:latin typeface="Calibri" pitchFamily="34" charset="0"/>
                <a:ea typeface="Calibri" pitchFamily="34" charset="-122"/>
                <a:cs typeface="Calibri" pitchFamily="34" charset="-120"/>
              </a:rPr>
              <a:t>languages, all free</a:t>
            </a:r>
            <a:endParaRPr lang="en-US" sz="1200" dirty="0"/>
          </a:p>
        </p:txBody>
      </p:sp>
      <p:sp>
        <p:nvSpPr>
          <p:cNvPr id="22" name="Text 20"/>
          <p:cNvSpPr txBox="1"/>
          <p:nvPr/>
        </p:nvSpPr>
        <p:spPr>
          <a:xfrm>
            <a:off x="640080" y="4206240"/>
            <a:ext cx="3657600" cy="365760"/>
          </a:xfrm>
          <a:prstGeom prst="rect">
            <a:avLst/>
          </a:prstGeom>
          <a:noFill/>
          <a:ln/>
        </p:spPr>
        <p:txBody>
          <a:bodyPr wrap="square" lIns="0" tIns="0" rIns="0" bIns="0" rtlCol="0" anchor="ctr"/>
          <a:lstStyle/>
          <a:p>
            <a:pPr indent="0" marL="0">
              <a:buNone/>
            </a:pPr>
            <a:r>
              <a:rPr lang="en-US" sz="1800" b="1" dirty="0">
                <a:solidFill>
                  <a:srgbClr val="4A3527"/>
                </a:solidFill>
                <a:latin typeface="Cambria" pitchFamily="34" charset="0"/>
                <a:ea typeface="Cambria" pitchFamily="34" charset="-122"/>
                <a:cs typeface="Cambria" pitchFamily="34" charset="-120"/>
              </a:rPr>
              <a:t>Recognition</a:t>
            </a:r>
            <a:endParaRPr lang="en-US" sz="1800" dirty="0"/>
          </a:p>
        </p:txBody>
      </p:sp>
      <p:sp>
        <p:nvSpPr>
          <p:cNvPr id="23" name="Text 21"/>
          <p:cNvSpPr txBox="1"/>
          <p:nvPr/>
        </p:nvSpPr>
        <p:spPr>
          <a:xfrm>
            <a:off x="640080" y="4617720"/>
            <a:ext cx="10972800" cy="17373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Auggie Awards 2026 finalist, Best Societal Impact (AWE USA)</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Al Jazeera culture feature; Voices of VR episode 1728; Niantic Spatial video interview</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Paper at the El Jem conference in English, French and Tunisian Arabic</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Sponsored hackathon tracks at Georgia Tech (ImmerseGT) and CityCamp Gainesville</a:t>
            </a:r>
            <a:endParaRPr lang="en-US" sz="1350" dirty="0"/>
          </a:p>
          <a:p>
            <a:pPr marL="342900" indent="-342900">
              <a:spcAft>
                <a:spcPts val="500"/>
              </a:spcAft>
              <a:buSzPct val="100000"/>
              <a:buChar char="•"/>
            </a:pPr>
            <a:r>
              <a:rPr lang="en-US" sz="1350" dirty="0">
                <a:solidFill>
                  <a:srgbClr val="2E2118"/>
                </a:solidFill>
                <a:latin typeface="Calibri" pitchFamily="34" charset="0"/>
                <a:ea typeface="Calibri" pitchFamily="34" charset="-122"/>
                <a:cs typeface="Calibri" pitchFamily="34" charset="-120"/>
              </a:rPr>
              <a:t>The model is being replicated in Nigeria by the Unique Mappers Network</a:t>
            </a:r>
            <a:endParaRPr lang="en-US" sz="1350" dirty="0"/>
          </a:p>
        </p:txBody>
      </p:sp>
      <p:sp>
        <p:nvSpPr>
          <p:cNvPr id="24" name="Text 22"/>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inessaid/Documents/tanitxr.org/docs/assets/img/museum-hall-arches-1200.jpg">    </p:cNvPr>
          <p:cNvPicPr>
            <a:picLocks noChangeAspect="1"/>
          </p:cNvPicPr>
          <p:nvPr/>
        </p:nvPicPr>
        <p:blipFill>
          <a:blip r:embed="rId1"/>
          <a:srcRect l="0" r="0" t="0" b="0"/>
          <a:stretch/>
        </p:blipFill>
        <p:spPr>
          <a:xfrm>
            <a:off x="6858000" y="0"/>
            <a:ext cx="5330952" cy="6858000"/>
          </a:xfrm>
          <a:prstGeom prst="rect">
            <a:avLst/>
          </a:prstGeom>
        </p:spPr>
      </p:pic>
      <p:sp>
        <p:nvSpPr>
          <p:cNvPr id="3" name="Text 0"/>
          <p:cNvSpPr txBox="1"/>
          <p:nvPr/>
        </p:nvSpPr>
        <p:spPr>
          <a:xfrm>
            <a:off x="640080" y="82296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MORE THAN AN ARCHIVE</a:t>
            </a:r>
            <a:endParaRPr lang="en-US" sz="1200" dirty="0"/>
          </a:p>
        </p:txBody>
      </p:sp>
      <p:sp>
        <p:nvSpPr>
          <p:cNvPr id="4" name="Text 1"/>
          <p:cNvSpPr txBox="1"/>
          <p:nvPr/>
        </p:nvSpPr>
        <p:spPr>
          <a:xfrm>
            <a:off x="640080" y="1188720"/>
            <a:ext cx="5760720" cy="12801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A cultural exchange that builds a museum</a:t>
            </a:r>
            <a:endParaRPr lang="en-US" sz="3200" dirty="0"/>
          </a:p>
        </p:txBody>
      </p:sp>
      <p:sp>
        <p:nvSpPr>
          <p:cNvPr id="5" name="Text 2"/>
          <p:cNvSpPr txBox="1"/>
          <p:nvPr/>
        </p:nvSpPr>
        <p:spPr>
          <a:xfrm>
            <a:off x="640080" y="2606040"/>
            <a:ext cx="5760720" cy="3291840"/>
          </a:xfrm>
          <a:prstGeom prst="rect">
            <a:avLst/>
          </a:prstGeom>
          <a:noFill/>
          <a:ln/>
        </p:spPr>
        <p:txBody>
          <a:bodyPr wrap="square" lIns="0" tIns="0" rIns="0" bIns="0" rtlCol="0" anchor="t"/>
          <a:lstStyle/>
          <a:p>
            <a:pPr indent="0" marL="0">
              <a:buNone/>
            </a:pPr>
            <a:r>
              <a:rPr lang="en-US" sz="1400" dirty="0">
                <a:solidFill>
                  <a:srgbClr val="2E2118"/>
                </a:solidFill>
                <a:latin typeface="Calibri" pitchFamily="34" charset="0"/>
                <a:ea typeface="Calibri" pitchFamily="34" charset="-122"/>
                <a:cs typeface="Calibri" pitchFamily="34" charset="-120"/>
              </a:rPr>
              <a:t>Every Thursday, volunteers in Tunis, Florida, Europe and Lagos review new scans and learn the history behind them. People who have never been to Tunisia model lamps, pottery and courtyards for the virtual museum, and the Tunisian volunteers learn about their countries in return.</a:t>
            </a:r>
            <a:endParaRPr lang="en-US" sz="1400" dirty="0"/>
          </a:p>
          <a:p>
            <a:pPr indent="0" marL="0">
              <a:buNone/>
            </a:pPr>
            <a:endParaRPr lang="en-US" sz="1400" dirty="0"/>
          </a:p>
          <a:p>
            <a:pPr indent="0" marL="0">
              <a:buNone/>
            </a:pPr>
            <a:r>
              <a:rPr lang="en-US" sz="1400" dirty="0">
                <a:solidFill>
                  <a:srgbClr val="2E2118"/>
                </a:solidFill>
                <a:latin typeface="Calibri" pitchFamily="34" charset="0"/>
                <a:ea typeface="Calibri" pitchFamily="34" charset="-122"/>
                <a:cs typeface="Calibri" pitchFamily="34" charset="-120"/>
              </a:rPr>
              <a:t>Students get portfolio reviews, mock interviews and mentors. Every contribution is credited by name, on the site and on every object.</a:t>
            </a:r>
            <a:endParaRPr lang="en-US" sz="1400" dirty="0"/>
          </a:p>
          <a:p>
            <a:pPr indent="0" marL="0">
              <a:buNone/>
            </a:pPr>
            <a:endParaRPr lang="en-US" sz="1400" dirty="0"/>
          </a:p>
          <a:p>
            <a:pPr indent="0" marL="0">
              <a:buNone/>
            </a:pPr>
            <a:r>
              <a:rPr lang="en-US" sz="1400" dirty="0">
                <a:solidFill>
                  <a:srgbClr val="2E2118"/>
                </a:solidFill>
                <a:latin typeface="Calibri" pitchFamily="34" charset="0"/>
                <a:ea typeface="Calibri" pitchFamily="34" charset="-122"/>
                <a:cs typeface="Calibri" pitchFamily="34" charset="-120"/>
              </a:rPr>
              <a:t>Tunisia is the pilot. Nigeria is the first proof that the model travels.</a:t>
            </a:r>
            <a:endParaRPr lang="en-US" sz="1400" dirty="0"/>
          </a:p>
        </p:txBody>
      </p:sp>
      <p:sp>
        <p:nvSpPr>
          <p:cNvPr id="6" name="Text 3"/>
          <p:cNvSpPr txBox="1"/>
          <p:nvPr/>
        </p:nvSpPr>
        <p:spPr>
          <a:xfrm>
            <a:off x="7040880" y="6355080"/>
            <a:ext cx="4937760" cy="27432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The virtual museum, modelled by volunteers, in progress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8F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WHY PARTNER</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What this does for your company</a:t>
            </a:r>
            <a:endParaRPr lang="en-US" sz="3200" dirty="0"/>
          </a:p>
        </p:txBody>
      </p:sp>
      <p:sp>
        <p:nvSpPr>
          <p:cNvPr id="4" name="Shape 2"/>
          <p:cNvSpPr/>
          <p:nvPr/>
        </p:nvSpPr>
        <p:spPr>
          <a:xfrm>
            <a:off x="640080" y="2057400"/>
            <a:ext cx="5303520" cy="1874520"/>
          </a:xfrm>
          <a:prstGeom prst="roundRect">
            <a:avLst>
              <a:gd name="adj" fmla="val 5854"/>
            </a:avLst>
          </a:prstGeom>
          <a:solidFill>
            <a:srgbClr val="FFFFFF"/>
          </a:solidFill>
          <a:ln w="12700">
            <a:solidFill>
              <a:srgbClr val="E4D8C4"/>
            </a:solidFill>
            <a:prstDash val="solid"/>
          </a:ln>
        </p:spPr>
      </p:sp>
      <p:sp>
        <p:nvSpPr>
          <p:cNvPr id="5" name="Shape 3"/>
          <p:cNvSpPr/>
          <p:nvPr/>
        </p:nvSpPr>
        <p:spPr>
          <a:xfrm>
            <a:off x="868680" y="2331720"/>
            <a:ext cx="640080" cy="640080"/>
          </a:xfrm>
          <a:prstGeom prst="ellipse">
            <a:avLst/>
          </a:prstGeom>
          <a:solidFill>
            <a:srgbClr val="E8DCC6"/>
          </a:solidFill>
          <a:ln w="12700">
            <a:solidFill>
              <a:srgbClr val="E8DCC6"/>
            </a:solidFill>
            <a:prstDash val="solid"/>
          </a:ln>
        </p:spPr>
      </p:sp>
      <p:pic>
        <p:nvPicPr>
          <p:cNvPr id="6" name="Image 0" descr="preencoded.png">    </p:cNvPr>
          <p:cNvPicPr>
            <a:picLocks noChangeAspect="1"/>
          </p:cNvPicPr>
          <p:nvPr/>
        </p:nvPicPr>
        <p:blipFill>
          <a:blip r:embed="rId1"/>
          <a:stretch>
            <a:fillRect/>
          </a:stretch>
        </p:blipFill>
        <p:spPr>
          <a:xfrm>
            <a:off x="1028700" y="2491740"/>
            <a:ext cx="320040" cy="320040"/>
          </a:xfrm>
          <a:prstGeom prst="rect">
            <a:avLst/>
          </a:prstGeom>
        </p:spPr>
      </p:pic>
      <p:sp>
        <p:nvSpPr>
          <p:cNvPr id="7" name="Text 4"/>
          <p:cNvSpPr txBox="1"/>
          <p:nvPr/>
        </p:nvSpPr>
        <p:spPr>
          <a:xfrm>
            <a:off x="1691640" y="233172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Employees who learn something real</a:t>
            </a:r>
            <a:endParaRPr lang="en-US" sz="1600" dirty="0"/>
          </a:p>
        </p:txBody>
      </p:sp>
      <p:sp>
        <p:nvSpPr>
          <p:cNvPr id="8" name="Text 5"/>
          <p:cNvSpPr txBox="1"/>
          <p:nvPr/>
        </p:nvSpPr>
        <p:spPr>
          <a:xfrm>
            <a:off x="1691640" y="283464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Skills-based volunteering: your team learns 3D capture on a phone and publishes actual heritage under their names. People talk about it afterwards.</a:t>
            </a:r>
            <a:endParaRPr lang="en-US" sz="1250" dirty="0"/>
          </a:p>
        </p:txBody>
      </p:sp>
      <p:sp>
        <p:nvSpPr>
          <p:cNvPr id="9" name="Shape 6"/>
          <p:cNvSpPr/>
          <p:nvPr/>
        </p:nvSpPr>
        <p:spPr>
          <a:xfrm>
            <a:off x="6263640" y="2057400"/>
            <a:ext cx="5303520" cy="1874520"/>
          </a:xfrm>
          <a:prstGeom prst="roundRect">
            <a:avLst>
              <a:gd name="adj" fmla="val 5854"/>
            </a:avLst>
          </a:prstGeom>
          <a:solidFill>
            <a:srgbClr val="FFFFFF"/>
          </a:solidFill>
          <a:ln w="12700">
            <a:solidFill>
              <a:srgbClr val="E4D8C4"/>
            </a:solidFill>
            <a:prstDash val="solid"/>
          </a:ln>
        </p:spPr>
      </p:sp>
      <p:sp>
        <p:nvSpPr>
          <p:cNvPr id="10" name="Shape 7"/>
          <p:cNvSpPr/>
          <p:nvPr/>
        </p:nvSpPr>
        <p:spPr>
          <a:xfrm>
            <a:off x="6492240" y="2331720"/>
            <a:ext cx="640080" cy="640080"/>
          </a:xfrm>
          <a:prstGeom prst="ellipse">
            <a:avLst/>
          </a:prstGeom>
          <a:solidFill>
            <a:srgbClr val="E8DCC6"/>
          </a:solidFill>
          <a:ln w="12700">
            <a:solidFill>
              <a:srgbClr val="E8DCC6"/>
            </a:solidFill>
            <a:prstDash val="solid"/>
          </a:ln>
        </p:spPr>
      </p:sp>
      <p:pic>
        <p:nvPicPr>
          <p:cNvPr id="11" name="Image 1" descr="preencoded.png">    </p:cNvPr>
          <p:cNvPicPr>
            <a:picLocks noChangeAspect="1"/>
          </p:cNvPicPr>
          <p:nvPr/>
        </p:nvPicPr>
        <p:blipFill>
          <a:blip r:embed="rId2"/>
          <a:stretch>
            <a:fillRect/>
          </a:stretch>
        </p:blipFill>
        <p:spPr>
          <a:xfrm>
            <a:off x="6652260" y="2491740"/>
            <a:ext cx="320040" cy="320040"/>
          </a:xfrm>
          <a:prstGeom prst="rect">
            <a:avLst/>
          </a:prstGeom>
        </p:spPr>
      </p:pic>
      <p:sp>
        <p:nvSpPr>
          <p:cNvPr id="12" name="Text 8"/>
          <p:cNvSpPr txBox="1"/>
          <p:nvPr/>
        </p:nvSpPr>
        <p:spPr>
          <a:xfrm>
            <a:off x="7315200" y="233172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A story your communications team can use</a:t>
            </a:r>
            <a:endParaRPr lang="en-US" sz="1600" dirty="0"/>
          </a:p>
        </p:txBody>
      </p:sp>
      <p:sp>
        <p:nvSpPr>
          <p:cNvPr id="13" name="Text 9"/>
          <p:cNvSpPr txBox="1"/>
          <p:nvPr/>
        </p:nvSpPr>
        <p:spPr>
          <a:xfrm>
            <a:off x="7315200" y="283464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A storm, a rescue, a volunteer, a stone: pictures and stories we take ourselves, with your part in them told plainly.</a:t>
            </a:r>
            <a:endParaRPr lang="en-US" sz="1250" dirty="0"/>
          </a:p>
        </p:txBody>
      </p:sp>
      <p:sp>
        <p:nvSpPr>
          <p:cNvPr id="14" name="Shape 10"/>
          <p:cNvSpPr/>
          <p:nvPr/>
        </p:nvSpPr>
        <p:spPr>
          <a:xfrm>
            <a:off x="640080" y="4160520"/>
            <a:ext cx="5303520" cy="1874520"/>
          </a:xfrm>
          <a:prstGeom prst="roundRect">
            <a:avLst>
              <a:gd name="adj" fmla="val 5854"/>
            </a:avLst>
          </a:prstGeom>
          <a:solidFill>
            <a:srgbClr val="FFFFFF"/>
          </a:solidFill>
          <a:ln w="12700">
            <a:solidFill>
              <a:srgbClr val="E4D8C4"/>
            </a:solidFill>
            <a:prstDash val="solid"/>
          </a:ln>
        </p:spPr>
      </p:sp>
      <p:sp>
        <p:nvSpPr>
          <p:cNvPr id="15" name="Shape 11"/>
          <p:cNvSpPr/>
          <p:nvPr/>
        </p:nvSpPr>
        <p:spPr>
          <a:xfrm>
            <a:off x="868680" y="4434840"/>
            <a:ext cx="640080" cy="640080"/>
          </a:xfrm>
          <a:prstGeom prst="ellipse">
            <a:avLst/>
          </a:prstGeom>
          <a:solidFill>
            <a:srgbClr val="E8DCC6"/>
          </a:solidFill>
          <a:ln w="12700">
            <a:solidFill>
              <a:srgbClr val="E8DCC6"/>
            </a:solidFill>
            <a:prstDash val="solid"/>
          </a:ln>
        </p:spPr>
      </p:sp>
      <p:pic>
        <p:nvPicPr>
          <p:cNvPr id="16" name="Image 2" descr="preencoded.png">    </p:cNvPr>
          <p:cNvPicPr>
            <a:picLocks noChangeAspect="1"/>
          </p:cNvPicPr>
          <p:nvPr/>
        </p:nvPicPr>
        <p:blipFill>
          <a:blip r:embed="rId3"/>
          <a:stretch>
            <a:fillRect/>
          </a:stretch>
        </p:blipFill>
        <p:spPr>
          <a:xfrm>
            <a:off x="1028700" y="4594860"/>
            <a:ext cx="320040" cy="320040"/>
          </a:xfrm>
          <a:prstGeom prst="rect">
            <a:avLst/>
          </a:prstGeom>
        </p:spPr>
      </p:pic>
      <p:sp>
        <p:nvSpPr>
          <p:cNvPr id="17" name="Text 12"/>
          <p:cNvSpPr txBox="1"/>
          <p:nvPr/>
        </p:nvSpPr>
        <p:spPr>
          <a:xfrm>
            <a:off x="1691640" y="443484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Presence in Tunisia and North Africa</a:t>
            </a:r>
            <a:endParaRPr lang="en-US" sz="1600" dirty="0"/>
          </a:p>
        </p:txBody>
      </p:sp>
      <p:sp>
        <p:nvSpPr>
          <p:cNvPr id="18" name="Text 13"/>
          <p:cNvSpPr txBox="1"/>
          <p:nvPr/>
        </p:nvSpPr>
        <p:spPr>
          <a:xfrm>
            <a:off x="1691640" y="493776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A visible, respected role in a country's heritage, alongside a Tunisian-led team, at a fraction of a campaign's cost.</a:t>
            </a:r>
            <a:endParaRPr lang="en-US" sz="1250" dirty="0"/>
          </a:p>
        </p:txBody>
      </p:sp>
      <p:sp>
        <p:nvSpPr>
          <p:cNvPr id="19" name="Shape 14"/>
          <p:cNvSpPr/>
          <p:nvPr/>
        </p:nvSpPr>
        <p:spPr>
          <a:xfrm>
            <a:off x="6263640" y="4160520"/>
            <a:ext cx="5303520" cy="1874520"/>
          </a:xfrm>
          <a:prstGeom prst="roundRect">
            <a:avLst>
              <a:gd name="adj" fmla="val 5854"/>
            </a:avLst>
          </a:prstGeom>
          <a:solidFill>
            <a:srgbClr val="FFFFFF"/>
          </a:solidFill>
          <a:ln w="12700">
            <a:solidFill>
              <a:srgbClr val="E4D8C4"/>
            </a:solidFill>
            <a:prstDash val="solid"/>
          </a:ln>
        </p:spPr>
      </p:sp>
      <p:sp>
        <p:nvSpPr>
          <p:cNvPr id="20" name="Shape 15"/>
          <p:cNvSpPr/>
          <p:nvPr/>
        </p:nvSpPr>
        <p:spPr>
          <a:xfrm>
            <a:off x="6492240" y="4434840"/>
            <a:ext cx="640080" cy="640080"/>
          </a:xfrm>
          <a:prstGeom prst="ellipse">
            <a:avLst/>
          </a:prstGeom>
          <a:solidFill>
            <a:srgbClr val="E8DCC6"/>
          </a:solidFill>
          <a:ln w="12700">
            <a:solidFill>
              <a:srgbClr val="E8DCC6"/>
            </a:solidFill>
            <a:prstDash val="solid"/>
          </a:ln>
        </p:spPr>
      </p:sp>
      <p:pic>
        <p:nvPicPr>
          <p:cNvPr id="21" name="Image 3" descr="preencoded.png">    </p:cNvPr>
          <p:cNvPicPr>
            <a:picLocks noChangeAspect="1"/>
          </p:cNvPicPr>
          <p:nvPr/>
        </p:nvPicPr>
        <p:blipFill>
          <a:blip r:embed="rId4"/>
          <a:stretch>
            <a:fillRect/>
          </a:stretch>
        </p:blipFill>
        <p:spPr>
          <a:xfrm>
            <a:off x="6652260" y="4594860"/>
            <a:ext cx="320040" cy="320040"/>
          </a:xfrm>
          <a:prstGeom prst="rect">
            <a:avLst/>
          </a:prstGeom>
        </p:spPr>
      </p:pic>
      <p:sp>
        <p:nvSpPr>
          <p:cNvPr id="22" name="Text 16"/>
          <p:cNvSpPr txBox="1"/>
          <p:nvPr/>
        </p:nvSpPr>
        <p:spPr>
          <a:xfrm>
            <a:off x="7315200" y="4434840"/>
            <a:ext cx="4069080" cy="457200"/>
          </a:xfrm>
          <a:prstGeom prst="rect">
            <a:avLst/>
          </a:prstGeom>
          <a:noFill/>
          <a:ln/>
        </p:spPr>
        <p:txBody>
          <a:bodyPr wrap="square" lIns="0" tIns="0" rIns="0" bIns="0" rtlCol="0" anchor="ctr"/>
          <a:lstStyle/>
          <a:p>
            <a:pPr indent="0" marL="0">
              <a:buNone/>
            </a:pPr>
            <a:r>
              <a:rPr lang="en-US" sz="1600" b="1" dirty="0">
                <a:solidFill>
                  <a:srgbClr val="4A3527"/>
                </a:solidFill>
                <a:latin typeface="Cambria" pitchFamily="34" charset="0"/>
                <a:ea typeface="Cambria" pitchFamily="34" charset="-122"/>
                <a:cs typeface="Cambria" pitchFamily="34" charset="-120"/>
              </a:rPr>
              <a:t>Innovation your audience can touch</a:t>
            </a:r>
            <a:endParaRPr lang="en-US" sz="1600" dirty="0"/>
          </a:p>
        </p:txBody>
      </p:sp>
      <p:sp>
        <p:nvSpPr>
          <p:cNvPr id="23" name="Text 17"/>
          <p:cNvSpPr txBox="1"/>
          <p:nvPr/>
        </p:nvSpPr>
        <p:spPr>
          <a:xfrm>
            <a:off x="7315200" y="4937760"/>
            <a:ext cx="4069080" cy="1005840"/>
          </a:xfrm>
          <a:prstGeom prst="rect">
            <a:avLst/>
          </a:prstGeom>
          <a:noFill/>
          <a:ln/>
        </p:spPr>
        <p:txBody>
          <a:bodyPr wrap="square" lIns="0" tIns="0" rIns="0" bIns="0" rtlCol="0" anchor="t"/>
          <a:lstStyle/>
          <a:p>
            <a:pPr indent="0" marL="0">
              <a:buNone/>
            </a:pPr>
            <a:r>
              <a:rPr lang="en-US" sz="1250" dirty="0">
                <a:solidFill>
                  <a:srgbClr val="2E2118"/>
                </a:solidFill>
                <a:latin typeface="Calibri" pitchFamily="34" charset="0"/>
                <a:ea typeface="Calibri" pitchFamily="34" charset="-122"/>
                <a:cs typeface="Calibri" pitchFamily="34" charset="-120"/>
              </a:rPr>
              <a:t>Phones, 3D, AR and headsets in the service of memory. A live demo at your event that nobody expects at a tech gathering.</a:t>
            </a:r>
            <a:endParaRPr lang="en-US" sz="1250" dirty="0"/>
          </a:p>
        </p:txBody>
      </p:sp>
      <p:sp>
        <p:nvSpPr>
          <p:cNvPr id="24" name="Text 1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WAYS TO PARTNER</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Pick one, or shape one with us</a:t>
            </a:r>
            <a:endParaRPr lang="en-US" sz="3200" dirty="0"/>
          </a:p>
        </p:txBody>
      </p:sp>
      <p:sp>
        <p:nvSpPr>
          <p:cNvPr id="4" name="Shape 2"/>
          <p:cNvSpPr/>
          <p:nvPr/>
        </p:nvSpPr>
        <p:spPr>
          <a:xfrm>
            <a:off x="640080" y="1965960"/>
            <a:ext cx="3291840" cy="1965960"/>
          </a:xfrm>
          <a:prstGeom prst="roundRect">
            <a:avLst>
              <a:gd name="adj" fmla="val 5581"/>
            </a:avLst>
          </a:prstGeom>
          <a:solidFill>
            <a:srgbClr val="FDF8F0"/>
          </a:solidFill>
          <a:ln w="12700">
            <a:solidFill>
              <a:srgbClr val="E9DFCC"/>
            </a:solidFill>
            <a:prstDash val="solid"/>
          </a:ln>
        </p:spPr>
      </p:sp>
      <p:sp>
        <p:nvSpPr>
          <p:cNvPr id="5" name="Shape 3"/>
          <p:cNvSpPr/>
          <p:nvPr/>
        </p:nvSpPr>
        <p:spPr>
          <a:xfrm>
            <a:off x="868680" y="2194560"/>
            <a:ext cx="548640" cy="54864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005840" y="2331720"/>
            <a:ext cx="274320" cy="274320"/>
          </a:xfrm>
          <a:prstGeom prst="rect">
            <a:avLst/>
          </a:prstGeom>
        </p:spPr>
      </p:pic>
      <p:sp>
        <p:nvSpPr>
          <p:cNvPr id="7" name="Text 4"/>
          <p:cNvSpPr txBox="1"/>
          <p:nvPr/>
        </p:nvSpPr>
        <p:spPr>
          <a:xfrm>
            <a:off x="1554480" y="224028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Your team's hours, on real work</a:t>
            </a:r>
            <a:endParaRPr lang="en-US" sz="1450" dirty="0"/>
          </a:p>
        </p:txBody>
      </p:sp>
      <p:sp>
        <p:nvSpPr>
          <p:cNvPr id="8" name="Text 5"/>
          <p:cNvSpPr txBox="1"/>
          <p:nvPr/>
        </p:nvSpPr>
        <p:spPr>
          <a:xfrm>
            <a:off x="868680" y="283464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Optimise a scan, research an object, translate a label, build a piece of the museum. Published under their names.</a:t>
            </a:r>
            <a:endParaRPr lang="en-US" sz="1150" dirty="0"/>
          </a:p>
        </p:txBody>
      </p:sp>
      <p:sp>
        <p:nvSpPr>
          <p:cNvPr id="9" name="Shape 6"/>
          <p:cNvSpPr/>
          <p:nvPr/>
        </p:nvSpPr>
        <p:spPr>
          <a:xfrm>
            <a:off x="4453128" y="1965960"/>
            <a:ext cx="3291840" cy="1965960"/>
          </a:xfrm>
          <a:prstGeom prst="roundRect">
            <a:avLst>
              <a:gd name="adj" fmla="val 5581"/>
            </a:avLst>
          </a:prstGeom>
          <a:solidFill>
            <a:srgbClr val="FDF8F0"/>
          </a:solidFill>
          <a:ln w="12700">
            <a:solidFill>
              <a:srgbClr val="E9DFCC"/>
            </a:solidFill>
            <a:prstDash val="solid"/>
          </a:ln>
        </p:spPr>
      </p:sp>
      <p:sp>
        <p:nvSpPr>
          <p:cNvPr id="10" name="Shape 7"/>
          <p:cNvSpPr/>
          <p:nvPr/>
        </p:nvSpPr>
        <p:spPr>
          <a:xfrm>
            <a:off x="4681728" y="2194560"/>
            <a:ext cx="548640" cy="548640"/>
          </a:xfrm>
          <a:prstGeom prst="ellipse">
            <a:avLst/>
          </a:prstGeom>
          <a:solidFill>
            <a:srgbClr val="FFFFFF"/>
          </a:solidFill>
          <a:ln w="12700">
            <a:solidFill>
              <a:srgbClr val="FFFFFF"/>
            </a:solidFill>
            <a:prstDash val="solid"/>
          </a:ln>
        </p:spPr>
      </p:sp>
      <p:pic>
        <p:nvPicPr>
          <p:cNvPr id="11" name="Image 1" descr="preencoded.png">    </p:cNvPr>
          <p:cNvPicPr>
            <a:picLocks noChangeAspect="1"/>
          </p:cNvPicPr>
          <p:nvPr/>
        </p:nvPicPr>
        <p:blipFill>
          <a:blip r:embed="rId2"/>
          <a:stretch>
            <a:fillRect/>
          </a:stretch>
        </p:blipFill>
        <p:spPr>
          <a:xfrm>
            <a:off x="4818888" y="2331720"/>
            <a:ext cx="274320" cy="274320"/>
          </a:xfrm>
          <a:prstGeom prst="rect">
            <a:avLst/>
          </a:prstGeom>
        </p:spPr>
      </p:pic>
      <p:sp>
        <p:nvSpPr>
          <p:cNvPr id="12" name="Text 8"/>
          <p:cNvSpPr txBox="1"/>
          <p:nvPr/>
        </p:nvSpPr>
        <p:spPr>
          <a:xfrm>
            <a:off x="5367528" y="224028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Adopt a gallery in the museum</a:t>
            </a:r>
            <a:endParaRPr lang="en-US" sz="1450" dirty="0"/>
          </a:p>
        </p:txBody>
      </p:sp>
      <p:sp>
        <p:nvSpPr>
          <p:cNvPr id="13" name="Text 9"/>
          <p:cNvSpPr txBox="1"/>
          <p:nvPr/>
        </p:nvSpPr>
        <p:spPr>
          <a:xfrm>
            <a:off x="4681728" y="283464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Fund one gallery of the virtual museum, walls to stories, and it carries your name in the browser and the headset.</a:t>
            </a:r>
            <a:endParaRPr lang="en-US" sz="1150" dirty="0"/>
          </a:p>
        </p:txBody>
      </p:sp>
      <p:sp>
        <p:nvSpPr>
          <p:cNvPr id="14" name="Shape 10"/>
          <p:cNvSpPr/>
          <p:nvPr/>
        </p:nvSpPr>
        <p:spPr>
          <a:xfrm>
            <a:off x="8266176" y="1965960"/>
            <a:ext cx="3291840" cy="1965960"/>
          </a:xfrm>
          <a:prstGeom prst="roundRect">
            <a:avLst>
              <a:gd name="adj" fmla="val 5581"/>
            </a:avLst>
          </a:prstGeom>
          <a:solidFill>
            <a:srgbClr val="FDF8F0"/>
          </a:solidFill>
          <a:ln w="12700">
            <a:solidFill>
              <a:srgbClr val="E9DFCC"/>
            </a:solidFill>
            <a:prstDash val="solid"/>
          </a:ln>
        </p:spPr>
      </p:sp>
      <p:sp>
        <p:nvSpPr>
          <p:cNvPr id="15" name="Shape 11"/>
          <p:cNvSpPr/>
          <p:nvPr/>
        </p:nvSpPr>
        <p:spPr>
          <a:xfrm>
            <a:off x="8494776" y="2194560"/>
            <a:ext cx="548640" cy="548640"/>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8631936" y="2331720"/>
            <a:ext cx="274320" cy="274320"/>
          </a:xfrm>
          <a:prstGeom prst="rect">
            <a:avLst/>
          </a:prstGeom>
        </p:spPr>
      </p:pic>
      <p:sp>
        <p:nvSpPr>
          <p:cNvPr id="17" name="Text 12"/>
          <p:cNvSpPr txBox="1"/>
          <p:nvPr/>
        </p:nvSpPr>
        <p:spPr>
          <a:xfrm>
            <a:off x="9180576" y="224028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Build an experience with us</a:t>
            </a:r>
            <a:endParaRPr lang="en-US" sz="1450" dirty="0"/>
          </a:p>
        </p:txBody>
      </p:sp>
      <p:sp>
        <p:nvSpPr>
          <p:cNvPr id="18" name="Text 13"/>
          <p:cNvSpPr txBox="1"/>
          <p:nvPr/>
        </p:nvSpPr>
        <p:spPr>
          <a:xfrm>
            <a:off x="8494776" y="283464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Your developers, our volunteers and our published scans: an AR lesson, a VR room, a piece for your own event.</a:t>
            </a:r>
            <a:endParaRPr lang="en-US" sz="1150" dirty="0"/>
          </a:p>
        </p:txBody>
      </p:sp>
      <p:sp>
        <p:nvSpPr>
          <p:cNvPr id="19" name="Shape 14"/>
          <p:cNvSpPr/>
          <p:nvPr/>
        </p:nvSpPr>
        <p:spPr>
          <a:xfrm>
            <a:off x="640080" y="4160520"/>
            <a:ext cx="3291840" cy="1965960"/>
          </a:xfrm>
          <a:prstGeom prst="roundRect">
            <a:avLst>
              <a:gd name="adj" fmla="val 5581"/>
            </a:avLst>
          </a:prstGeom>
          <a:solidFill>
            <a:srgbClr val="FDF8F0"/>
          </a:solidFill>
          <a:ln w="12700">
            <a:solidFill>
              <a:srgbClr val="E9DFCC"/>
            </a:solidFill>
            <a:prstDash val="solid"/>
          </a:ln>
        </p:spPr>
      </p:sp>
      <p:sp>
        <p:nvSpPr>
          <p:cNvPr id="20" name="Shape 15"/>
          <p:cNvSpPr/>
          <p:nvPr/>
        </p:nvSpPr>
        <p:spPr>
          <a:xfrm>
            <a:off x="868680" y="4389120"/>
            <a:ext cx="548640" cy="548640"/>
          </a:xfrm>
          <a:prstGeom prst="ellipse">
            <a:avLst/>
          </a:prstGeom>
          <a:solidFill>
            <a:srgbClr val="FFFFFF"/>
          </a:solidFill>
          <a:ln w="12700">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1005840" y="4526280"/>
            <a:ext cx="274320" cy="274320"/>
          </a:xfrm>
          <a:prstGeom prst="rect">
            <a:avLst/>
          </a:prstGeom>
        </p:spPr>
      </p:pic>
      <p:sp>
        <p:nvSpPr>
          <p:cNvPr id="22" name="Text 16"/>
          <p:cNvSpPr txBox="1"/>
          <p:nvPr/>
        </p:nvSpPr>
        <p:spPr>
          <a:xfrm>
            <a:off x="1554480" y="443484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A care day for a coastal site</a:t>
            </a:r>
            <a:endParaRPr lang="en-US" sz="1450" dirty="0"/>
          </a:p>
        </p:txBody>
      </p:sp>
      <p:sp>
        <p:nvSpPr>
          <p:cNvPr id="23" name="Text 17"/>
          <p:cNvSpPr txBox="1"/>
          <p:nvPr/>
        </p:nvSpPr>
        <p:spPr>
          <a:xfrm>
            <a:off x="868680" y="502920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With the site authorities: cleaning and care at a coastal site with local volunteers, who are paid for their day.</a:t>
            </a:r>
            <a:endParaRPr lang="en-US" sz="1150" dirty="0"/>
          </a:p>
        </p:txBody>
      </p:sp>
      <p:sp>
        <p:nvSpPr>
          <p:cNvPr id="24" name="Shape 18"/>
          <p:cNvSpPr/>
          <p:nvPr/>
        </p:nvSpPr>
        <p:spPr>
          <a:xfrm>
            <a:off x="4453128" y="4160520"/>
            <a:ext cx="3291840" cy="1965960"/>
          </a:xfrm>
          <a:prstGeom prst="roundRect">
            <a:avLst>
              <a:gd name="adj" fmla="val 5581"/>
            </a:avLst>
          </a:prstGeom>
          <a:solidFill>
            <a:srgbClr val="FDF8F0"/>
          </a:solidFill>
          <a:ln w="12700">
            <a:solidFill>
              <a:srgbClr val="E9DFCC"/>
            </a:solidFill>
            <a:prstDash val="solid"/>
          </a:ln>
        </p:spPr>
      </p:sp>
      <p:sp>
        <p:nvSpPr>
          <p:cNvPr id="25" name="Shape 19"/>
          <p:cNvSpPr/>
          <p:nvPr/>
        </p:nvSpPr>
        <p:spPr>
          <a:xfrm>
            <a:off x="4681728" y="4389120"/>
            <a:ext cx="548640" cy="548640"/>
          </a:xfrm>
          <a:prstGeom prst="ellipse">
            <a:avLst/>
          </a:prstGeom>
          <a:solidFill>
            <a:srgbClr val="FFFFFF"/>
          </a:solidFill>
          <a:ln w="12700">
            <a:solidFill>
              <a:srgbClr val="FFFFFF"/>
            </a:solidFill>
            <a:prstDash val="solid"/>
          </a:ln>
        </p:spPr>
      </p:sp>
      <p:pic>
        <p:nvPicPr>
          <p:cNvPr id="26" name="Image 4" descr="preencoded.png">    </p:cNvPr>
          <p:cNvPicPr>
            <a:picLocks noChangeAspect="1"/>
          </p:cNvPicPr>
          <p:nvPr/>
        </p:nvPicPr>
        <p:blipFill>
          <a:blip r:embed="rId5"/>
          <a:stretch>
            <a:fillRect/>
          </a:stretch>
        </p:blipFill>
        <p:spPr>
          <a:xfrm>
            <a:off x="4818888" y="4526280"/>
            <a:ext cx="274320" cy="274320"/>
          </a:xfrm>
          <a:prstGeom prst="rect">
            <a:avLst/>
          </a:prstGeom>
        </p:spPr>
      </p:pic>
      <p:sp>
        <p:nvSpPr>
          <p:cNvPr id="27" name="Text 20"/>
          <p:cNvSpPr txBox="1"/>
          <p:nvPr/>
        </p:nvSpPr>
        <p:spPr>
          <a:xfrm>
            <a:off x="5367528" y="443484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Learn 3D capture with a phone</a:t>
            </a:r>
            <a:endParaRPr lang="en-US" sz="1450" dirty="0"/>
          </a:p>
        </p:txBody>
      </p:sp>
      <p:sp>
        <p:nvSpPr>
          <p:cNvPr id="28" name="Text 21"/>
          <p:cNvSpPr txBox="1"/>
          <p:nvPr/>
        </p:nvSpPr>
        <p:spPr>
          <a:xfrm>
            <a:off x="4681728" y="502920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A workshop for your team, on objects and places we are free to scan, with the method our volunteers use.</a:t>
            </a:r>
            <a:endParaRPr lang="en-US" sz="1150" dirty="0"/>
          </a:p>
        </p:txBody>
      </p:sp>
      <p:sp>
        <p:nvSpPr>
          <p:cNvPr id="29" name="Shape 22"/>
          <p:cNvSpPr/>
          <p:nvPr/>
        </p:nvSpPr>
        <p:spPr>
          <a:xfrm>
            <a:off x="8266176" y="4160520"/>
            <a:ext cx="3291840" cy="1965960"/>
          </a:xfrm>
          <a:prstGeom prst="roundRect">
            <a:avLst>
              <a:gd name="adj" fmla="val 5581"/>
            </a:avLst>
          </a:prstGeom>
          <a:solidFill>
            <a:srgbClr val="FDF8F0"/>
          </a:solidFill>
          <a:ln w="12700">
            <a:solidFill>
              <a:srgbClr val="E9DFCC"/>
            </a:solidFill>
            <a:prstDash val="solid"/>
          </a:ln>
        </p:spPr>
      </p:sp>
      <p:sp>
        <p:nvSpPr>
          <p:cNvPr id="30" name="Shape 23"/>
          <p:cNvSpPr/>
          <p:nvPr/>
        </p:nvSpPr>
        <p:spPr>
          <a:xfrm>
            <a:off x="8494776" y="4389120"/>
            <a:ext cx="548640" cy="548640"/>
          </a:xfrm>
          <a:prstGeom prst="ellipse">
            <a:avLst/>
          </a:prstGeom>
          <a:solidFill>
            <a:srgbClr val="FFFFFF"/>
          </a:solidFill>
          <a:ln w="12700">
            <a:solidFill>
              <a:srgbClr val="FFFFFF"/>
            </a:solidFill>
            <a:prstDash val="solid"/>
          </a:ln>
        </p:spPr>
      </p:sp>
      <p:pic>
        <p:nvPicPr>
          <p:cNvPr id="31" name="Image 5" descr="preencoded.png">    </p:cNvPr>
          <p:cNvPicPr>
            <a:picLocks noChangeAspect="1"/>
          </p:cNvPicPr>
          <p:nvPr/>
        </p:nvPicPr>
        <p:blipFill>
          <a:blip r:embed="rId6"/>
          <a:stretch>
            <a:fillRect/>
          </a:stretch>
        </p:blipFill>
        <p:spPr>
          <a:xfrm>
            <a:off x="8631936" y="4526280"/>
            <a:ext cx="274320" cy="274320"/>
          </a:xfrm>
          <a:prstGeom prst="rect">
            <a:avLst/>
          </a:prstGeom>
        </p:spPr>
      </p:pic>
      <p:sp>
        <p:nvSpPr>
          <p:cNvPr id="32" name="Text 24"/>
          <p:cNvSpPr txBox="1"/>
          <p:nvPr/>
        </p:nvSpPr>
        <p:spPr>
          <a:xfrm>
            <a:off x="9180576" y="4434840"/>
            <a:ext cx="2240280" cy="457200"/>
          </a:xfrm>
          <a:prstGeom prst="rect">
            <a:avLst/>
          </a:prstGeom>
          <a:noFill/>
          <a:ln/>
        </p:spPr>
        <p:txBody>
          <a:bodyPr wrap="square" lIns="0" tIns="0" rIns="0" bIns="0" rtlCol="0" anchor="ctr"/>
          <a:lstStyle/>
          <a:p>
            <a:pPr indent="0" marL="0">
              <a:buNone/>
            </a:pPr>
            <a:r>
              <a:rPr lang="en-US" sz="1450" b="1" dirty="0">
                <a:solidFill>
                  <a:srgbClr val="4A3527"/>
                </a:solidFill>
                <a:latin typeface="Cambria" pitchFamily="34" charset="0"/>
                <a:ea typeface="Cambria" pitchFamily="34" charset="-122"/>
                <a:cs typeface="Cambria" pitchFamily="34" charset="-120"/>
              </a:rPr>
              <a:t>A talk or a room at your event</a:t>
            </a:r>
            <a:endParaRPr lang="en-US" sz="1450" dirty="0"/>
          </a:p>
        </p:txBody>
      </p:sp>
      <p:sp>
        <p:nvSpPr>
          <p:cNvPr id="33" name="Text 25"/>
          <p:cNvSpPr txBox="1"/>
          <p:nvPr/>
        </p:nvSpPr>
        <p:spPr>
          <a:xfrm>
            <a:off x="8494776" y="5029200"/>
            <a:ext cx="2834640" cy="100584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Our team speaks on community XR and heritage at risk, or brings the 3D experience and a headset to you.</a:t>
            </a:r>
            <a:endParaRPr lang="en-US" sz="1150" dirty="0"/>
          </a:p>
        </p:txBody>
      </p:sp>
      <p:sp>
        <p:nvSpPr>
          <p:cNvPr id="34" name="Text 26"/>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41A1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WHAT YOU GET BACK</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Impact you can point at</a:t>
            </a:r>
            <a:endParaRPr lang="en-US" sz="3200" dirty="0"/>
          </a:p>
        </p:txBody>
      </p:sp>
      <p:sp>
        <p:nvSpPr>
          <p:cNvPr id="4" name="Text 2"/>
          <p:cNvSpPr txBox="1"/>
          <p:nvPr/>
        </p:nvSpPr>
        <p:spPr>
          <a:xfrm>
            <a:off x="640080" y="2011680"/>
            <a:ext cx="694944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Every gallery, experience and piece your support made possible is public, in 3D, with your name beside it.</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Numbers, monthly: visits, objects viewed, people trained, volunteer hours, from the same counter we use ourselves.</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Stories and pictures for your communications team, told plainly, with your part in them.</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Your logo on the site, in the experience and at our events, and a mention in every newsletter edition.</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Employees who learned something real and can show their families what they helped keep.</a:t>
            </a:r>
            <a:endParaRPr lang="en-US" sz="1500" dirty="0"/>
          </a:p>
          <a:p>
            <a:pPr marL="342900" indent="-342900">
              <a:spcAft>
                <a:spcPts val="1000"/>
              </a:spcAft>
              <a:buSzPct val="100000"/>
              <a:buChar char="•"/>
            </a:pPr>
            <a:r>
              <a:rPr lang="en-US" sz="1500" dirty="0">
                <a:solidFill>
                  <a:srgbClr val="E8DCC6"/>
                </a:solidFill>
                <a:latin typeface="Calibri" pitchFamily="34" charset="0"/>
                <a:ea typeface="Calibri" pitchFamily="34" charset="-122"/>
                <a:cs typeface="Calibri" pitchFamily="34" charset="-120"/>
              </a:rPr>
              <a:t>A tax-deductible gift through our fiscal sponsor, Florida Community Innovation, a U.S. 501(c)(3).</a:t>
            </a:r>
            <a:endParaRPr lang="en-US" sz="1500" dirty="0"/>
          </a:p>
        </p:txBody>
      </p:sp>
      <p:sp>
        <p:nvSpPr>
          <p:cNvPr id="5" name="Shape 3"/>
          <p:cNvSpPr/>
          <p:nvPr/>
        </p:nvSpPr>
        <p:spPr>
          <a:xfrm>
            <a:off x="8138160" y="2011680"/>
            <a:ext cx="3429000" cy="2377440"/>
          </a:xfrm>
          <a:prstGeom prst="roundRect">
            <a:avLst>
              <a:gd name="adj" fmla="val 5385"/>
            </a:avLst>
          </a:prstGeom>
          <a:solidFill>
            <a:srgbClr val="4A3527"/>
          </a:solidFill>
          <a:ln w="12700">
            <a:solidFill>
              <a:srgbClr val="4A3527"/>
            </a:solidFill>
            <a:prstDash val="solid"/>
          </a:ln>
        </p:spPr>
      </p:sp>
      <p:sp>
        <p:nvSpPr>
          <p:cNvPr id="6" name="Text 4"/>
          <p:cNvSpPr txBox="1"/>
          <p:nvPr/>
        </p:nvSpPr>
        <p:spPr>
          <a:xfrm>
            <a:off x="8366760" y="2194560"/>
            <a:ext cx="3017520" cy="640080"/>
          </a:xfrm>
          <a:prstGeom prst="rect">
            <a:avLst/>
          </a:prstGeom>
          <a:noFill/>
          <a:ln/>
        </p:spPr>
        <p:txBody>
          <a:bodyPr wrap="square" lIns="0" tIns="0" rIns="0" bIns="0" rtlCol="0" anchor="ctr"/>
          <a:lstStyle/>
          <a:p>
            <a:pPr indent="0" marL="0">
              <a:buNone/>
            </a:pPr>
            <a:r>
              <a:rPr lang="en-US" sz="1500" b="1" dirty="0">
                <a:solidFill>
                  <a:srgbClr val="FFCD05"/>
                </a:solidFill>
                <a:latin typeface="Cambria" pitchFamily="34" charset="0"/>
                <a:ea typeface="Cambria" pitchFamily="34" charset="-122"/>
                <a:cs typeface="Cambria" pitchFamily="34" charset="-120"/>
              </a:rPr>
              <a:t>One promise, whatever the partnership</a:t>
            </a:r>
            <a:endParaRPr lang="en-US" sz="1500" dirty="0"/>
          </a:p>
        </p:txBody>
      </p:sp>
      <p:sp>
        <p:nvSpPr>
          <p:cNvPr id="7" name="Text 5"/>
          <p:cNvSpPr txBox="1"/>
          <p:nvPr/>
        </p:nvSpPr>
        <p:spPr>
          <a:xfrm>
            <a:off x="8366760" y="2834640"/>
            <a:ext cx="3017520" cy="1463040"/>
          </a:xfrm>
          <a:prstGeom prst="rect">
            <a:avLst/>
          </a:prstGeom>
          <a:noFill/>
          <a:ln/>
        </p:spPr>
        <p:txBody>
          <a:bodyPr wrap="square" lIns="0" tIns="0" rIns="0" bIns="0" rtlCol="0" anchor="t"/>
          <a:lstStyle/>
          <a:p>
            <a:pPr indent="0" marL="0">
              <a:buNone/>
            </a:pPr>
            <a:r>
              <a:rPr lang="en-US" sz="1250" dirty="0">
                <a:solidFill>
                  <a:srgbClr val="FDF8F0"/>
                </a:solidFill>
                <a:latin typeface="Calibri" pitchFamily="34" charset="0"/>
                <a:ea typeface="Calibri" pitchFamily="34" charset="-122"/>
                <a:cs typeface="Calibri" pitchFamily="34" charset="-120"/>
              </a:rPr>
              <a:t>The archive stays free and open, and our volunteers are never made to work so that someone else earns. We sell training, events and our time. Never the heritage.</a:t>
            </a:r>
            <a:endParaRPr lang="en-US" sz="1250" dirty="0"/>
          </a:p>
        </p:txBody>
      </p:sp>
      <p:sp>
        <p:nvSpPr>
          <p:cNvPr id="8" name="Text 6"/>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E8DCC6"/>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8F0"/>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PARTNERSHIP LEVELS</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A first step, and a way to grow</a:t>
            </a:r>
            <a:endParaRPr lang="en-US" sz="3200" dirty="0"/>
          </a:p>
        </p:txBody>
      </p:sp>
      <p:sp>
        <p:nvSpPr>
          <p:cNvPr id="4" name="Shape 2"/>
          <p:cNvSpPr/>
          <p:nvPr/>
        </p:nvSpPr>
        <p:spPr>
          <a:xfrm>
            <a:off x="640080" y="2011680"/>
            <a:ext cx="2121408" cy="3749040"/>
          </a:xfrm>
          <a:prstGeom prst="roundRect">
            <a:avLst>
              <a:gd name="adj" fmla="val 5172"/>
            </a:avLst>
          </a:prstGeom>
          <a:solidFill>
            <a:srgbClr val="FFFFFF"/>
          </a:solidFill>
          <a:ln w="12700">
            <a:solidFill>
              <a:srgbClr val="E4D8C4"/>
            </a:solidFill>
            <a:prstDash val="solid"/>
          </a:ln>
        </p:spPr>
      </p:sp>
      <p:sp>
        <p:nvSpPr>
          <p:cNvPr id="5" name="Text 3"/>
          <p:cNvSpPr txBox="1"/>
          <p:nvPr/>
        </p:nvSpPr>
        <p:spPr>
          <a:xfrm>
            <a:off x="822960" y="2194560"/>
            <a:ext cx="1755648" cy="45720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Care day</a:t>
            </a:r>
            <a:endParaRPr lang="en-US" sz="1500" dirty="0"/>
          </a:p>
        </p:txBody>
      </p:sp>
      <p:sp>
        <p:nvSpPr>
          <p:cNvPr id="6" name="Text 4"/>
          <p:cNvSpPr txBox="1"/>
          <p:nvPr/>
        </p:nvSpPr>
        <p:spPr>
          <a:xfrm>
            <a:off x="822960" y="2697480"/>
            <a:ext cx="1755648" cy="548640"/>
          </a:xfrm>
          <a:prstGeom prst="rect">
            <a:avLst/>
          </a:prstGeom>
          <a:noFill/>
          <a:ln/>
        </p:spPr>
        <p:txBody>
          <a:bodyPr wrap="square" lIns="0" tIns="0" rIns="0" bIns="0" rtlCol="0" anchor="ctr"/>
          <a:lstStyle/>
          <a:p>
            <a:pPr indent="0" marL="0">
              <a:buNone/>
            </a:pPr>
            <a:r>
              <a:rPr lang="en-US" sz="2400" b="1" dirty="0">
                <a:solidFill>
                  <a:srgbClr val="A35F3F"/>
                </a:solidFill>
                <a:latin typeface="Cambria" pitchFamily="34" charset="0"/>
                <a:ea typeface="Cambria" pitchFamily="34" charset="-122"/>
                <a:cs typeface="Cambria" pitchFamily="34" charset="-120"/>
              </a:rPr>
              <a:t>$2,500</a:t>
            </a:r>
            <a:endParaRPr lang="en-US" sz="2400" dirty="0"/>
          </a:p>
        </p:txBody>
      </p:sp>
      <p:sp>
        <p:nvSpPr>
          <p:cNvPr id="7" name="Text 5"/>
          <p:cNvSpPr txBox="1"/>
          <p:nvPr/>
        </p:nvSpPr>
        <p:spPr>
          <a:xfrm>
            <a:off x="822960" y="3383280"/>
            <a:ext cx="1755648" cy="118872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One day of cleaning and care at a coastal site, with local volunteers paid for their time.</a:t>
            </a:r>
            <a:endParaRPr lang="en-US" sz="1150" dirty="0"/>
          </a:p>
        </p:txBody>
      </p:sp>
      <p:sp>
        <p:nvSpPr>
          <p:cNvPr id="8" name="Text 6"/>
          <p:cNvSpPr txBox="1"/>
          <p:nvPr/>
        </p:nvSpPr>
        <p:spPr>
          <a:xfrm>
            <a:off x="822960" y="4709160"/>
            <a:ext cx="1755648" cy="914400"/>
          </a:xfrm>
          <a:prstGeom prst="rect">
            <a:avLst/>
          </a:prstGeom>
          <a:noFill/>
          <a:ln/>
        </p:spPr>
        <p:txBody>
          <a:bodyPr wrap="square" lIns="0" tIns="0" rIns="0" bIns="0" rtlCol="0" anchor="t"/>
          <a:lstStyle/>
          <a:p>
            <a:pPr indent="0" marL="0">
              <a:buNone/>
            </a:pPr>
            <a:r>
              <a:rPr lang="en-US" sz="1100" i="1" dirty="0">
                <a:solidFill>
                  <a:srgbClr val="7D6A58"/>
                </a:solidFill>
                <a:latin typeface="Calibri" pitchFamily="34" charset="0"/>
                <a:ea typeface="Calibri" pitchFamily="34" charset="-122"/>
                <a:cs typeface="Calibri" pitchFamily="34" charset="-120"/>
              </a:rPr>
              <a:t>Named on the day's story and pictures</a:t>
            </a:r>
            <a:endParaRPr lang="en-US" sz="1100" dirty="0"/>
          </a:p>
        </p:txBody>
      </p:sp>
      <p:sp>
        <p:nvSpPr>
          <p:cNvPr id="9" name="Shape 7"/>
          <p:cNvSpPr/>
          <p:nvPr/>
        </p:nvSpPr>
        <p:spPr>
          <a:xfrm>
            <a:off x="2889504" y="2011680"/>
            <a:ext cx="2121408" cy="3749040"/>
          </a:xfrm>
          <a:prstGeom prst="roundRect">
            <a:avLst>
              <a:gd name="adj" fmla="val 5172"/>
            </a:avLst>
          </a:prstGeom>
          <a:solidFill>
            <a:srgbClr val="FFFFFF"/>
          </a:solidFill>
          <a:ln w="12700">
            <a:solidFill>
              <a:srgbClr val="E4D8C4"/>
            </a:solidFill>
            <a:prstDash val="solid"/>
          </a:ln>
        </p:spPr>
      </p:sp>
      <p:sp>
        <p:nvSpPr>
          <p:cNvPr id="10" name="Text 8"/>
          <p:cNvSpPr txBox="1"/>
          <p:nvPr/>
        </p:nvSpPr>
        <p:spPr>
          <a:xfrm>
            <a:off x="3072384" y="2194560"/>
            <a:ext cx="1755648" cy="45720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Adopt a gallery</a:t>
            </a:r>
            <a:endParaRPr lang="en-US" sz="1500" dirty="0"/>
          </a:p>
        </p:txBody>
      </p:sp>
      <p:sp>
        <p:nvSpPr>
          <p:cNvPr id="11" name="Text 9"/>
          <p:cNvSpPr txBox="1"/>
          <p:nvPr/>
        </p:nvSpPr>
        <p:spPr>
          <a:xfrm>
            <a:off x="3072384" y="2697480"/>
            <a:ext cx="1755648" cy="548640"/>
          </a:xfrm>
          <a:prstGeom prst="rect">
            <a:avLst/>
          </a:prstGeom>
          <a:noFill/>
          <a:ln/>
        </p:spPr>
        <p:txBody>
          <a:bodyPr wrap="square" lIns="0" tIns="0" rIns="0" bIns="0" rtlCol="0" anchor="ctr"/>
          <a:lstStyle/>
          <a:p>
            <a:pPr indent="0" marL="0">
              <a:buNone/>
            </a:pPr>
            <a:r>
              <a:rPr lang="en-US" sz="2400" b="1" dirty="0">
                <a:solidFill>
                  <a:srgbClr val="A35F3F"/>
                </a:solidFill>
                <a:latin typeface="Cambria" pitchFamily="34" charset="0"/>
                <a:ea typeface="Cambria" pitchFamily="34" charset="-122"/>
                <a:cs typeface="Cambria" pitchFamily="34" charset="-120"/>
              </a:rPr>
              <a:t>$10,000</a:t>
            </a:r>
            <a:endParaRPr lang="en-US" sz="2400" dirty="0"/>
          </a:p>
        </p:txBody>
      </p:sp>
      <p:sp>
        <p:nvSpPr>
          <p:cNvPr id="12" name="Text 10"/>
          <p:cNvSpPr txBox="1"/>
          <p:nvPr/>
        </p:nvSpPr>
        <p:spPr>
          <a:xfrm>
            <a:off x="3072384" y="3383280"/>
            <a:ext cx="1755648" cy="118872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One gallery of the virtual museum, built, furnished and told, with your name on it.</a:t>
            </a:r>
            <a:endParaRPr lang="en-US" sz="1150" dirty="0"/>
          </a:p>
        </p:txBody>
      </p:sp>
      <p:sp>
        <p:nvSpPr>
          <p:cNvPr id="13" name="Text 11"/>
          <p:cNvSpPr txBox="1"/>
          <p:nvPr/>
        </p:nvSpPr>
        <p:spPr>
          <a:xfrm>
            <a:off x="3072384" y="4709160"/>
            <a:ext cx="1755648" cy="914400"/>
          </a:xfrm>
          <a:prstGeom prst="rect">
            <a:avLst/>
          </a:prstGeom>
          <a:noFill/>
          <a:ln/>
        </p:spPr>
        <p:txBody>
          <a:bodyPr wrap="square" lIns="0" tIns="0" rIns="0" bIns="0" rtlCol="0" anchor="t"/>
          <a:lstStyle/>
          <a:p>
            <a:pPr indent="0" marL="0">
              <a:buNone/>
            </a:pPr>
            <a:r>
              <a:rPr lang="en-US" sz="1100" i="1" dirty="0">
                <a:solidFill>
                  <a:srgbClr val="7D6A58"/>
                </a:solidFill>
                <a:latin typeface="Calibri" pitchFamily="34" charset="0"/>
                <a:ea typeface="Calibri" pitchFamily="34" charset="-122"/>
                <a:cs typeface="Calibri" pitchFamily="34" charset="-120"/>
              </a:rPr>
              <a:t>Your name in the browser and the headset</a:t>
            </a:r>
            <a:endParaRPr lang="en-US" sz="1100" dirty="0"/>
          </a:p>
        </p:txBody>
      </p:sp>
      <p:sp>
        <p:nvSpPr>
          <p:cNvPr id="14" name="Shape 12"/>
          <p:cNvSpPr/>
          <p:nvPr/>
        </p:nvSpPr>
        <p:spPr>
          <a:xfrm>
            <a:off x="5138928" y="2011680"/>
            <a:ext cx="2121408" cy="3749040"/>
          </a:xfrm>
          <a:prstGeom prst="roundRect">
            <a:avLst>
              <a:gd name="adj" fmla="val 5172"/>
            </a:avLst>
          </a:prstGeom>
          <a:solidFill>
            <a:srgbClr val="FFFFFF"/>
          </a:solidFill>
          <a:ln w="12700">
            <a:solidFill>
              <a:srgbClr val="E4D8C4"/>
            </a:solidFill>
            <a:prstDash val="solid"/>
          </a:ln>
        </p:spPr>
      </p:sp>
      <p:sp>
        <p:nvSpPr>
          <p:cNvPr id="15" name="Text 13"/>
          <p:cNvSpPr txBox="1"/>
          <p:nvPr/>
        </p:nvSpPr>
        <p:spPr>
          <a:xfrm>
            <a:off x="5321808" y="2194560"/>
            <a:ext cx="1755648" cy="45720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Sponsor a track</a:t>
            </a:r>
            <a:endParaRPr lang="en-US" sz="1500" dirty="0"/>
          </a:p>
        </p:txBody>
      </p:sp>
      <p:sp>
        <p:nvSpPr>
          <p:cNvPr id="16" name="Text 14"/>
          <p:cNvSpPr txBox="1"/>
          <p:nvPr/>
        </p:nvSpPr>
        <p:spPr>
          <a:xfrm>
            <a:off x="5321808" y="2697480"/>
            <a:ext cx="1755648" cy="548640"/>
          </a:xfrm>
          <a:prstGeom prst="rect">
            <a:avLst/>
          </a:prstGeom>
          <a:noFill/>
          <a:ln/>
        </p:spPr>
        <p:txBody>
          <a:bodyPr wrap="square" lIns="0" tIns="0" rIns="0" bIns="0" rtlCol="0" anchor="ctr"/>
          <a:lstStyle/>
          <a:p>
            <a:pPr indent="0" marL="0">
              <a:buNone/>
            </a:pPr>
            <a:r>
              <a:rPr lang="en-US" sz="2400" b="1" dirty="0">
                <a:solidFill>
                  <a:srgbClr val="A35F3F"/>
                </a:solidFill>
                <a:latin typeface="Cambria" pitchFamily="34" charset="0"/>
                <a:ea typeface="Cambria" pitchFamily="34" charset="-122"/>
                <a:cs typeface="Cambria" pitchFamily="34" charset="-120"/>
              </a:rPr>
              <a:t>$25,000</a:t>
            </a:r>
            <a:endParaRPr lang="en-US" sz="2400" dirty="0"/>
          </a:p>
        </p:txBody>
      </p:sp>
      <p:sp>
        <p:nvSpPr>
          <p:cNvPr id="17" name="Text 15"/>
          <p:cNvSpPr txBox="1"/>
          <p:nvPr/>
        </p:nvSpPr>
        <p:spPr>
          <a:xfrm>
            <a:off x="5321808" y="3383280"/>
            <a:ext cx="1755648" cy="118872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A year of one volunteer track, or a full course cohort of 20.</a:t>
            </a:r>
            <a:endParaRPr lang="en-US" sz="1150" dirty="0"/>
          </a:p>
        </p:txBody>
      </p:sp>
      <p:sp>
        <p:nvSpPr>
          <p:cNvPr id="18" name="Text 16"/>
          <p:cNvSpPr txBox="1"/>
          <p:nvPr/>
        </p:nvSpPr>
        <p:spPr>
          <a:xfrm>
            <a:off x="5321808" y="4709160"/>
            <a:ext cx="1755648" cy="914400"/>
          </a:xfrm>
          <a:prstGeom prst="rect">
            <a:avLst/>
          </a:prstGeom>
          <a:noFill/>
          <a:ln/>
        </p:spPr>
        <p:txBody>
          <a:bodyPr wrap="square" lIns="0" tIns="0" rIns="0" bIns="0" rtlCol="0" anchor="t"/>
          <a:lstStyle/>
          <a:p>
            <a:pPr indent="0" marL="0">
              <a:buNone/>
            </a:pPr>
            <a:r>
              <a:rPr lang="en-US" sz="1100" i="1" dirty="0">
                <a:solidFill>
                  <a:srgbClr val="7D6A58"/>
                </a:solidFill>
                <a:latin typeface="Calibri" pitchFamily="34" charset="0"/>
                <a:ea typeface="Calibri" pitchFamily="34" charset="-122"/>
                <a:cs typeface="Calibri" pitchFamily="34" charset="-120"/>
              </a:rPr>
              <a:t>Featured in materials, quarterly reports</a:t>
            </a:r>
            <a:endParaRPr lang="en-US" sz="1100" dirty="0"/>
          </a:p>
        </p:txBody>
      </p:sp>
      <p:sp>
        <p:nvSpPr>
          <p:cNvPr id="19" name="Shape 17"/>
          <p:cNvSpPr/>
          <p:nvPr/>
        </p:nvSpPr>
        <p:spPr>
          <a:xfrm>
            <a:off x="7388352" y="2011680"/>
            <a:ext cx="2121408" cy="3749040"/>
          </a:xfrm>
          <a:prstGeom prst="roundRect">
            <a:avLst>
              <a:gd name="adj" fmla="val 5172"/>
            </a:avLst>
          </a:prstGeom>
          <a:solidFill>
            <a:srgbClr val="4A3527"/>
          </a:solidFill>
          <a:ln w="12700">
            <a:solidFill>
              <a:srgbClr val="4A3527"/>
            </a:solidFill>
            <a:prstDash val="solid"/>
          </a:ln>
        </p:spPr>
      </p:sp>
      <p:sp>
        <p:nvSpPr>
          <p:cNvPr id="20" name="Text 18"/>
          <p:cNvSpPr txBox="1"/>
          <p:nvPr/>
        </p:nvSpPr>
        <p:spPr>
          <a:xfrm>
            <a:off x="7571232" y="2194560"/>
            <a:ext cx="1755648" cy="457200"/>
          </a:xfrm>
          <a:prstGeom prst="rect">
            <a:avLst/>
          </a:prstGeom>
          <a:noFill/>
          <a:ln/>
        </p:spPr>
        <p:txBody>
          <a:bodyPr wrap="square" lIns="0" tIns="0" rIns="0" bIns="0" rtlCol="0" anchor="ctr"/>
          <a:lstStyle/>
          <a:p>
            <a:pPr indent="0" marL="0">
              <a:buNone/>
            </a:pPr>
            <a:r>
              <a:rPr lang="en-US" sz="1500" b="1" dirty="0">
                <a:solidFill>
                  <a:srgbClr val="FFCD05"/>
                </a:solidFill>
                <a:latin typeface="Cambria" pitchFamily="34" charset="0"/>
                <a:ea typeface="Cambria" pitchFamily="34" charset="-122"/>
                <a:cs typeface="Cambria" pitchFamily="34" charset="-120"/>
              </a:rPr>
              <a:t>Founding partner</a:t>
            </a:r>
            <a:endParaRPr lang="en-US" sz="1500" dirty="0"/>
          </a:p>
        </p:txBody>
      </p:sp>
      <p:sp>
        <p:nvSpPr>
          <p:cNvPr id="21" name="Text 19"/>
          <p:cNvSpPr txBox="1"/>
          <p:nvPr/>
        </p:nvSpPr>
        <p:spPr>
          <a:xfrm>
            <a:off x="7571232" y="2697480"/>
            <a:ext cx="1755648"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$100,000</a:t>
            </a:r>
            <a:endParaRPr lang="en-US" sz="2400" dirty="0"/>
          </a:p>
        </p:txBody>
      </p:sp>
      <p:sp>
        <p:nvSpPr>
          <p:cNvPr id="22" name="Text 20"/>
          <p:cNvSpPr txBox="1"/>
          <p:nvPr/>
        </p:nvSpPr>
        <p:spPr>
          <a:xfrm>
            <a:off x="7571232" y="3383280"/>
            <a:ext cx="1755648" cy="1188720"/>
          </a:xfrm>
          <a:prstGeom prst="rect">
            <a:avLst/>
          </a:prstGeom>
          <a:noFill/>
          <a:ln/>
        </p:spPr>
        <p:txBody>
          <a:bodyPr wrap="square" lIns="0" tIns="0" rIns="0" bIns="0" rtlCol="0" anchor="t"/>
          <a:lstStyle/>
          <a:p>
            <a:pPr indent="0" marL="0">
              <a:buNone/>
            </a:pPr>
            <a:r>
              <a:rPr lang="en-US" sz="1150" dirty="0">
                <a:solidFill>
                  <a:srgbClr val="FDF8F0"/>
                </a:solidFill>
                <a:latin typeface="Calibri" pitchFamily="34" charset="0"/>
                <a:ea typeface="Calibri" pitchFamily="34" charset="-122"/>
                <a:cs typeface="Calibri" pitchFamily="34" charset="-120"/>
              </a:rPr>
              <a:t>A custom year-round volunteer programme for your team on one track.</a:t>
            </a:r>
            <a:endParaRPr lang="en-US" sz="1150" dirty="0"/>
          </a:p>
        </p:txBody>
      </p:sp>
      <p:sp>
        <p:nvSpPr>
          <p:cNvPr id="23" name="Text 21"/>
          <p:cNvSpPr txBox="1"/>
          <p:nvPr/>
        </p:nvSpPr>
        <p:spPr>
          <a:xfrm>
            <a:off x="7571232" y="4709160"/>
            <a:ext cx="1755648" cy="914400"/>
          </a:xfrm>
          <a:prstGeom prst="rect">
            <a:avLst/>
          </a:prstGeom>
          <a:noFill/>
          <a:ln/>
        </p:spPr>
        <p:txBody>
          <a:bodyPr wrap="square" lIns="0" tIns="0" rIns="0" bIns="0" rtlCol="0" anchor="t"/>
          <a:lstStyle/>
          <a:p>
            <a:pPr indent="0" marL="0">
              <a:buNone/>
            </a:pPr>
            <a:r>
              <a:rPr lang="en-US" sz="1100" i="1" dirty="0">
                <a:solidFill>
                  <a:srgbClr val="E8DCC6"/>
                </a:solidFill>
                <a:latin typeface="Calibri" pitchFamily="34" charset="0"/>
                <a:ea typeface="Calibri" pitchFamily="34" charset="-122"/>
                <a:cs typeface="Calibri" pitchFamily="34" charset="-120"/>
              </a:rPr>
              <a:t>Lead recognition, quarterly reports</a:t>
            </a:r>
            <a:endParaRPr lang="en-US" sz="1100" dirty="0"/>
          </a:p>
        </p:txBody>
      </p:sp>
      <p:sp>
        <p:nvSpPr>
          <p:cNvPr id="24" name="Shape 22"/>
          <p:cNvSpPr/>
          <p:nvPr/>
        </p:nvSpPr>
        <p:spPr>
          <a:xfrm>
            <a:off x="9637776" y="2011680"/>
            <a:ext cx="2121408" cy="3749040"/>
          </a:xfrm>
          <a:prstGeom prst="roundRect">
            <a:avLst>
              <a:gd name="adj" fmla="val 5172"/>
            </a:avLst>
          </a:prstGeom>
          <a:solidFill>
            <a:srgbClr val="4A3527"/>
          </a:solidFill>
          <a:ln w="12700">
            <a:solidFill>
              <a:srgbClr val="4A3527"/>
            </a:solidFill>
            <a:prstDash val="solid"/>
          </a:ln>
        </p:spPr>
      </p:sp>
      <p:sp>
        <p:nvSpPr>
          <p:cNvPr id="25" name="Text 23"/>
          <p:cNvSpPr txBox="1"/>
          <p:nvPr/>
        </p:nvSpPr>
        <p:spPr>
          <a:xfrm>
            <a:off x="9820656" y="2194560"/>
            <a:ext cx="1755648" cy="457200"/>
          </a:xfrm>
          <a:prstGeom prst="rect">
            <a:avLst/>
          </a:prstGeom>
          <a:noFill/>
          <a:ln/>
        </p:spPr>
        <p:txBody>
          <a:bodyPr wrap="square" lIns="0" tIns="0" rIns="0" bIns="0" rtlCol="0" anchor="ctr"/>
          <a:lstStyle/>
          <a:p>
            <a:pPr indent="0" marL="0">
              <a:buNone/>
            </a:pPr>
            <a:r>
              <a:rPr lang="en-US" sz="1500" b="1" dirty="0">
                <a:solidFill>
                  <a:srgbClr val="FFCD05"/>
                </a:solidFill>
                <a:latin typeface="Cambria" pitchFamily="34" charset="0"/>
                <a:ea typeface="Cambria" pitchFamily="34" charset="-122"/>
                <a:cs typeface="Cambria" pitchFamily="34" charset="-120"/>
              </a:rPr>
              <a:t>Title sponsor</a:t>
            </a:r>
            <a:endParaRPr lang="en-US" sz="1500" dirty="0"/>
          </a:p>
        </p:txBody>
      </p:sp>
      <p:sp>
        <p:nvSpPr>
          <p:cNvPr id="26" name="Text 24"/>
          <p:cNvSpPr txBox="1"/>
          <p:nvPr/>
        </p:nvSpPr>
        <p:spPr>
          <a:xfrm>
            <a:off x="9820656" y="2697480"/>
            <a:ext cx="1755648"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$300,000</a:t>
            </a:r>
            <a:endParaRPr lang="en-US" sz="2400" dirty="0"/>
          </a:p>
        </p:txBody>
      </p:sp>
      <p:sp>
        <p:nvSpPr>
          <p:cNvPr id="27" name="Text 25"/>
          <p:cNvSpPr txBox="1"/>
          <p:nvPr/>
        </p:nvSpPr>
        <p:spPr>
          <a:xfrm>
            <a:off x="9820656" y="3383280"/>
            <a:ext cx="1755648" cy="1188720"/>
          </a:xfrm>
          <a:prstGeom prst="rect">
            <a:avLst/>
          </a:prstGeom>
          <a:noFill/>
          <a:ln/>
        </p:spPr>
        <p:txBody>
          <a:bodyPr wrap="square" lIns="0" tIns="0" rIns="0" bIns="0" rtlCol="0" anchor="t"/>
          <a:lstStyle/>
          <a:p>
            <a:pPr indent="0" marL="0">
              <a:buNone/>
            </a:pPr>
            <a:r>
              <a:rPr lang="en-US" sz="1150" dirty="0">
                <a:solidFill>
                  <a:srgbClr val="FDF8F0"/>
                </a:solidFill>
                <a:latin typeface="Calibri" pitchFamily="34" charset="0"/>
                <a:ea typeface="Calibri" pitchFamily="34" charset="-122"/>
                <a:cs typeface="Calibri" pitchFamily="34" charset="-120"/>
              </a:rPr>
              <a:t>All four tracks, the virtual museum, and core team capacity.</a:t>
            </a:r>
            <a:endParaRPr lang="en-US" sz="1150" dirty="0"/>
          </a:p>
        </p:txBody>
      </p:sp>
      <p:sp>
        <p:nvSpPr>
          <p:cNvPr id="28" name="Text 26"/>
          <p:cNvSpPr txBox="1"/>
          <p:nvPr/>
        </p:nvSpPr>
        <p:spPr>
          <a:xfrm>
            <a:off x="9820656" y="4709160"/>
            <a:ext cx="1755648" cy="914400"/>
          </a:xfrm>
          <a:prstGeom prst="rect">
            <a:avLst/>
          </a:prstGeom>
          <a:noFill/>
          <a:ln/>
        </p:spPr>
        <p:txBody>
          <a:bodyPr wrap="square" lIns="0" tIns="0" rIns="0" bIns="0" rtlCol="0" anchor="t"/>
          <a:lstStyle/>
          <a:p>
            <a:pPr indent="0" marL="0">
              <a:buNone/>
            </a:pPr>
            <a:r>
              <a:rPr lang="en-US" sz="1100" i="1" dirty="0">
                <a:solidFill>
                  <a:srgbClr val="E8DCC6"/>
                </a:solidFill>
                <a:latin typeface="Calibri" pitchFamily="34" charset="0"/>
                <a:ea typeface="Calibri" pitchFamily="34" charset="-122"/>
                <a:cs typeface="Calibri" pitchFamily="34" charset="-120"/>
              </a:rPr>
              <a:t>Title sponsor of the museum, monthly reports</a:t>
            </a:r>
            <a:endParaRPr lang="en-US" sz="1100" dirty="0"/>
          </a:p>
        </p:txBody>
      </p:sp>
      <p:sp>
        <p:nvSpPr>
          <p:cNvPr id="29" name="Text 27"/>
          <p:cNvSpPr txBox="1"/>
          <p:nvPr/>
        </p:nvSpPr>
        <p:spPr>
          <a:xfrm>
            <a:off x="640080" y="5943600"/>
            <a:ext cx="10972800" cy="457200"/>
          </a:xfrm>
          <a:prstGeom prst="rect">
            <a:avLst/>
          </a:prstGeom>
          <a:noFill/>
          <a:ln/>
        </p:spPr>
        <p:txBody>
          <a:bodyPr wrap="square" lIns="0" tIns="0" rIns="0" bIns="0" rtlCol="0" anchor="ctr"/>
          <a:lstStyle/>
          <a:p>
            <a:pPr indent="0" marL="0">
              <a:buNone/>
            </a:pPr>
            <a:r>
              <a:rPr lang="en-US" sz="1200" i="1" dirty="0">
                <a:solidFill>
                  <a:srgbClr val="7D6A58"/>
                </a:solidFill>
                <a:latin typeface="Calibri" pitchFamily="34" charset="0"/>
                <a:ea typeface="Calibri" pitchFamily="34" charset="-122"/>
                <a:cs typeface="Calibri" pitchFamily="34" charset="-120"/>
              </a:rPr>
              <a:t>Every level includes credit on the site and in the 3D experience, monthly numbers, and a tax receipt through our fiscal sponsor.</a:t>
            </a:r>
            <a:endParaRPr lang="en-US" sz="1200" dirty="0"/>
          </a:p>
        </p:txBody>
      </p:sp>
      <p:sp>
        <p:nvSpPr>
          <p:cNvPr id="30" name="Text 28"/>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640080"/>
            <a:ext cx="7315200" cy="274320"/>
          </a:xfrm>
          <a:prstGeom prst="rect">
            <a:avLst/>
          </a:prstGeom>
          <a:noFill/>
          <a:ln/>
        </p:spPr>
        <p:txBody>
          <a:bodyPr wrap="square" lIns="0" tIns="0" rIns="0" bIns="0" rtlCol="0" anchor="ctr"/>
          <a:lstStyle/>
          <a:p>
            <a:pPr indent="0" marL="0">
              <a:buNone/>
            </a:pPr>
            <a:r>
              <a:rPr lang="en-US" sz="1200" b="1" spc="400" kern="0" dirty="0">
                <a:solidFill>
                  <a:srgbClr val="A35F3F"/>
                </a:solidFill>
                <a:latin typeface="Calibri" pitchFamily="34" charset="0"/>
                <a:ea typeface="Calibri" pitchFamily="34" charset="-122"/>
                <a:cs typeface="Calibri" pitchFamily="34" charset="-120"/>
              </a:rPr>
              <a:t>THE PEOPLE</a:t>
            </a:r>
            <a:endParaRPr lang="en-US" sz="1200" dirty="0"/>
          </a:p>
        </p:txBody>
      </p:sp>
      <p:sp>
        <p:nvSpPr>
          <p:cNvPr id="3" name="Text 1"/>
          <p:cNvSpPr txBox="1"/>
          <p:nvPr/>
        </p:nvSpPr>
        <p:spPr>
          <a:xfrm>
            <a:off x="640080" y="960120"/>
            <a:ext cx="10972800" cy="822960"/>
          </a:xfrm>
          <a:prstGeom prst="rect">
            <a:avLst/>
          </a:prstGeom>
          <a:noFill/>
          <a:ln/>
        </p:spPr>
        <p:txBody>
          <a:bodyPr wrap="square" lIns="0" tIns="0" rIns="0" bIns="0" rtlCol="0" anchor="ctr"/>
          <a:lstStyle/>
          <a:p>
            <a:pPr indent="0" marL="0">
              <a:buNone/>
            </a:pPr>
            <a:r>
              <a:rPr lang="en-US" sz="3200" b="1" dirty="0">
                <a:solidFill>
                  <a:srgbClr val="2E2118"/>
                </a:solidFill>
                <a:latin typeface="Cambria" pitchFamily="34" charset="0"/>
                <a:ea typeface="Cambria" pitchFamily="34" charset="-122"/>
                <a:cs typeface="Cambria" pitchFamily="34" charset="-120"/>
              </a:rPr>
              <a:t>Local roots, global reach</a:t>
            </a:r>
            <a:endParaRPr lang="en-US" sz="3200" dirty="0"/>
          </a:p>
        </p:txBody>
      </p:sp>
      <p:pic>
        <p:nvPicPr>
          <p:cNvPr id="4" name="Image 0" descr="/Users/inessaid/Documents/tanitxr.org/media/InesSaid_EE30U30_1.jpg">    </p:cNvPr>
          <p:cNvPicPr>
            <a:picLocks noChangeAspect="1"/>
          </p:cNvPicPr>
          <p:nvPr/>
        </p:nvPicPr>
        <p:blipFill>
          <a:blip r:embed="rId1"/>
          <a:srcRect l="0" r="0" t="0" b="0"/>
          <a:stretch/>
        </p:blipFill>
        <p:spPr>
          <a:xfrm>
            <a:off x="640080" y="2103120"/>
            <a:ext cx="3566160" cy="2514600"/>
          </a:xfrm>
          <a:prstGeom prst="rect">
            <a:avLst/>
          </a:prstGeom>
        </p:spPr>
      </p:pic>
      <p:sp>
        <p:nvSpPr>
          <p:cNvPr id="5" name="Text 2"/>
          <p:cNvSpPr txBox="1"/>
          <p:nvPr/>
        </p:nvSpPr>
        <p:spPr>
          <a:xfrm>
            <a:off x="640080" y="4709160"/>
            <a:ext cx="3566160" cy="365760"/>
          </a:xfrm>
          <a:prstGeom prst="rect">
            <a:avLst/>
          </a:prstGeom>
          <a:noFill/>
          <a:ln/>
        </p:spPr>
        <p:txBody>
          <a:bodyPr wrap="square" lIns="0" tIns="0" rIns="0" bIns="0" rtlCol="0" anchor="ctr"/>
          <a:lstStyle/>
          <a:p>
            <a:pPr indent="0" marL="0">
              <a:buNone/>
            </a:pPr>
            <a:r>
              <a:rPr lang="en-US" sz="1500" b="1" dirty="0">
                <a:solidFill>
                  <a:srgbClr val="4A3527"/>
                </a:solidFill>
                <a:latin typeface="Cambria" pitchFamily="34" charset="0"/>
                <a:ea typeface="Cambria" pitchFamily="34" charset="-122"/>
                <a:cs typeface="Cambria" pitchFamily="34" charset="-120"/>
              </a:rPr>
              <a:t>Ines Said, Founder</a:t>
            </a:r>
            <a:endParaRPr lang="en-US" sz="1500" dirty="0"/>
          </a:p>
        </p:txBody>
      </p:sp>
      <p:sp>
        <p:nvSpPr>
          <p:cNvPr id="6" name="Text 3"/>
          <p:cNvSpPr txBox="1"/>
          <p:nvPr/>
        </p:nvSpPr>
        <p:spPr>
          <a:xfrm>
            <a:off x="640080" y="5074920"/>
            <a:ext cx="3566160" cy="1097280"/>
          </a:xfrm>
          <a:prstGeom prst="rect">
            <a:avLst/>
          </a:prstGeom>
          <a:noFill/>
          <a:ln/>
        </p:spPr>
        <p:txBody>
          <a:bodyPr wrap="square" lIns="0" tIns="0" rIns="0" bIns="0" rtlCol="0" anchor="t"/>
          <a:lstStyle/>
          <a:p>
            <a:pPr indent="0" marL="0">
              <a:buNone/>
            </a:pPr>
            <a:r>
              <a:rPr lang="en-US" sz="1150" dirty="0">
                <a:solidFill>
                  <a:srgbClr val="2E2118"/>
                </a:solidFill>
                <a:latin typeface="Calibri" pitchFamily="34" charset="0"/>
                <a:ea typeface="Calibri" pitchFamily="34" charset="-122"/>
                <a:cs typeface="Calibri" pitchFamily="34" charset="-120"/>
              </a:rPr>
              <a:t>Tunisian XR developer who grew up beside the ruins of Carthage. Smithsonian installations, IEEE best paper, AWE 2026 speaker, Auggie Awards finalist.</a:t>
            </a:r>
            <a:endParaRPr lang="en-US" sz="1150" dirty="0"/>
          </a:p>
        </p:txBody>
      </p:sp>
      <p:sp>
        <p:nvSpPr>
          <p:cNvPr id="7" name="Shape 4"/>
          <p:cNvSpPr/>
          <p:nvPr/>
        </p:nvSpPr>
        <p:spPr>
          <a:xfrm>
            <a:off x="4663440" y="2103120"/>
            <a:ext cx="3246120" cy="960120"/>
          </a:xfrm>
          <a:prstGeom prst="roundRect">
            <a:avLst>
              <a:gd name="adj" fmla="val 9524"/>
            </a:avLst>
          </a:prstGeom>
          <a:solidFill>
            <a:srgbClr val="FDF8F0"/>
          </a:solidFill>
          <a:ln w="12700">
            <a:solidFill>
              <a:srgbClr val="E9DFCC"/>
            </a:solidFill>
            <a:prstDash val="solid"/>
          </a:ln>
        </p:spPr>
      </p:sp>
      <p:sp>
        <p:nvSpPr>
          <p:cNvPr id="8" name="Text 5"/>
          <p:cNvSpPr txBox="1"/>
          <p:nvPr/>
        </p:nvSpPr>
        <p:spPr>
          <a:xfrm>
            <a:off x="4846320" y="2267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Julia Moreno-Molen</a:t>
            </a:r>
            <a:endParaRPr lang="en-US" sz="1400" dirty="0"/>
          </a:p>
        </p:txBody>
      </p:sp>
      <p:sp>
        <p:nvSpPr>
          <p:cNvPr id="9" name="Text 6"/>
          <p:cNvSpPr txBox="1"/>
          <p:nvPr/>
        </p:nvSpPr>
        <p:spPr>
          <a:xfrm>
            <a:off x="4846320" y="2633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Project Manager</a:t>
            </a:r>
            <a:endParaRPr lang="en-US" sz="1150" dirty="0"/>
          </a:p>
        </p:txBody>
      </p:sp>
      <p:sp>
        <p:nvSpPr>
          <p:cNvPr id="10" name="Shape 7"/>
          <p:cNvSpPr/>
          <p:nvPr/>
        </p:nvSpPr>
        <p:spPr>
          <a:xfrm>
            <a:off x="8138160" y="2103120"/>
            <a:ext cx="3246120" cy="960120"/>
          </a:xfrm>
          <a:prstGeom prst="roundRect">
            <a:avLst>
              <a:gd name="adj" fmla="val 9524"/>
            </a:avLst>
          </a:prstGeom>
          <a:solidFill>
            <a:srgbClr val="FDF8F0"/>
          </a:solidFill>
          <a:ln w="12700">
            <a:solidFill>
              <a:srgbClr val="E9DFCC"/>
            </a:solidFill>
            <a:prstDash val="solid"/>
          </a:ln>
        </p:spPr>
      </p:sp>
      <p:sp>
        <p:nvSpPr>
          <p:cNvPr id="11" name="Text 8"/>
          <p:cNvSpPr txBox="1"/>
          <p:nvPr/>
        </p:nvSpPr>
        <p:spPr>
          <a:xfrm>
            <a:off x="8321040" y="2267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Melek Said</a:t>
            </a:r>
            <a:endParaRPr lang="en-US" sz="1400" dirty="0"/>
          </a:p>
        </p:txBody>
      </p:sp>
      <p:sp>
        <p:nvSpPr>
          <p:cNvPr id="12" name="Text 9"/>
          <p:cNvSpPr txBox="1"/>
          <p:nvPr/>
        </p:nvSpPr>
        <p:spPr>
          <a:xfrm>
            <a:off x="8321040" y="2633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Regional Manager, Tunisia</a:t>
            </a:r>
            <a:endParaRPr lang="en-US" sz="1150" dirty="0"/>
          </a:p>
        </p:txBody>
      </p:sp>
      <p:sp>
        <p:nvSpPr>
          <p:cNvPr id="13" name="Shape 10"/>
          <p:cNvSpPr/>
          <p:nvPr/>
        </p:nvSpPr>
        <p:spPr>
          <a:xfrm>
            <a:off x="4663440" y="3246120"/>
            <a:ext cx="3246120" cy="960120"/>
          </a:xfrm>
          <a:prstGeom prst="roundRect">
            <a:avLst>
              <a:gd name="adj" fmla="val 9524"/>
            </a:avLst>
          </a:prstGeom>
          <a:solidFill>
            <a:srgbClr val="FDF8F0"/>
          </a:solidFill>
          <a:ln w="12700">
            <a:solidFill>
              <a:srgbClr val="E9DFCC"/>
            </a:solidFill>
            <a:prstDash val="solid"/>
          </a:ln>
        </p:spPr>
      </p:sp>
      <p:sp>
        <p:nvSpPr>
          <p:cNvPr id="14" name="Text 11"/>
          <p:cNvSpPr txBox="1"/>
          <p:nvPr/>
        </p:nvSpPr>
        <p:spPr>
          <a:xfrm>
            <a:off x="4846320" y="3410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Dr. Laura Harrison</a:t>
            </a:r>
            <a:endParaRPr lang="en-US" sz="1400" dirty="0"/>
          </a:p>
        </p:txBody>
      </p:sp>
      <p:sp>
        <p:nvSpPr>
          <p:cNvPr id="15" name="Text 12"/>
          <p:cNvSpPr txBox="1"/>
          <p:nvPr/>
        </p:nvSpPr>
        <p:spPr>
          <a:xfrm>
            <a:off x="4846320" y="3776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Chief Scientist, archaeology</a:t>
            </a:r>
            <a:endParaRPr lang="en-US" sz="1150" dirty="0"/>
          </a:p>
        </p:txBody>
      </p:sp>
      <p:sp>
        <p:nvSpPr>
          <p:cNvPr id="16" name="Shape 13"/>
          <p:cNvSpPr/>
          <p:nvPr/>
        </p:nvSpPr>
        <p:spPr>
          <a:xfrm>
            <a:off x="8138160" y="3246120"/>
            <a:ext cx="3246120" cy="960120"/>
          </a:xfrm>
          <a:prstGeom prst="roundRect">
            <a:avLst>
              <a:gd name="adj" fmla="val 9524"/>
            </a:avLst>
          </a:prstGeom>
          <a:solidFill>
            <a:srgbClr val="FDF8F0"/>
          </a:solidFill>
          <a:ln w="12700">
            <a:solidFill>
              <a:srgbClr val="E9DFCC"/>
            </a:solidFill>
            <a:prstDash val="solid"/>
          </a:ln>
        </p:spPr>
      </p:sp>
      <p:sp>
        <p:nvSpPr>
          <p:cNvPr id="17" name="Text 14"/>
          <p:cNvSpPr txBox="1"/>
          <p:nvPr/>
        </p:nvSpPr>
        <p:spPr>
          <a:xfrm>
            <a:off x="8321040" y="3410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Dr. Caroline Nickerson</a:t>
            </a:r>
            <a:endParaRPr lang="en-US" sz="1400" dirty="0"/>
          </a:p>
        </p:txBody>
      </p:sp>
      <p:sp>
        <p:nvSpPr>
          <p:cNvPr id="18" name="Text 15"/>
          <p:cNvSpPr txBox="1"/>
          <p:nvPr/>
        </p:nvSpPr>
        <p:spPr>
          <a:xfrm>
            <a:off x="8321040" y="3776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Partnerships and Community</a:t>
            </a:r>
            <a:endParaRPr lang="en-US" sz="1150" dirty="0"/>
          </a:p>
        </p:txBody>
      </p:sp>
      <p:sp>
        <p:nvSpPr>
          <p:cNvPr id="19" name="Shape 16"/>
          <p:cNvSpPr/>
          <p:nvPr/>
        </p:nvSpPr>
        <p:spPr>
          <a:xfrm>
            <a:off x="4663440" y="4389120"/>
            <a:ext cx="3246120" cy="960120"/>
          </a:xfrm>
          <a:prstGeom prst="roundRect">
            <a:avLst>
              <a:gd name="adj" fmla="val 9524"/>
            </a:avLst>
          </a:prstGeom>
          <a:solidFill>
            <a:srgbClr val="FDF8F0"/>
          </a:solidFill>
          <a:ln w="12700">
            <a:solidFill>
              <a:srgbClr val="E9DFCC"/>
            </a:solidFill>
            <a:prstDash val="solid"/>
          </a:ln>
        </p:spPr>
      </p:sp>
      <p:sp>
        <p:nvSpPr>
          <p:cNvPr id="20" name="Text 17"/>
          <p:cNvSpPr txBox="1"/>
          <p:nvPr/>
        </p:nvSpPr>
        <p:spPr>
          <a:xfrm>
            <a:off x="4846320" y="4553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Margarita Johnson</a:t>
            </a:r>
            <a:endParaRPr lang="en-US" sz="1400" dirty="0"/>
          </a:p>
        </p:txBody>
      </p:sp>
      <p:sp>
        <p:nvSpPr>
          <p:cNvPr id="21" name="Text 18"/>
          <p:cNvSpPr txBox="1"/>
          <p:nvPr/>
        </p:nvSpPr>
        <p:spPr>
          <a:xfrm>
            <a:off x="4846320" y="4919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Research and Writing</a:t>
            </a:r>
            <a:endParaRPr lang="en-US" sz="1150" dirty="0"/>
          </a:p>
        </p:txBody>
      </p:sp>
      <p:sp>
        <p:nvSpPr>
          <p:cNvPr id="22" name="Shape 19"/>
          <p:cNvSpPr/>
          <p:nvPr/>
        </p:nvSpPr>
        <p:spPr>
          <a:xfrm>
            <a:off x="8138160" y="4389120"/>
            <a:ext cx="3246120" cy="960120"/>
          </a:xfrm>
          <a:prstGeom prst="roundRect">
            <a:avLst>
              <a:gd name="adj" fmla="val 9524"/>
            </a:avLst>
          </a:prstGeom>
          <a:solidFill>
            <a:srgbClr val="FDF8F0"/>
          </a:solidFill>
          <a:ln w="12700">
            <a:solidFill>
              <a:srgbClr val="E9DFCC"/>
            </a:solidFill>
            <a:prstDash val="solid"/>
          </a:ln>
        </p:spPr>
      </p:sp>
      <p:sp>
        <p:nvSpPr>
          <p:cNvPr id="23" name="Text 20"/>
          <p:cNvSpPr txBox="1"/>
          <p:nvPr/>
        </p:nvSpPr>
        <p:spPr>
          <a:xfrm>
            <a:off x="8321040" y="4553712"/>
            <a:ext cx="2926080" cy="365760"/>
          </a:xfrm>
          <a:prstGeom prst="rect">
            <a:avLst/>
          </a:prstGeom>
          <a:noFill/>
          <a:ln/>
        </p:spPr>
        <p:txBody>
          <a:bodyPr wrap="square" lIns="0" tIns="0" rIns="0" bIns="0" rtlCol="0" anchor="ctr"/>
          <a:lstStyle/>
          <a:p>
            <a:pPr indent="0" marL="0">
              <a:buNone/>
            </a:pPr>
            <a:r>
              <a:rPr lang="en-US" sz="1400" b="1" dirty="0">
                <a:solidFill>
                  <a:srgbClr val="4A3527"/>
                </a:solidFill>
                <a:latin typeface="Cambria" pitchFamily="34" charset="0"/>
                <a:ea typeface="Cambria" pitchFamily="34" charset="-122"/>
                <a:cs typeface="Cambria" pitchFamily="34" charset="-120"/>
              </a:rPr>
              <a:t>Fatma Slama</a:t>
            </a:r>
            <a:endParaRPr lang="en-US" sz="1400" dirty="0"/>
          </a:p>
        </p:txBody>
      </p:sp>
      <p:sp>
        <p:nvSpPr>
          <p:cNvPr id="24" name="Text 21"/>
          <p:cNvSpPr txBox="1"/>
          <p:nvPr/>
        </p:nvSpPr>
        <p:spPr>
          <a:xfrm>
            <a:off x="8321040" y="4919472"/>
            <a:ext cx="2926080" cy="320040"/>
          </a:xfrm>
          <a:prstGeom prst="rect">
            <a:avLst/>
          </a:prstGeom>
          <a:noFill/>
          <a:ln/>
        </p:spPr>
        <p:txBody>
          <a:bodyPr wrap="square" lIns="0" tIns="0" rIns="0" bIns="0" rtlCol="0" anchor="ctr"/>
          <a:lstStyle/>
          <a:p>
            <a:pPr indent="0" marL="0">
              <a:buNone/>
            </a:pPr>
            <a:r>
              <a:rPr lang="en-US" sz="1150" dirty="0">
                <a:solidFill>
                  <a:srgbClr val="7D6A58"/>
                </a:solidFill>
                <a:latin typeface="Calibri" pitchFamily="34" charset="0"/>
                <a:ea typeface="Calibri" pitchFamily="34" charset="-122"/>
                <a:cs typeface="Calibri" pitchFamily="34" charset="-120"/>
              </a:rPr>
              <a:t>Community Liaison, Tunisia</a:t>
            </a:r>
            <a:endParaRPr lang="en-US" sz="1150" dirty="0"/>
          </a:p>
        </p:txBody>
      </p:sp>
      <p:sp>
        <p:nvSpPr>
          <p:cNvPr id="25" name="Text 22"/>
          <p:cNvSpPr txBox="1"/>
          <p:nvPr/>
        </p:nvSpPr>
        <p:spPr>
          <a:xfrm>
            <a:off x="4663440" y="5532120"/>
            <a:ext cx="6766560" cy="640080"/>
          </a:xfrm>
          <a:prstGeom prst="rect">
            <a:avLst/>
          </a:prstGeom>
          <a:noFill/>
          <a:ln/>
        </p:spPr>
        <p:txBody>
          <a:bodyPr wrap="square" lIns="0" tIns="0" rIns="0" bIns="0" rtlCol="0" anchor="ctr"/>
          <a:lstStyle/>
          <a:p>
            <a:pPr indent="0" marL="0">
              <a:buNone/>
            </a:pPr>
            <a:r>
              <a:rPr lang="en-US" sz="1250" i="1" dirty="0">
                <a:solidFill>
                  <a:srgbClr val="7D6A58"/>
                </a:solidFill>
                <a:latin typeface="Calibri" pitchFamily="34" charset="0"/>
                <a:ea typeface="Calibri" pitchFamily="34" charset="-122"/>
                <a:cs typeface="Calibri" pitchFamily="34" charset="-120"/>
              </a:rPr>
              <a:t>And 85+ volunteers: 3D artists, Unity developers, researchers, writers, teachers, in Tunisia, the United States, Europe and Nigeria.</a:t>
            </a:r>
            <a:endParaRPr lang="en-US" sz="1250" dirty="0"/>
          </a:p>
        </p:txBody>
      </p:sp>
      <p:sp>
        <p:nvSpPr>
          <p:cNvPr id="26" name="Text 23"/>
          <p:cNvSpPr txBox="1"/>
          <p:nvPr/>
        </p:nvSpPr>
        <p:spPr>
          <a:xfrm>
            <a:off x="9811512" y="6355080"/>
            <a:ext cx="1920240" cy="274320"/>
          </a:xfrm>
          <a:prstGeom prst="rect">
            <a:avLst/>
          </a:prstGeom>
          <a:noFill/>
          <a:ln/>
        </p:spPr>
        <p:txBody>
          <a:bodyPr wrap="square" lIns="0" tIns="0" rIns="0" bIns="0" rtlCol="0" anchor="ctr"/>
          <a:lstStyle/>
          <a:p>
            <a:pPr algn="r" indent="0" marL="0">
              <a:buNone/>
            </a:pPr>
            <a:r>
              <a:rPr lang="en-US" sz="1100" dirty="0">
                <a:solidFill>
                  <a:srgbClr val="7D6A58"/>
                </a:solidFill>
                <a:latin typeface="Calibri" pitchFamily="34" charset="0"/>
                <a:ea typeface="Calibri" pitchFamily="34" charset="-122"/>
                <a:cs typeface="Calibri" pitchFamily="34" charset="-120"/>
              </a:rPr>
              <a:t>tanitxr.org</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41A10"/>
        </a:solidFill>
      </p:bgPr>
    </p:bg>
    <p:spTree>
      <p:nvGrpSpPr>
        <p:cNvPr id="1" name=""/>
        <p:cNvGrpSpPr/>
        <p:nvPr/>
      </p:nvGrpSpPr>
      <p:grpSpPr>
        <a:xfrm>
          <a:off x="0" y="0"/>
          <a:ext cx="0" cy="0"/>
          <a:chOff x="0" y="0"/>
          <a:chExt cx="0" cy="0"/>
        </a:xfrm>
      </p:grpSpPr>
      <p:pic>
        <p:nvPicPr>
          <p:cNvPr id="2" name="Image 0" descr="/Users/inessaid/Documents/tanitxr.org/docs/assets/img/hero-baths-flipped-1920.jpg">    </p:cNvPr>
          <p:cNvPicPr>
            <a:picLocks noChangeAspect="1"/>
          </p:cNvPicPr>
          <p:nvPr/>
        </p:nvPicPr>
        <p:blipFill>
          <a:blip r:embed="rId1"/>
          <a:srcRect l="0" r="0" t="0" b="0"/>
          <a:stretch/>
        </p:blipFill>
        <p:spPr>
          <a:xfrm>
            <a:off x="0" y="0"/>
            <a:ext cx="12188952" cy="6858000"/>
          </a:xfrm>
          <a:prstGeom prst="rect">
            <a:avLst/>
          </a:prstGeom>
        </p:spPr>
      </p:pic>
      <p:sp>
        <p:nvSpPr>
          <p:cNvPr id="3" name="Shape 0"/>
          <p:cNvSpPr/>
          <p:nvPr/>
        </p:nvSpPr>
        <p:spPr>
          <a:xfrm>
            <a:off x="0" y="0"/>
            <a:ext cx="12188952" cy="6858000"/>
          </a:xfrm>
          <a:prstGeom prst="rect">
            <a:avLst/>
          </a:prstGeom>
          <a:solidFill>
            <a:srgbClr val="241A10">
              <a:alpha val="72000"/>
            </a:srgbClr>
          </a:solidFill>
          <a:ln w="12700">
            <a:solidFill>
              <a:srgbClr val="241A10">
                <a:alpha val="0"/>
              </a:srgbClr>
            </a:solidFill>
            <a:prstDash val="solid"/>
          </a:ln>
        </p:spPr>
      </p:sp>
      <p:sp>
        <p:nvSpPr>
          <p:cNvPr id="4" name="Text 1"/>
          <p:cNvSpPr txBox="1"/>
          <p:nvPr/>
        </p:nvSpPr>
        <p:spPr>
          <a:xfrm>
            <a:off x="640080" y="1828800"/>
            <a:ext cx="7315200" cy="274320"/>
          </a:xfrm>
          <a:prstGeom prst="rect">
            <a:avLst/>
          </a:prstGeom>
          <a:noFill/>
          <a:ln/>
        </p:spPr>
        <p:txBody>
          <a:bodyPr wrap="square" lIns="0" tIns="0" rIns="0" bIns="0" rtlCol="0" anchor="ctr"/>
          <a:lstStyle/>
          <a:p>
            <a:pPr indent="0" marL="0">
              <a:buNone/>
            </a:pPr>
            <a:r>
              <a:rPr lang="en-US" sz="1200" b="1" spc="400" kern="0" dirty="0">
                <a:solidFill>
                  <a:srgbClr val="FFCD05"/>
                </a:solidFill>
                <a:latin typeface="Calibri" pitchFamily="34" charset="0"/>
                <a:ea typeface="Calibri" pitchFamily="34" charset="-122"/>
                <a:cs typeface="Calibri" pitchFamily="34" charset="-120"/>
              </a:rPr>
              <a:t>START THE CONVERSATION</a:t>
            </a:r>
            <a:endParaRPr lang="en-US" sz="1200" dirty="0"/>
          </a:p>
        </p:txBody>
      </p:sp>
      <p:sp>
        <p:nvSpPr>
          <p:cNvPr id="5" name="Text 2"/>
          <p:cNvSpPr txBox="1"/>
          <p:nvPr/>
        </p:nvSpPr>
        <p:spPr>
          <a:xfrm>
            <a:off x="640080" y="2194560"/>
            <a:ext cx="8229600" cy="14630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Fifteen minutes is enough to see if this fits</a:t>
            </a:r>
            <a:endParaRPr lang="en-US" sz="3800" dirty="0"/>
          </a:p>
        </p:txBody>
      </p:sp>
      <p:sp>
        <p:nvSpPr>
          <p:cNvPr id="6" name="Text 3"/>
          <p:cNvSpPr txBox="1"/>
          <p:nvPr/>
        </p:nvSpPr>
        <p:spPr>
          <a:xfrm>
            <a:off x="640080" y="3703320"/>
            <a:ext cx="7315200" cy="822960"/>
          </a:xfrm>
          <a:prstGeom prst="rect">
            <a:avLst/>
          </a:prstGeom>
          <a:noFill/>
          <a:ln/>
        </p:spPr>
        <p:txBody>
          <a:bodyPr wrap="square" lIns="0" tIns="0" rIns="0" bIns="0" rtlCol="0" anchor="ctr"/>
          <a:lstStyle/>
          <a:p>
            <a:pPr indent="0" marL="0">
              <a:buNone/>
            </a:pPr>
            <a:r>
              <a:rPr lang="en-US" sz="1500" dirty="0">
                <a:solidFill>
                  <a:srgbClr val="E8DCC6"/>
                </a:solidFill>
                <a:latin typeface="Calibri" pitchFamily="34" charset="0"/>
                <a:ea typeface="Calibri" pitchFamily="34" charset="-122"/>
                <a:cs typeface="Calibri" pitchFamily="34" charset="-120"/>
              </a:rPr>
              <a:t>Tell us about your team and what matters to you. We come back with two or three ways to work together, with real numbers.</a:t>
            </a:r>
            <a:endParaRPr lang="en-US" sz="1500" dirty="0"/>
          </a:p>
        </p:txBody>
      </p:sp>
      <p:sp>
        <p:nvSpPr>
          <p:cNvPr id="7" name="Text 4"/>
          <p:cNvSpPr txBox="1"/>
          <p:nvPr/>
        </p:nvSpPr>
        <p:spPr>
          <a:xfrm>
            <a:off x="640080" y="4663440"/>
            <a:ext cx="5486400" cy="457200"/>
          </a:xfrm>
          <a:prstGeom prst="rect">
            <a:avLst/>
          </a:prstGeom>
          <a:noFill/>
          <a:ln/>
        </p:spPr>
        <p:txBody>
          <a:bodyPr wrap="square" lIns="0" tIns="0" rIns="0" bIns="0" rtlCol="0" anchor="ctr"/>
          <a:lstStyle/>
          <a:p>
            <a:pPr indent="0" marL="0">
              <a:buNone/>
            </a:pPr>
            <a:r>
              <a:rPr lang="en-US" sz="2200" b="1" dirty="0">
                <a:solidFill>
                  <a:srgbClr val="FFCD05"/>
                </a:solidFill>
                <a:latin typeface="Calibri" pitchFamily="34" charset="0"/>
                <a:ea typeface="Calibri" pitchFamily="34" charset="-122"/>
                <a:cs typeface="Calibri" pitchFamily="34" charset="-120"/>
              </a:rPr>
              <a:t>info@tanitxr.org</a:t>
            </a:r>
            <a:endParaRPr lang="en-US" sz="2200" dirty="0"/>
          </a:p>
        </p:txBody>
      </p:sp>
      <p:sp>
        <p:nvSpPr>
          <p:cNvPr id="8" name="Text 5"/>
          <p:cNvSpPr txBox="1"/>
          <p:nvPr/>
        </p:nvSpPr>
        <p:spPr>
          <a:xfrm>
            <a:off x="640080" y="5166360"/>
            <a:ext cx="7315200" cy="365760"/>
          </a:xfrm>
          <a:prstGeom prst="rect">
            <a:avLst/>
          </a:prstGeom>
          <a:noFill/>
          <a:ln/>
        </p:spPr>
        <p:txBody>
          <a:bodyPr wrap="square" lIns="0" tIns="0" rIns="0" bIns="0" rtlCol="0" anchor="ctr"/>
          <a:lstStyle/>
          <a:p>
            <a:pPr indent="0" marL="0">
              <a:buNone/>
            </a:pPr>
            <a:r>
              <a:rPr lang="en-US" sz="1400" dirty="0">
                <a:solidFill>
                  <a:srgbClr val="E8DCC6"/>
                </a:solidFill>
                <a:latin typeface="Calibri" pitchFamily="34" charset="0"/>
                <a:ea typeface="Calibri" pitchFamily="34" charset="-122"/>
                <a:cs typeface="Calibri" pitchFamily="34" charset="-120"/>
              </a:rPr>
              <a:t>tanitxr.org/partners  ·  tanitxr.org/explore?tour=1</a:t>
            </a:r>
            <a:endParaRPr lang="en-US" sz="1400" dirty="0"/>
          </a:p>
        </p:txBody>
      </p:sp>
      <p:sp>
        <p:nvSpPr>
          <p:cNvPr id="9" name="Text 6"/>
          <p:cNvSpPr txBox="1"/>
          <p:nvPr/>
        </p:nvSpPr>
        <p:spPr>
          <a:xfrm>
            <a:off x="640080" y="6035040"/>
            <a:ext cx="9144000" cy="320040"/>
          </a:xfrm>
          <a:prstGeom prst="rect">
            <a:avLst/>
          </a:prstGeom>
          <a:noFill/>
          <a:ln/>
        </p:spPr>
        <p:txBody>
          <a:bodyPr wrap="square" lIns="0" tIns="0" rIns="0" bIns="0" rtlCol="0" anchor="ctr"/>
          <a:lstStyle/>
          <a:p>
            <a:pPr indent="0" marL="0">
              <a:buNone/>
            </a:pPr>
            <a:r>
              <a:rPr lang="en-US" sz="1050" dirty="0">
                <a:solidFill>
                  <a:srgbClr val="E8DCC6"/>
                </a:solidFill>
                <a:latin typeface="Calibri" pitchFamily="34" charset="0"/>
                <a:ea typeface="Calibri" pitchFamily="34" charset="-122"/>
                <a:cs typeface="Calibri" pitchFamily="34" charset="-120"/>
              </a:rPr>
              <a:t>Tanit XR is fiscally sponsored by Florida Community Innovation, a U.S. 501(c)(3). Gifts are tax-deductible.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Tanit XR, partnership opportunities</dc:title>
  <dc:subject>PptxGenJS Presentation</dc:subject>
  <dc:creator>Tanit XR</dc:creator>
  <cp:lastModifiedBy>Tanit XR</cp:lastModifiedBy>
  <cp:revision>1</cp:revision>
  <dcterms:created xsi:type="dcterms:W3CDTF">2026-09-18T22:59:56Z</dcterms:created>
  <dcterms:modified xsi:type="dcterms:W3CDTF">2026-09-18T22:59:56Z</dcterms:modified>
</cp:coreProperties>
</file>